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notesSlides/notesSlide19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97.xml" ContentType="application/vnd.openxmlformats-officedocument.presentationml.notesSlide+xml"/>
  <Override PartName="/ppt/notesSlides/notesSlide19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  <p:sldId id="402" r:id="rId154"/>
    <p:sldId id="403" r:id="rId155"/>
    <p:sldId id="404" r:id="rId156"/>
    <p:sldId id="405" r:id="rId157"/>
    <p:sldId id="406" r:id="rId158"/>
    <p:sldId id="407" r:id="rId159"/>
    <p:sldId id="408" r:id="rId160"/>
    <p:sldId id="409" r:id="rId161"/>
    <p:sldId id="410" r:id="rId162"/>
    <p:sldId id="411" r:id="rId163"/>
    <p:sldId id="412" r:id="rId164"/>
    <p:sldId id="413" r:id="rId165"/>
    <p:sldId id="414" r:id="rId166"/>
    <p:sldId id="415" r:id="rId167"/>
    <p:sldId id="416" r:id="rId168"/>
    <p:sldId id="417" r:id="rId169"/>
    <p:sldId id="418" r:id="rId170"/>
    <p:sldId id="419" r:id="rId171"/>
    <p:sldId id="420" r:id="rId172"/>
    <p:sldId id="421" r:id="rId173"/>
    <p:sldId id="422" r:id="rId174"/>
    <p:sldId id="423" r:id="rId175"/>
    <p:sldId id="424" r:id="rId176"/>
    <p:sldId id="425" r:id="rId177"/>
    <p:sldId id="426" r:id="rId178"/>
    <p:sldId id="427" r:id="rId179"/>
    <p:sldId id="428" r:id="rId180"/>
    <p:sldId id="429" r:id="rId181"/>
    <p:sldId id="430" r:id="rId182"/>
    <p:sldId id="431" r:id="rId183"/>
    <p:sldId id="432" r:id="rId184"/>
    <p:sldId id="433" r:id="rId185"/>
    <p:sldId id="434" r:id="rId186"/>
    <p:sldId id="435" r:id="rId187"/>
    <p:sldId id="436" r:id="rId188"/>
    <p:sldId id="437" r:id="rId189"/>
    <p:sldId id="438" r:id="rId190"/>
    <p:sldId id="439" r:id="rId191"/>
    <p:sldId id="440" r:id="rId192"/>
    <p:sldId id="441" r:id="rId193"/>
    <p:sldId id="442" r:id="rId194"/>
    <p:sldId id="443" r:id="rId195"/>
    <p:sldId id="444" r:id="rId196"/>
    <p:sldId id="445" r:id="rId197"/>
    <p:sldId id="446" r:id="rId198"/>
    <p:sldId id="447" r:id="rId199"/>
    <p:sldId id="448" r:id="rId200"/>
    <p:sldId id="449" r:id="rId201"/>
    <p:sldId id="450" r:id="rId202"/>
    <p:sldId id="451" r:id="rId203"/>
    <p:sldId id="452" r:id="rId204"/>
    <p:sldId id="453" r:id="rId205"/>
    <p:sldId id="454" r:id="rId206"/>
    <p:sldId id="455" r:id="rId207"/>
    <p:sldId id="456" r:id="rId208"/>
    <p:sldId id="457" r:id="rId209"/>
    <p:sldId id="458" r:id="rId210"/>
    <p:sldId id="459" r:id="rId211"/>
    <p:sldId id="460" r:id="rId212"/>
    <p:sldId id="461" r:id="rId213"/>
    <p:sldId id="462" r:id="rId214"/>
    <p:sldId id="463" r:id="rId215"/>
    <p:sldId id="464" r:id="rId216"/>
    <p:sldId id="465" r:id="rId217"/>
    <p:sldId id="466" r:id="rId218"/>
    <p:sldId id="467" r:id="rId219"/>
    <p:sldId id="468" r:id="rId220"/>
    <p:sldId id="469" r:id="rId221"/>
    <p:sldId id="470" r:id="rId222"/>
    <p:sldId id="471" r:id="rId223"/>
    <p:sldId id="472" r:id="rId224"/>
    <p:sldId id="473" r:id="rId225"/>
    <p:sldId id="474" r:id="rId226"/>
    <p:sldId id="475" r:id="rId227"/>
    <p:sldId id="476" r:id="rId228"/>
    <p:sldId id="477" r:id="rId229"/>
    <p:sldId id="478" r:id="rId230"/>
    <p:sldId id="479" r:id="rId2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notesMaster" Target="notesMasters/notesMaster1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Relationship Id="rId98" Type="http://schemas.openxmlformats.org/officeDocument/2006/relationships/slide" Target="slides/slide91.xml"/><Relationship Id="rId99" Type="http://schemas.openxmlformats.org/officeDocument/2006/relationships/slide" Target="slides/slide92.xml"/><Relationship Id="rId100" Type="http://schemas.openxmlformats.org/officeDocument/2006/relationships/slide" Target="slides/slide93.xml"/><Relationship Id="rId101" Type="http://schemas.openxmlformats.org/officeDocument/2006/relationships/slide" Target="slides/slide94.xml"/><Relationship Id="rId102" Type="http://schemas.openxmlformats.org/officeDocument/2006/relationships/slide" Target="slides/slide95.xml"/><Relationship Id="rId103" Type="http://schemas.openxmlformats.org/officeDocument/2006/relationships/slide" Target="slides/slide96.xml"/><Relationship Id="rId104" Type="http://schemas.openxmlformats.org/officeDocument/2006/relationships/slide" Target="slides/slide97.xml"/><Relationship Id="rId105" Type="http://schemas.openxmlformats.org/officeDocument/2006/relationships/slide" Target="slides/slide98.xml"/><Relationship Id="rId106" Type="http://schemas.openxmlformats.org/officeDocument/2006/relationships/slide" Target="slides/slide99.xml"/><Relationship Id="rId107" Type="http://schemas.openxmlformats.org/officeDocument/2006/relationships/slide" Target="slides/slide100.xml"/><Relationship Id="rId108" Type="http://schemas.openxmlformats.org/officeDocument/2006/relationships/slide" Target="slides/slide101.xml"/><Relationship Id="rId109" Type="http://schemas.openxmlformats.org/officeDocument/2006/relationships/slide" Target="slides/slide102.xml"/><Relationship Id="rId110" Type="http://schemas.openxmlformats.org/officeDocument/2006/relationships/slide" Target="slides/slide103.xml"/><Relationship Id="rId111" Type="http://schemas.openxmlformats.org/officeDocument/2006/relationships/slide" Target="slides/slide104.xml"/><Relationship Id="rId112" Type="http://schemas.openxmlformats.org/officeDocument/2006/relationships/slide" Target="slides/slide105.xml"/><Relationship Id="rId113" Type="http://schemas.openxmlformats.org/officeDocument/2006/relationships/slide" Target="slides/slide106.xml"/><Relationship Id="rId114" Type="http://schemas.openxmlformats.org/officeDocument/2006/relationships/slide" Target="slides/slide107.xml"/><Relationship Id="rId115" Type="http://schemas.openxmlformats.org/officeDocument/2006/relationships/slide" Target="slides/slide108.xml"/><Relationship Id="rId116" Type="http://schemas.openxmlformats.org/officeDocument/2006/relationships/slide" Target="slides/slide109.xml"/><Relationship Id="rId117" Type="http://schemas.openxmlformats.org/officeDocument/2006/relationships/slide" Target="slides/slide110.xml"/><Relationship Id="rId118" Type="http://schemas.openxmlformats.org/officeDocument/2006/relationships/slide" Target="slides/slide111.xml"/><Relationship Id="rId119" Type="http://schemas.openxmlformats.org/officeDocument/2006/relationships/slide" Target="slides/slide112.xml"/><Relationship Id="rId120" Type="http://schemas.openxmlformats.org/officeDocument/2006/relationships/slide" Target="slides/slide113.xml"/><Relationship Id="rId121" Type="http://schemas.openxmlformats.org/officeDocument/2006/relationships/slide" Target="slides/slide114.xml"/><Relationship Id="rId122" Type="http://schemas.openxmlformats.org/officeDocument/2006/relationships/slide" Target="slides/slide115.xml"/><Relationship Id="rId123" Type="http://schemas.openxmlformats.org/officeDocument/2006/relationships/slide" Target="slides/slide116.xml"/><Relationship Id="rId124" Type="http://schemas.openxmlformats.org/officeDocument/2006/relationships/slide" Target="slides/slide117.xml"/><Relationship Id="rId125" Type="http://schemas.openxmlformats.org/officeDocument/2006/relationships/slide" Target="slides/slide118.xml"/><Relationship Id="rId126" Type="http://schemas.openxmlformats.org/officeDocument/2006/relationships/slide" Target="slides/slide119.xml"/><Relationship Id="rId127" Type="http://schemas.openxmlformats.org/officeDocument/2006/relationships/slide" Target="slides/slide120.xml"/><Relationship Id="rId128" Type="http://schemas.openxmlformats.org/officeDocument/2006/relationships/slide" Target="slides/slide121.xml"/><Relationship Id="rId129" Type="http://schemas.openxmlformats.org/officeDocument/2006/relationships/slide" Target="slides/slide122.xml"/><Relationship Id="rId130" Type="http://schemas.openxmlformats.org/officeDocument/2006/relationships/slide" Target="slides/slide123.xml"/><Relationship Id="rId131" Type="http://schemas.openxmlformats.org/officeDocument/2006/relationships/slide" Target="slides/slide124.xml"/><Relationship Id="rId132" Type="http://schemas.openxmlformats.org/officeDocument/2006/relationships/slide" Target="slides/slide125.xml"/><Relationship Id="rId133" Type="http://schemas.openxmlformats.org/officeDocument/2006/relationships/slide" Target="slides/slide126.xml"/><Relationship Id="rId134" Type="http://schemas.openxmlformats.org/officeDocument/2006/relationships/slide" Target="slides/slide127.xml"/><Relationship Id="rId135" Type="http://schemas.openxmlformats.org/officeDocument/2006/relationships/slide" Target="slides/slide128.xml"/><Relationship Id="rId136" Type="http://schemas.openxmlformats.org/officeDocument/2006/relationships/slide" Target="slides/slide129.xml"/><Relationship Id="rId137" Type="http://schemas.openxmlformats.org/officeDocument/2006/relationships/slide" Target="slides/slide130.xml"/><Relationship Id="rId138" Type="http://schemas.openxmlformats.org/officeDocument/2006/relationships/slide" Target="slides/slide131.xml"/><Relationship Id="rId139" Type="http://schemas.openxmlformats.org/officeDocument/2006/relationships/slide" Target="slides/slide132.xml"/><Relationship Id="rId140" Type="http://schemas.openxmlformats.org/officeDocument/2006/relationships/slide" Target="slides/slide133.xml"/><Relationship Id="rId141" Type="http://schemas.openxmlformats.org/officeDocument/2006/relationships/slide" Target="slides/slide134.xml"/><Relationship Id="rId142" Type="http://schemas.openxmlformats.org/officeDocument/2006/relationships/slide" Target="slides/slide135.xml"/><Relationship Id="rId143" Type="http://schemas.openxmlformats.org/officeDocument/2006/relationships/slide" Target="slides/slide136.xml"/><Relationship Id="rId144" Type="http://schemas.openxmlformats.org/officeDocument/2006/relationships/slide" Target="slides/slide137.xml"/><Relationship Id="rId145" Type="http://schemas.openxmlformats.org/officeDocument/2006/relationships/slide" Target="slides/slide138.xml"/><Relationship Id="rId146" Type="http://schemas.openxmlformats.org/officeDocument/2006/relationships/slide" Target="slides/slide139.xml"/><Relationship Id="rId147" Type="http://schemas.openxmlformats.org/officeDocument/2006/relationships/slide" Target="slides/slide140.xml"/><Relationship Id="rId148" Type="http://schemas.openxmlformats.org/officeDocument/2006/relationships/slide" Target="slides/slide141.xml"/><Relationship Id="rId149" Type="http://schemas.openxmlformats.org/officeDocument/2006/relationships/slide" Target="slides/slide142.xml"/><Relationship Id="rId150" Type="http://schemas.openxmlformats.org/officeDocument/2006/relationships/slide" Target="slides/slide143.xml"/><Relationship Id="rId151" Type="http://schemas.openxmlformats.org/officeDocument/2006/relationships/slide" Target="slides/slide144.xml"/><Relationship Id="rId152" Type="http://schemas.openxmlformats.org/officeDocument/2006/relationships/slide" Target="slides/slide145.xml"/><Relationship Id="rId153" Type="http://schemas.openxmlformats.org/officeDocument/2006/relationships/slide" Target="slides/slide146.xml"/><Relationship Id="rId154" Type="http://schemas.openxmlformats.org/officeDocument/2006/relationships/slide" Target="slides/slide147.xml"/><Relationship Id="rId155" Type="http://schemas.openxmlformats.org/officeDocument/2006/relationships/slide" Target="slides/slide148.xml"/><Relationship Id="rId156" Type="http://schemas.openxmlformats.org/officeDocument/2006/relationships/slide" Target="slides/slide149.xml"/><Relationship Id="rId157" Type="http://schemas.openxmlformats.org/officeDocument/2006/relationships/slide" Target="slides/slide150.xml"/><Relationship Id="rId158" Type="http://schemas.openxmlformats.org/officeDocument/2006/relationships/slide" Target="slides/slide151.xml"/><Relationship Id="rId159" Type="http://schemas.openxmlformats.org/officeDocument/2006/relationships/slide" Target="slides/slide152.xml"/><Relationship Id="rId160" Type="http://schemas.openxmlformats.org/officeDocument/2006/relationships/slide" Target="slides/slide153.xml"/><Relationship Id="rId161" Type="http://schemas.openxmlformats.org/officeDocument/2006/relationships/slide" Target="slides/slide154.xml"/><Relationship Id="rId162" Type="http://schemas.openxmlformats.org/officeDocument/2006/relationships/slide" Target="slides/slide155.xml"/><Relationship Id="rId163" Type="http://schemas.openxmlformats.org/officeDocument/2006/relationships/slide" Target="slides/slide156.xml"/><Relationship Id="rId164" Type="http://schemas.openxmlformats.org/officeDocument/2006/relationships/slide" Target="slides/slide157.xml"/><Relationship Id="rId165" Type="http://schemas.openxmlformats.org/officeDocument/2006/relationships/slide" Target="slides/slide158.xml"/><Relationship Id="rId166" Type="http://schemas.openxmlformats.org/officeDocument/2006/relationships/slide" Target="slides/slide159.xml"/><Relationship Id="rId167" Type="http://schemas.openxmlformats.org/officeDocument/2006/relationships/slide" Target="slides/slide160.xml"/><Relationship Id="rId168" Type="http://schemas.openxmlformats.org/officeDocument/2006/relationships/slide" Target="slides/slide161.xml"/><Relationship Id="rId169" Type="http://schemas.openxmlformats.org/officeDocument/2006/relationships/slide" Target="slides/slide162.xml"/><Relationship Id="rId170" Type="http://schemas.openxmlformats.org/officeDocument/2006/relationships/slide" Target="slides/slide163.xml"/><Relationship Id="rId171" Type="http://schemas.openxmlformats.org/officeDocument/2006/relationships/slide" Target="slides/slide164.xml"/><Relationship Id="rId172" Type="http://schemas.openxmlformats.org/officeDocument/2006/relationships/slide" Target="slides/slide165.xml"/><Relationship Id="rId173" Type="http://schemas.openxmlformats.org/officeDocument/2006/relationships/slide" Target="slides/slide166.xml"/><Relationship Id="rId174" Type="http://schemas.openxmlformats.org/officeDocument/2006/relationships/slide" Target="slides/slide167.xml"/><Relationship Id="rId175" Type="http://schemas.openxmlformats.org/officeDocument/2006/relationships/slide" Target="slides/slide168.xml"/><Relationship Id="rId176" Type="http://schemas.openxmlformats.org/officeDocument/2006/relationships/slide" Target="slides/slide169.xml"/><Relationship Id="rId177" Type="http://schemas.openxmlformats.org/officeDocument/2006/relationships/slide" Target="slides/slide170.xml"/><Relationship Id="rId178" Type="http://schemas.openxmlformats.org/officeDocument/2006/relationships/slide" Target="slides/slide171.xml"/><Relationship Id="rId179" Type="http://schemas.openxmlformats.org/officeDocument/2006/relationships/slide" Target="slides/slide172.xml"/><Relationship Id="rId180" Type="http://schemas.openxmlformats.org/officeDocument/2006/relationships/slide" Target="slides/slide173.xml"/><Relationship Id="rId181" Type="http://schemas.openxmlformats.org/officeDocument/2006/relationships/slide" Target="slides/slide174.xml"/><Relationship Id="rId182" Type="http://schemas.openxmlformats.org/officeDocument/2006/relationships/slide" Target="slides/slide175.xml"/><Relationship Id="rId183" Type="http://schemas.openxmlformats.org/officeDocument/2006/relationships/slide" Target="slides/slide176.xml"/><Relationship Id="rId184" Type="http://schemas.openxmlformats.org/officeDocument/2006/relationships/slide" Target="slides/slide177.xml"/><Relationship Id="rId185" Type="http://schemas.openxmlformats.org/officeDocument/2006/relationships/slide" Target="slides/slide178.xml"/><Relationship Id="rId186" Type="http://schemas.openxmlformats.org/officeDocument/2006/relationships/slide" Target="slides/slide179.xml"/><Relationship Id="rId187" Type="http://schemas.openxmlformats.org/officeDocument/2006/relationships/slide" Target="slides/slide180.xml"/><Relationship Id="rId188" Type="http://schemas.openxmlformats.org/officeDocument/2006/relationships/slide" Target="slides/slide181.xml"/><Relationship Id="rId189" Type="http://schemas.openxmlformats.org/officeDocument/2006/relationships/slide" Target="slides/slide182.xml"/><Relationship Id="rId190" Type="http://schemas.openxmlformats.org/officeDocument/2006/relationships/slide" Target="slides/slide183.xml"/><Relationship Id="rId191" Type="http://schemas.openxmlformats.org/officeDocument/2006/relationships/slide" Target="slides/slide184.xml"/><Relationship Id="rId192" Type="http://schemas.openxmlformats.org/officeDocument/2006/relationships/slide" Target="slides/slide185.xml"/><Relationship Id="rId193" Type="http://schemas.openxmlformats.org/officeDocument/2006/relationships/slide" Target="slides/slide186.xml"/><Relationship Id="rId194" Type="http://schemas.openxmlformats.org/officeDocument/2006/relationships/slide" Target="slides/slide187.xml"/><Relationship Id="rId195" Type="http://schemas.openxmlformats.org/officeDocument/2006/relationships/slide" Target="slides/slide188.xml"/><Relationship Id="rId196" Type="http://schemas.openxmlformats.org/officeDocument/2006/relationships/slide" Target="slides/slide189.xml"/><Relationship Id="rId197" Type="http://schemas.openxmlformats.org/officeDocument/2006/relationships/slide" Target="slides/slide190.xml"/><Relationship Id="rId198" Type="http://schemas.openxmlformats.org/officeDocument/2006/relationships/slide" Target="slides/slide191.xml"/><Relationship Id="rId199" Type="http://schemas.openxmlformats.org/officeDocument/2006/relationships/slide" Target="slides/slide192.xml"/><Relationship Id="rId200" Type="http://schemas.openxmlformats.org/officeDocument/2006/relationships/slide" Target="slides/slide193.xml"/><Relationship Id="rId201" Type="http://schemas.openxmlformats.org/officeDocument/2006/relationships/slide" Target="slides/slide194.xml"/><Relationship Id="rId202" Type="http://schemas.openxmlformats.org/officeDocument/2006/relationships/slide" Target="slides/slide195.xml"/><Relationship Id="rId203" Type="http://schemas.openxmlformats.org/officeDocument/2006/relationships/slide" Target="slides/slide196.xml"/><Relationship Id="rId204" Type="http://schemas.openxmlformats.org/officeDocument/2006/relationships/slide" Target="slides/slide197.xml"/><Relationship Id="rId205" Type="http://schemas.openxmlformats.org/officeDocument/2006/relationships/slide" Target="slides/slide198.xml"/><Relationship Id="rId206" Type="http://schemas.openxmlformats.org/officeDocument/2006/relationships/slide" Target="slides/slide199.xml"/><Relationship Id="rId207" Type="http://schemas.openxmlformats.org/officeDocument/2006/relationships/slide" Target="slides/slide200.xml"/><Relationship Id="rId208" Type="http://schemas.openxmlformats.org/officeDocument/2006/relationships/slide" Target="slides/slide201.xml"/><Relationship Id="rId209" Type="http://schemas.openxmlformats.org/officeDocument/2006/relationships/slide" Target="slides/slide202.xml"/><Relationship Id="rId210" Type="http://schemas.openxmlformats.org/officeDocument/2006/relationships/slide" Target="slides/slide203.xml"/><Relationship Id="rId211" Type="http://schemas.openxmlformats.org/officeDocument/2006/relationships/slide" Target="slides/slide204.xml"/><Relationship Id="rId212" Type="http://schemas.openxmlformats.org/officeDocument/2006/relationships/slide" Target="slides/slide205.xml"/><Relationship Id="rId213" Type="http://schemas.openxmlformats.org/officeDocument/2006/relationships/slide" Target="slides/slide206.xml"/><Relationship Id="rId214" Type="http://schemas.openxmlformats.org/officeDocument/2006/relationships/slide" Target="slides/slide207.xml"/><Relationship Id="rId215" Type="http://schemas.openxmlformats.org/officeDocument/2006/relationships/slide" Target="slides/slide208.xml"/><Relationship Id="rId216" Type="http://schemas.openxmlformats.org/officeDocument/2006/relationships/slide" Target="slides/slide209.xml"/><Relationship Id="rId217" Type="http://schemas.openxmlformats.org/officeDocument/2006/relationships/slide" Target="slides/slide210.xml"/><Relationship Id="rId218" Type="http://schemas.openxmlformats.org/officeDocument/2006/relationships/slide" Target="slides/slide211.xml"/><Relationship Id="rId219" Type="http://schemas.openxmlformats.org/officeDocument/2006/relationships/slide" Target="slides/slide212.xml"/><Relationship Id="rId220" Type="http://schemas.openxmlformats.org/officeDocument/2006/relationships/slide" Target="slides/slide213.xml"/><Relationship Id="rId221" Type="http://schemas.openxmlformats.org/officeDocument/2006/relationships/slide" Target="slides/slide214.xml"/><Relationship Id="rId222" Type="http://schemas.openxmlformats.org/officeDocument/2006/relationships/slide" Target="slides/slide215.xml"/><Relationship Id="rId223" Type="http://schemas.openxmlformats.org/officeDocument/2006/relationships/slide" Target="slides/slide216.xml"/><Relationship Id="rId224" Type="http://schemas.openxmlformats.org/officeDocument/2006/relationships/slide" Target="slides/slide217.xml"/><Relationship Id="rId225" Type="http://schemas.openxmlformats.org/officeDocument/2006/relationships/slide" Target="slides/slide218.xml"/><Relationship Id="rId226" Type="http://schemas.openxmlformats.org/officeDocument/2006/relationships/slide" Target="slides/slide219.xml"/><Relationship Id="rId227" Type="http://schemas.openxmlformats.org/officeDocument/2006/relationships/slide" Target="slides/slide220.xml"/><Relationship Id="rId228" Type="http://schemas.openxmlformats.org/officeDocument/2006/relationships/slide" Target="slides/slide221.xml"/><Relationship Id="rId229" Type="http://schemas.openxmlformats.org/officeDocument/2006/relationships/slide" Target="slides/slide222.xml"/><Relationship Id="rId230" Type="http://schemas.openxmlformats.org/officeDocument/2006/relationships/slide" Target="slides/slide223.xml"/><Relationship Id="rId231" Type="http://schemas.openxmlformats.org/officeDocument/2006/relationships/slide" Target="slides/slide22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1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2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3.xlsx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(%) of each stated population</c:v>
                </c:pt>
              </c:strCache>
            </c:strRef>
          </c:tx>
          <c:spPr>
            <a:solidFill>
              <a:srgbClr val="D97757"/>
            </a:solidFill>
          </c:spPr>
          <c:cat>
            <c:strRef>
              <c:f>Sheet1!$A$2:$A$4</c:f>
              <c:strCache>
                <c:ptCount val="3"/>
                <c:pt idx="0">
                  <c:v>Survey</c:v>
                </c:pt>
                <c:pt idx="1">
                  <c:v>Enquiries</c:v>
                </c:pt>
                <c:pt idx="2">
                  <c:v>Web events</c:v>
                </c:pt>
              </c:strCache>
            </c:strRef>
          </c:cat>
          <c:val>
            <c:numRef>
              <c:f>Sheet1!$B$2:$B$4</c:f>
              <c:numCache>
                <c:formatCode>0</c:formatCode>
                <c:ptCount val="3"/>
                <c:pt idx="0">
                  <c:v>60</c:v>
                </c:pt>
                <c:pt idx="1">
                  <c:v>45</c:v>
                </c:pt>
                <c:pt idx="2">
                  <c:v>4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000">
                  <a:solidFill>
                    <a:srgbClr val="21201C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21201C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Count of manifest files / outputs</c:v>
                </c:pt>
              </c:strCache>
            </c:strRef>
          </c:tx>
          <c:spPr>
            <a:solidFill>
              <a:srgbClr val="D97757"/>
            </a:solidFill>
          </c:spPr>
          <c:cat>
            <c:strRef>
              <c:f>Sheet1!$A$2:$A$4</c:f>
              <c:strCache>
                <c:ptCount val="3"/>
                <c:pt idx="0">
                  <c:v>Read approved</c:v>
                </c:pt>
                <c:pt idx="1">
                  <c:v>Quarantine</c:v>
                </c:pt>
                <c:pt idx="2">
                  <c:v>Write outputs</c:v>
                </c:pt>
              </c:strCache>
            </c:strRef>
          </c:cat>
          <c:val>
            <c:numRef>
              <c:f>Sheet1!$B$2:$B$4</c:f>
              <c:numCache>
                <c:formatCode>0</c:formatCode>
                <c:ptCount val="3"/>
                <c:pt idx="0">
                  <c:v>3</c:v>
                </c:pt>
                <c:pt idx="1">
                  <c:v>1</c:v>
                </c:pt>
                <c:pt idx="2">
                  <c:v>2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000">
                  <a:solidFill>
                    <a:srgbClr val="21201C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  <c:majorUnit val="1.0"/>
      </c:valAx>
    </c:plotArea>
    <c:dispBlanksAs val="gap"/>
  </c:chart>
  <c:txPr>
    <a:bodyPr/>
    <a:lstStyle/>
    <a:p>
      <a:pPr>
        <a:defRPr sz="1200">
          <a:solidFill>
            <a:srgbClr val="21201C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Advertised tuition (SGD per hour)</c:v>
                </c:pt>
              </c:strCache>
            </c:strRef>
          </c:tx>
          <c:spPr>
            <a:solidFill>
              <a:srgbClr val="D97757"/>
            </a:solidFill>
          </c:spPr>
          <c:cat>
            <c:strRef>
              <c:f>Sheet1!$A$2:$A$4</c:f>
              <c:strCache>
                <c:ptCount val="3"/>
                <c:pt idx="0">
                  <c:v>Northstar</c:v>
                </c:pt>
                <c:pt idx="1">
                  <c:v>Harbour</c:v>
                </c:pt>
                <c:pt idx="2">
                  <c:v>Orchid</c:v>
                </c:pt>
              </c:strCache>
            </c:strRef>
          </c:cat>
          <c:val>
            <c:numRef>
              <c:f>Sheet1!$B$2:$B$4</c:f>
              <c:numCache>
                <c:formatCode>0</c:formatCode>
                <c:ptCount val="3"/>
                <c:pt idx="0">
                  <c:v>60</c:v>
                </c:pt>
                <c:pt idx="1">
                  <c:v>45</c:v>
                </c:pt>
                <c:pt idx="2">
                  <c:v>50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000">
                  <a:solidFill>
                    <a:srgbClr val="21201C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21201C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Count of coded review mentions</c:v>
                </c:pt>
              </c:strCache>
            </c:strRef>
          </c:tx>
          <c:spPr>
            <a:solidFill>
              <a:srgbClr val="D97757"/>
            </a:solidFill>
          </c:spPr>
          <c:cat>
            <c:strRef>
              <c:f>Sheet1!$A$2:$A$4</c:f>
              <c:strCache>
                <c:ptCount val="3"/>
                <c:pt idx="0">
                  <c:v>Timing</c:v>
                </c:pt>
                <c:pt idx="1">
                  <c:v>Relevance</c:v>
                </c:pt>
                <c:pt idx="2">
                  <c:v>Support</c:v>
                </c:pt>
              </c:strCache>
            </c:strRef>
          </c:cat>
          <c:val>
            <c:numRef>
              <c:f>Sheet1!$B$2:$B$4</c:f>
              <c:numCache>
                <c:formatCode>0</c:formatCode>
                <c:ptCount val="3"/>
                <c:pt idx="0">
                  <c:v>3</c:v>
                </c:pt>
                <c:pt idx="1">
                  <c:v>3</c:v>
                </c:pt>
                <c:pt idx="2">
                  <c:v>2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000">
                  <a:solidFill>
                    <a:srgbClr val="21201C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  <c:majorUnit val="1.0"/>
      </c:valAx>
    </c:plotArea>
    <c:dispBlanksAs val="gap"/>
  </c:chart>
  <c:txPr>
    <a:bodyPr/>
    <a:lstStyle/>
    <a:p>
      <a:pPr>
        <a:defRPr sz="1200">
          <a:solidFill>
            <a:srgbClr val="21201C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Contribution margin (SGD per customer)</c:v>
                </c:pt>
              </c:strCache>
            </c:strRef>
          </c:tx>
          <c:spPr>
            <a:solidFill>
              <a:srgbClr val="D97757"/>
            </a:solidFill>
          </c:spPr>
          <c:cat>
            <c:strRef>
              <c:f>Sheet1!$A$2:$A$4</c:f>
              <c:strCache>
                <c:ptCount val="3"/>
                <c:pt idx="0">
                  <c:v>Working</c:v>
                </c:pt>
                <c:pt idx="1">
                  <c:v>Career</c:v>
                </c:pt>
                <c:pt idx="2">
                  <c:v>Team leads</c:v>
                </c:pt>
              </c:strCache>
            </c:strRef>
          </c:cat>
          <c:val>
            <c:numRef>
              <c:f>Sheet1!$B$2:$B$4</c:f>
              <c:numCache>
                <c:formatCode>0</c:formatCode>
                <c:ptCount val="3"/>
                <c:pt idx="0">
                  <c:v>300</c:v>
                </c:pt>
                <c:pt idx="1">
                  <c:v>200</c:v>
                </c:pt>
                <c:pt idx="2">
                  <c:v>500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000">
                  <a:solidFill>
                    <a:srgbClr val="21201C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21201C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Unique synthetic sessions per journey stage</c:v>
                </c:pt>
              </c:strCache>
            </c:strRef>
          </c:tx>
          <c:spPr>
            <a:solidFill>
              <a:srgbClr val="D97757"/>
            </a:solidFill>
          </c:spPr>
          <c:cat>
            <c:strRef>
              <c:f>Sheet1!$A$2:$A$5</c:f>
              <c:strCache>
                <c:ptCount val="4"/>
                <c:pt idx="0">
                  <c:v>Sessions</c:v>
                </c:pt>
                <c:pt idx="1">
                  <c:v>Enquiries</c:v>
                </c:pt>
                <c:pt idx="2">
                  <c:v>Qualified</c:v>
                </c:pt>
                <c:pt idx="3">
                  <c:v>Enrolments</c:v>
                </c:pt>
              </c:strCache>
            </c:strRef>
          </c:cat>
          <c:val>
            <c:numRef>
              <c:f>Sheet1!$B$2:$B$5</c:f>
              <c:numCache>
                <c:formatCode>0</c:formatCode>
                <c:ptCount val="4"/>
                <c:pt idx="0">
                  <c:v>2400</c:v>
                </c:pt>
                <c:pt idx="1">
                  <c:v>96</c:v>
                </c:pt>
                <c:pt idx="2">
                  <c:v>48</c:v>
                </c:pt>
                <c:pt idx="3">
                  <c:v>12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000">
                  <a:solidFill>
                    <a:srgbClr val="21201C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  <c:majorUnit val="500.0"/>
      </c:valAx>
    </c:plotArea>
    <c:dispBlanksAs val="gap"/>
  </c:chart>
  <c:txPr>
    <a:bodyPr/>
    <a:lstStyle/>
    <a:p>
      <a:pPr>
        <a:defRPr sz="1200">
          <a:solidFill>
            <a:srgbClr val="21201C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Count of planned stage events</c:v>
                </c:pt>
              </c:strCache>
            </c:strRef>
          </c:tx>
          <c:spPr>
            <a:solidFill>
              <a:srgbClr val="D97757"/>
            </a:solidFill>
          </c:spPr>
          <c:cat>
            <c:strRef>
              <c:f>Sheet1!$A$2:$A$5</c:f>
              <c:strCache>
                <c:ptCount val="4"/>
                <c:pt idx="0">
                  <c:v>Discovery</c:v>
                </c:pt>
                <c:pt idx="1">
                  <c:v>Consideration</c:v>
                </c:pt>
                <c:pt idx="2">
                  <c:v>Intent</c:v>
                </c:pt>
                <c:pt idx="3">
                  <c:v>Revenue</c:v>
                </c:pt>
              </c:strCache>
            </c:strRef>
          </c:cat>
          <c:val>
            <c:numRef>
              <c:f>Sheet1!$B$2:$B$5</c:f>
              <c:numCache>
                <c:formatCode>0</c:formatCode>
                <c:ptCount val="4"/>
                <c:pt idx="0">
                  <c:v>1</c:v>
                </c:pt>
                <c:pt idx="1">
                  <c:v>1</c:v>
                </c:pt>
                <c:pt idx="2">
                  <c:v>1</c:v>
                </c:pt>
                <c:pt idx="3">
                  <c:v>1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000">
                  <a:solidFill>
                    <a:srgbClr val="21201C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  <c:majorUnit val="1.0"/>
      </c:valAx>
    </c:plotArea>
    <c:dispBlanksAs val="gap"/>
  </c:chart>
  <c:txPr>
    <a:bodyPr/>
    <a:lstStyle/>
    <a:p>
      <a:pPr>
        <a:defRPr sz="1200">
          <a:solidFill>
            <a:srgbClr val="21201C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Synthetic purchase value (SGD)</c:v>
                </c:pt>
              </c:strCache>
            </c:strRef>
          </c:tx>
          <c:spPr>
            <a:solidFill>
              <a:srgbClr val="D97757"/>
            </a:solidFill>
          </c:spPr>
          <c:cat>
            <c:strRef>
              <c:f>Sheet1!$A$2:$A$5</c:f>
              <c:strCache>
                <c:ptCount val="4"/>
                <c:pt idx="0">
                  <c:v>Raw</c:v>
                </c:pt>
                <c:pt idx="1">
                  <c:v>Duplicate</c:v>
                </c:pt>
                <c:pt idx="2">
                  <c:v>Missing ID</c:v>
                </c:pt>
                <c:pt idx="3">
                  <c:v>Valid</c:v>
                </c:pt>
              </c:strCache>
            </c:strRef>
          </c:cat>
          <c:val>
            <c:numRef>
              <c:f>Sheet1!$B$2:$B$5</c:f>
              <c:numCache>
                <c:formatCode>0</c:formatCode>
                <c:ptCount val="4"/>
                <c:pt idx="0">
                  <c:v>2100</c:v>
                </c:pt>
                <c:pt idx="1">
                  <c:v>600</c:v>
                </c:pt>
                <c:pt idx="2">
                  <c:v>400</c:v>
                </c:pt>
                <c:pt idx="3">
                  <c:v>1100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000">
                  <a:solidFill>
                    <a:srgbClr val="21201C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21201C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First touch</c:v>
                </c:pt>
              </c:strCache>
            </c:strRef>
          </c:tx>
          <c:spPr>
            <a:solidFill>
              <a:srgbClr val="D97757"/>
            </a:solidFill>
          </c:spPr>
          <c:cat>
            <c:strRef>
              <c:f>Sheet1!$A$2:$A$5</c:f>
              <c:strCache>
                <c:ptCount val="4"/>
                <c:pt idx="0">
                  <c:v>Paid search</c:v>
                </c:pt>
                <c:pt idx="1">
                  <c:v>Organic</c:v>
                </c:pt>
                <c:pt idx="2">
                  <c:v>Email</c:v>
                </c:pt>
                <c:pt idx="3">
                  <c:v>Direct</c:v>
                </c:pt>
              </c:strCache>
            </c:strRef>
          </c:cat>
          <c:val>
            <c:numRef>
              <c:f>Sheet1!$B$2:$B$5</c:f>
              <c:numCache>
                <c:formatCode>0</c:formatCode>
                <c:ptCount val="4"/>
                <c:pt idx="0">
                  <c:v>1200</c:v>
                </c:pt>
                <c:pt idx="1">
                  <c:v>500</c:v>
                </c:pt>
                <c:pt idx="2">
                  <c:v>700</c:v>
                </c:pt>
                <c:pt idx="3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Last touch</c:v>
                </c:pt>
              </c:strCache>
            </c:strRef>
          </c:tx>
          <c:spPr>
            <a:solidFill>
              <a:srgbClr val="3A7D7B"/>
            </a:solidFill>
          </c:spPr>
          <c:cat>
            <c:strRef>
              <c:f>Sheet1!$A$2:$A$5</c:f>
              <c:strCache>
                <c:ptCount val="4"/>
                <c:pt idx="0">
                  <c:v>Paid search</c:v>
                </c:pt>
                <c:pt idx="1">
                  <c:v>Organic</c:v>
                </c:pt>
                <c:pt idx="2">
                  <c:v>Email</c:v>
                </c:pt>
                <c:pt idx="3">
                  <c:v>Direct</c:v>
                </c:pt>
              </c:strCache>
            </c:strRef>
          </c:cat>
          <c:val>
            <c:numRef>
              <c:f>Sheet1!$C$2:$C$5</c:f>
              <c:numCache>
                <c:formatCode>0</c:formatCode>
                <c:ptCount val="4"/>
                <c:pt idx="0">
                  <c:v>0</c:v>
                </c:pt>
                <c:pt idx="1">
                  <c:v>0</c:v>
                </c:pt>
                <c:pt idx="2">
                  <c:v>1300</c:v>
                </c:pt>
                <c:pt idx="3">
                  <c:v>1100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000">
                  <a:solidFill>
                    <a:srgbClr val="21201C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200">
          <a:solidFill>
            <a:srgbClr val="21201C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Clicks per sent email (%)</c:v>
                </c:pt>
              </c:strCache>
            </c:strRef>
          </c:tx>
          <c:spPr>
            <a:solidFill>
              <a:srgbClr val="D97757"/>
            </a:solidFill>
          </c:spPr>
          <c:cat>
            <c:strRef>
              <c:f>Sheet1!$A$2:$A$4</c:f>
              <c:strCache>
                <c:ptCount val="3"/>
                <c:pt idx="0">
                  <c:v>Enquiry</c:v>
                </c:pt>
                <c:pt idx="1">
                  <c:v>Qualified</c:v>
                </c:pt>
                <c:pt idx="2">
                  <c:v>Past learner</c:v>
                </c:pt>
              </c:strCache>
            </c:strRef>
          </c:cat>
          <c:val>
            <c:numRef>
              <c:f>Sheet1!$B$2:$B$4</c:f>
              <c:numCache>
                <c:formatCode>0</c:formatCode>
                <c:ptCount val="3"/>
                <c:pt idx="0">
                  <c:v>20</c:v>
                </c:pt>
                <c:pt idx="1">
                  <c:v>30</c:v>
                </c:pt>
                <c:pt idx="2">
                  <c:v>20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000">
                  <a:solidFill>
                    <a:srgbClr val="21201C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21201C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Clicks per search impression (%)</c:v>
                </c:pt>
              </c:strCache>
            </c:strRef>
          </c:tx>
          <c:spPr>
            <a:solidFill>
              <a:srgbClr val="D97757"/>
            </a:solidFill>
          </c:spPr>
          <c:cat>
            <c:strRef>
              <c:f>Sheet1!$A$2:$A$5</c:f>
              <c:strCache>
                <c:ptCount val="4"/>
                <c:pt idx="0">
                  <c:v>AI course</c:v>
                </c:pt>
                <c:pt idx="1">
                  <c:v>Cowork guide</c:v>
                </c:pt>
                <c:pt idx="2">
                  <c:v>Research training</c:v>
                </c:pt>
                <c:pt idx="3">
                  <c:v>Segmentation</c:v>
                </c:pt>
              </c:strCache>
            </c:strRef>
          </c:cat>
          <c:val>
            <c:numRef>
              <c:f>Sheet1!$B$2:$B$5</c:f>
              <c:numCache>
                <c:formatCode>0</c:formatCode>
                <c:ptCount val="4"/>
                <c:pt idx="0">
                  <c:v>4</c:v>
                </c:pt>
                <c:pt idx="1">
                  <c:v>3</c:v>
                </c:pt>
                <c:pt idx="2">
                  <c:v>6</c:v>
                </c:pt>
                <c:pt idx="3">
                  <c:v>3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000">
                  <a:solidFill>
                    <a:srgbClr val="21201C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21201C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Monthly enquiries (count)</c:v>
                </c:pt>
              </c:strCache>
            </c:strRef>
          </c:tx>
          <c:spPr>
            <a:ln w="31750">
              <a:solidFill>
                <a:srgbClr val="D97757"/>
              </a:solidFill>
            </a:ln>
          </c:spPr>
          <c:cat>
            <c:strRef>
              <c:f>Sheet1!$A$2:$A$7</c:f>
              <c:strCache>
                <c:ptCount val="6"/>
                <c:pt idx="0">
                  <c:v>Mar</c:v>
                </c:pt>
                <c:pt idx="1">
                  <c:v>Apr</c:v>
                </c:pt>
                <c:pt idx="2">
                  <c:v>May</c:v>
                </c:pt>
                <c:pt idx="3">
                  <c:v>Jun</c:v>
                </c:pt>
                <c:pt idx="4">
                  <c:v>Jul</c:v>
                </c:pt>
                <c:pt idx="5">
                  <c:v>Aug</c:v>
                </c:pt>
              </c:strCache>
            </c:strRef>
          </c:cat>
          <c:val>
            <c:numRef>
              <c:f>Sheet1!$B$2:$B$7</c:f>
              <c:numCache>
                <c:formatCode>0</c:formatCode>
                <c:ptCount val="6"/>
                <c:pt idx="0">
                  <c:v>80</c:v>
                </c:pt>
                <c:pt idx="1">
                  <c:v>88</c:v>
                </c:pt>
                <c:pt idx="2">
                  <c:v>84</c:v>
                </c:pt>
                <c:pt idx="3">
                  <c:v>96</c:v>
                </c:pt>
                <c:pt idx="4">
                  <c:v>100</c:v>
                </c:pt>
                <c:pt idx="5">
                  <c:v>104</c:v>
                </c:pt>
              </c:numCache>
            </c:numRef>
          </c:val>
          <c:smooth val="0"/>
        </c:ser>
        <c:dLbls>
          <c:numFmt formatCode="0" sourceLinked="0"/>
          <c:txPr>
            <a:bodyPr/>
            <a:lstStyle/>
            <a:p>
              <a:pPr>
                <a:defRPr sz="1000">
                  <a:solidFill>
                    <a:srgbClr val="21201C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  <c:majorUnit val="10.0"/>
      </c:valAx>
    </c:plotArea>
    <c:plotVisOnly val="1"/>
    <c:dispBlanksAs val="gap"/>
    <c:showDLblsOverMax val="0"/>
  </c:chart>
  <c:txPr>
    <a:bodyPr/>
    <a:lstStyle/>
    <a:p>
      <a:pPr>
        <a:defRPr sz="1200">
          <a:solidFill>
            <a:srgbClr val="21201C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Leads per session (%)</c:v>
                </c:pt>
              </c:strCache>
            </c:strRef>
          </c:tx>
          <c:spPr>
            <a:solidFill>
              <a:srgbClr val="D97757"/>
            </a:solidFill>
          </c:spPr>
          <c:cat>
            <c:strRef>
              <c:f>Sheet1!$A$2:$A$5</c:f>
              <c:strCache>
                <c:ptCount val="4"/>
                <c:pt idx="0">
                  <c:v>Paid</c:v>
                </c:pt>
                <c:pt idx="1">
                  <c:v>Organic</c:v>
                </c:pt>
                <c:pt idx="2">
                  <c:v>Email</c:v>
                </c:pt>
                <c:pt idx="3">
                  <c:v>Direct</c:v>
                </c:pt>
              </c:strCache>
            </c:strRef>
          </c:cat>
          <c:val>
            <c:numRef>
              <c:f>Sheet1!$B$2:$B$5</c:f>
              <c:numCache>
                <c:formatCode>0</c:formatCode>
                <c:ptCount val="4"/>
                <c:pt idx="0">
                  <c:v>5</c:v>
                </c:pt>
                <c:pt idx="1">
                  <c:v>4</c:v>
                </c:pt>
                <c:pt idx="2">
                  <c:v>8</c:v>
                </c:pt>
                <c:pt idx="3">
                  <c:v>1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000">
                  <a:solidFill>
                    <a:srgbClr val="21201C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21201C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Contribution after listed spend (SGD)</c:v>
                </c:pt>
              </c:strCache>
            </c:strRef>
          </c:tx>
          <c:spPr>
            <a:solidFill>
              <a:srgbClr val="D97757"/>
            </a:solidFill>
          </c:spPr>
          <c:cat>
            <c:strRef>
              <c:f>Sheet1!$A$2:$A$5</c:f>
              <c:strCache>
                <c:ptCount val="4"/>
                <c:pt idx="0">
                  <c:v>Paid</c:v>
                </c:pt>
                <c:pt idx="1">
                  <c:v>Organic</c:v>
                </c:pt>
                <c:pt idx="2">
                  <c:v>Email</c:v>
                </c:pt>
                <c:pt idx="3">
                  <c:v>Direct</c:v>
                </c:pt>
              </c:strCache>
            </c:strRef>
          </c:cat>
          <c:val>
            <c:numRef>
              <c:f>Sheet1!$B$2:$B$5</c:f>
              <c:numCache>
                <c:formatCode>0</c:formatCode>
                <c:ptCount val="4"/>
                <c:pt idx="0">
                  <c:v>0</c:v>
                </c:pt>
                <c:pt idx="1">
                  <c:v>300</c:v>
                </c:pt>
                <c:pt idx="2">
                  <c:v>300</c:v>
                </c:pt>
                <c:pt idx="3">
                  <c:v>300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000">
                  <a:solidFill>
                    <a:srgbClr val="21201C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21201C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2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3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5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6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7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8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9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0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1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2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3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4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5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6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7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8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9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0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1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2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3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4.xml"/></Relationships>
</file>

<file path=ppt/notesSlides/_rels/notesSlide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5.xml"/></Relationships>
</file>

<file path=ppt/notesSlides/_rels/notesSlide1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6.xml"/></Relationships>
</file>

<file path=ppt/notesSlides/_rels/notesSlide1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7.xml"/></Relationships>
</file>

<file path=ppt/notesSlides/_rels/notesSlide1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8.xml"/></Relationships>
</file>

<file path=ppt/notesSlides/_rels/notesSlide1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9.xml"/></Relationships>
</file>

<file path=ppt/notesSlides/_rels/notesSlide1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0.xml"/></Relationships>
</file>

<file path=ppt/notesSlides/_rels/notesSlide1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1.xml"/></Relationships>
</file>

<file path=ppt/notesSlides/_rels/notesSlide1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2.xml"/></Relationships>
</file>

<file path=ppt/notesSlides/_rels/notesSlide1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3.xml"/></Relationships>
</file>

<file path=ppt/notesSlides/_rels/notesSlide10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4.xml"/></Relationships>
</file>

<file path=ppt/notesSlides/_rels/notesSlide10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5.xml"/></Relationships>
</file>

<file path=ppt/notesSlides/_rels/notesSlide1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6.xml"/></Relationships>
</file>

<file path=ppt/notesSlides/_rels/notesSlide1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7.xml"/></Relationships>
</file>

<file path=ppt/notesSlides/_rels/notesSlide1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8.xml"/></Relationships>
</file>

<file path=ppt/notesSlides/_rels/notesSlide1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9.xml"/></Relationships>
</file>

<file path=ppt/notesSlides/_rels/notesSlide1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0.xml"/></Relationships>
</file>

<file path=ppt/notesSlides/_rels/notesSlide1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1.xml"/></Relationships>
</file>

<file path=ppt/notesSlides/_rels/notesSlide1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2.xml"/></Relationships>
</file>

<file path=ppt/notesSlides/_rels/notesSlide1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3.xml"/></Relationships>
</file>

<file path=ppt/notesSlides/_rels/notesSlide1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5.xml"/></Relationships>
</file>

<file path=ppt/notesSlides/_rels/notesSlide1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6.xml"/></Relationships>
</file>

<file path=ppt/notesSlides/_rels/notesSlide1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7.xml"/></Relationships>
</file>

<file path=ppt/notesSlides/_rels/notesSlide1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8.xml"/></Relationships>
</file>

<file path=ppt/notesSlides/_rels/notesSlide1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9.xml"/></Relationships>
</file>

<file path=ppt/notesSlides/_rels/notesSlide1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0.xml"/></Relationships>
</file>

<file path=ppt/notesSlides/_rels/notesSlide1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1.xml"/></Relationships>
</file>

<file path=ppt/notesSlides/_rels/notesSlide1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2.xml"/></Relationships>
</file>

<file path=ppt/notesSlides/_rels/notesSlide1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3.xml"/></Relationships>
</file>

<file path=ppt/notesSlides/_rels/notesSlide1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4.xml"/></Relationships>
</file>

<file path=ppt/notesSlides/_rels/notesSlide1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5.xml"/></Relationships>
</file>

<file path=ppt/notesSlides/_rels/notesSlide1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6.xml"/></Relationships>
</file>

<file path=ppt/notesSlides/_rels/notesSlide1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7.xml"/></Relationships>
</file>

<file path=ppt/notesSlides/_rels/notesSlide1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9.xml"/></Relationships>
</file>

<file path=ppt/notesSlides/_rels/notesSlide1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0.xml"/></Relationships>
</file>

<file path=ppt/notesSlides/_rels/notesSlide1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1.xml"/></Relationships>
</file>

<file path=ppt/notesSlides/_rels/notesSlide1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2.xml"/></Relationships>
</file>

<file path=ppt/notesSlides/_rels/notesSlide1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3.xml"/></Relationships>
</file>

<file path=ppt/notesSlides/_rels/notesSlide1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4.xml"/></Relationships>
</file>

<file path=ppt/notesSlides/_rels/notesSlide1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5.xml"/></Relationships>
</file>

<file path=ppt/notesSlides/_rels/notesSlide1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6.xml"/></Relationships>
</file>

<file path=ppt/notesSlides/_rels/notesSlide1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7.xml"/></Relationships>
</file>

<file path=ppt/notesSlides/_rels/notesSlide1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8.xml"/></Relationships>
</file>

<file path=ppt/notesSlides/_rels/notesSlide1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9.xml"/></Relationships>
</file>

<file path=ppt/notesSlides/_rels/notesSlide1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0.xml"/></Relationships>
</file>

<file path=ppt/notesSlides/_rels/notesSlide1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1.xml"/></Relationships>
</file>

<file path=ppt/notesSlides/_rels/notesSlide1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3.xml"/></Relationships>
</file>

<file path=ppt/notesSlides/_rels/notesSlide1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4.xml"/></Relationships>
</file>

<file path=ppt/notesSlides/_rels/notesSlide1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5.xml"/></Relationships>
</file>

<file path=ppt/notesSlides/_rels/notesSlide1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6.xml"/></Relationships>
</file>

<file path=ppt/notesSlides/_rels/notesSlide1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7.xml"/></Relationships>
</file>

<file path=ppt/notesSlides/_rels/notesSlide1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8.xml"/></Relationships>
</file>

<file path=ppt/notesSlides/_rels/notesSlide1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9.xml"/></Relationships>
</file>

<file path=ppt/notesSlides/_rels/notesSlide1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0.xml"/></Relationships>
</file>

<file path=ppt/notesSlides/_rels/notesSlide1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1.xml"/></Relationships>
</file>

<file path=ppt/notesSlides/_rels/notesSlide1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2.xml"/></Relationships>
</file>

<file path=ppt/notesSlides/_rels/notesSlide1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3.xml"/></Relationships>
</file>

<file path=ppt/notesSlides/_rels/notesSlide1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4.xml"/></Relationships>
</file>

<file path=ppt/notesSlides/_rels/notesSlide1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5.xml"/></Relationships>
</file>

<file path=ppt/notesSlides/_rels/notesSlide1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7.xml"/></Relationships>
</file>

<file path=ppt/notesSlides/_rels/notesSlide1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8.xml"/></Relationships>
</file>

<file path=ppt/notesSlides/_rels/notesSlide1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9.xml"/></Relationships>
</file>

<file path=ppt/notesSlides/_rels/notesSlide1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0.xml"/></Relationships>
</file>

<file path=ppt/notesSlides/_rels/notesSlide1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1.xml"/></Relationships>
</file>

<file path=ppt/notesSlides/_rels/notesSlide1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2.xml"/></Relationships>
</file>

<file path=ppt/notesSlides/_rels/notesSlide1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3.xml"/></Relationships>
</file>

<file path=ppt/notesSlides/_rels/notesSlide1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4.xml"/></Relationships>
</file>

<file path=ppt/notesSlides/_rels/notesSlide1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5.xml"/></Relationships>
</file>

<file path=ppt/notesSlides/_rels/notesSlide1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6.xml"/></Relationships>
</file>

<file path=ppt/notesSlides/_rels/notesSlide1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7.xml"/></Relationships>
</file>

<file path=ppt/notesSlides/_rels/notesSlide1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8.xml"/></Relationships>
</file>

<file path=ppt/notesSlides/_rels/notesSlide1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9.xml"/></Relationships>
</file>

<file path=ppt/notesSlides/_rels/notesSlide1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1.xml"/></Relationships>
</file>

<file path=ppt/notesSlides/_rels/notesSlide1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2.xml"/></Relationships>
</file>

<file path=ppt/notesSlides/_rels/notesSlide1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3.xml"/></Relationships>
</file>

<file path=ppt/notesSlides/_rels/notesSlide1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4.xml"/></Relationships>
</file>

<file path=ppt/notesSlides/_rels/notesSlide1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5.xml"/></Relationships>
</file>

<file path=ppt/notesSlides/_rels/notesSlide1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6.xml"/></Relationships>
</file>

<file path=ppt/notesSlides/_rels/notesSlide1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7.xml"/></Relationships>
</file>

<file path=ppt/notesSlides/_rels/notesSlide1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8.xml"/></Relationships>
</file>

<file path=ppt/notesSlides/_rels/notesSlide1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9.xml"/></Relationships>
</file>

<file path=ppt/notesSlides/_rels/notesSlide1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0.xml"/></Relationships>
</file>

<file path=ppt/notesSlides/_rels/notesSlide1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1.xml"/></Relationships>
</file>

<file path=ppt/notesSlides/_rels/notesSlide1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2.xml"/></Relationships>
</file>

<file path=ppt/notesSlides/_rels/notesSlide1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3.xml"/></Relationships>
</file>

<file path=ppt/notesSlides/_rels/notesSlide1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4.xml"/></Relationships>
</file>

<file path=ppt/notesSlides/_rels/notesSlide1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5.xml"/></Relationships>
</file>

<file path=ppt/notesSlides/_rels/notesSlide1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6.xml"/></Relationships>
</file>

<file path=ppt/notesSlides/_rels/notesSlide1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7.xml"/></Relationships>
</file>

<file path=ppt/notesSlides/_rels/notesSlide1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8.xml"/></Relationships>
</file>

<file path=ppt/notesSlides/_rels/notesSlide1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9.xml"/></Relationships>
</file>

<file path=ppt/notesSlides/_rels/notesSlide1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0.xml"/></Relationships>
</file>

<file path=ppt/notesSlides/_rels/notesSlide1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1.xml"/></Relationships>
</file>

<file path=ppt/notesSlides/_rels/notesSlide1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2.xml"/></Relationships>
</file>

<file path=ppt/notesSlides/_rels/notesSlide1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3.xml"/></Relationships>
</file>

<file path=ppt/notesSlides/_rels/notesSlide1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4.xml"/></Relationships>
</file>

<file path=ppt/notesSlides/_rels/notesSlide1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5.xml"/></Relationships>
</file>

<file path=ppt/notesSlides/_rels/notesSlide1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6.xml"/></Relationships>
</file>

<file path=ppt/notesSlides/_rels/notesSlide1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7.xml"/></Relationships>
</file>

<file path=ppt/notesSlides/_rels/notesSlide1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8.xml"/></Relationships>
</file>

<file path=ppt/notesSlides/_rels/notesSlide1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dataset:activities/activity-01-evidence-registry/mock-data/sources.csv</a:t>
            </a:r>
          </a:p>
          <a:p>
            <a:r>
              <a:t>Reviewed 13 September 2026. Activity 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dataset:activities/activity-01-evidence-registry/mock-data/sources.csv</a:t>
            </a:r>
          </a:p>
          <a:p>
            <a:r>
              <a:t>Reviewed 13 September 2026. Activity 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dataset:activities/activity-01-evidence-registry/mock-data/sources.csv</a:t>
            </a:r>
          </a:p>
          <a:p>
            <a:r>
              <a:t>Reviewed 13 September 2026. Activity 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dataset:activities/activity-01-evidence-registry/mock-data/sources.csv</a:t>
            </a:r>
          </a:p>
          <a:p>
            <a:r>
              <a:t>Reviewed 13 September 2026. Activity 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dataset:activities/activity-01-evidence-registry/mock-data/sources.csv</a:t>
            </a:r>
          </a:p>
          <a:p>
            <a:r>
              <a:t>Reviewed 13 September 2026. Activity 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dataset:activities/activity-01-evidence-registry/mock-data/sources.csv</a:t>
            </a:r>
          </a:p>
          <a:p>
            <a:r>
              <a:t>Reviewed 13 September 2026. Activity 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https://code.claude.com/docs/en/overview</a:t>
            </a:r>
          </a:p>
          <a:p>
            <a:r>
              <a:t>Reviewed 13 September 2026. Activity 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dataset:activities/activity-01-evidence-registry/mock-data/sources.csv</a:t>
            </a:r>
          </a:p>
          <a:p>
            <a:r>
              <a:t>Reviewed 13 September 2026. Activity 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dataset:activities/activity-01-evidence-registry/mock-data/sources.csv</a:t>
            </a:r>
          </a:p>
          <a:p>
            <a:r>
              <a:t>Reviewed 13 September 2026. Activity 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dataset:activities/activity-01-evidence-registry/mock-data/sources.csv</a:t>
            </a:r>
          </a:p>
          <a:p>
            <a:r>
              <a:t>Reviewed 13 September 2026. Activity 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dataset:activities/activity-01-evidence-registry/mock-data/sources.csv</a:t>
            </a:r>
          </a:p>
          <a:p>
            <a:r>
              <a:t>Reviewed 13 September 2026. Activity 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dataset:activities/activity-01-evidence-registry/mock-data/sources.csv</a:t>
            </a:r>
          </a:p>
          <a:p>
            <a:r>
              <a:t>Reviewed 13 September 2026. Activity 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dataset:activities/activity-01-evidence-registry/mock-data/sources.csv</a:t>
            </a:r>
          </a:p>
          <a:p>
            <a:r>
              <a:t>Reviewed 13 September 2026. Activity 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dataset:activities/activity-02-cowork-folder-brief/mock-data/campaign-files.csv</a:t>
            </a:r>
          </a:p>
          <a:p>
            <a:r>
              <a:t>Reviewed 13 September 2026. Activity 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dataset:activities/activity-02-cowork-folder-brief/mock-data/campaign-files.csv</a:t>
            </a:r>
          </a:p>
          <a:p>
            <a:r>
              <a:t>Reviewed 13 September 2026. Activity 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dataset:activities/activity-02-cowork-folder-brief/mock-data/campaign-files.csv</a:t>
            </a:r>
          </a:p>
          <a:p>
            <a:r>
              <a:t>Reviewed 13 September 2026. Activity 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dataset:activities/activity-02-cowork-folder-brief/mock-data/campaign-files.csv</a:t>
            </a:r>
          </a:p>
          <a:p>
            <a:r>
              <a:t>Reviewed 13 September 2026. Activity 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dataset:activities/activity-02-cowork-folder-brief/mock-data/campaign-files.csv</a:t>
            </a:r>
          </a:p>
          <a:p>
            <a:r>
              <a:t>Reviewed 13 September 2026. Activity 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dataset:activities/activity-02-cowork-folder-brief/mock-data/campaign-files.csv</a:t>
            </a:r>
          </a:p>
          <a:p>
            <a:r>
              <a:t>Reviewed 13 September 2026. Activity 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https://code.claude.com/docs/en/overview</a:t>
            </a:r>
          </a:p>
          <a:p>
            <a:r>
              <a:t>Reviewed 13 September 2026. Activity 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dataset:activities/activity-02-cowork-folder-brief/mock-data/campaign-files.csv</a:t>
            </a:r>
          </a:p>
          <a:p>
            <a:r>
              <a:t>Reviewed 13 September 2026. Activity 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dataset:activities/activity-02-cowork-folder-brief/mock-data/campaign-files.csv</a:t>
            </a:r>
          </a:p>
          <a:p>
            <a:r>
              <a:t>Reviewed 13 September 2026. Activity 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dataset:activities/activity-02-cowork-folder-brief/mock-data/campaign-files.csv</a:t>
            </a:r>
          </a:p>
          <a:p>
            <a:r>
              <a:t>Reviewed 13 September 2026. Activity 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dataset:activities/activity-02-cowork-folder-brief/mock-data/campaign-files.csv</a:t>
            </a:r>
          </a:p>
          <a:p>
            <a:r>
              <a:t>Reviewed 13 September 2026. Activity 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dataset:activities/activity-02-cowork-folder-brief/mock-data/campaign-files.csv</a:t>
            </a:r>
          </a:p>
          <a:p>
            <a:r>
              <a:t>Reviewed 13 September 2026. Activity 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dataset:activities/activity-02-cowork-folder-brief/mock-data/campaign-files.csv</a:t>
            </a:r>
          </a:p>
          <a:p>
            <a:r>
              <a:t>Reviewed 13 September 2026. Activity 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dataset:activities/activity-03-competitor-triangulation/mock-data/competitors.csv</a:t>
            </a:r>
          </a:p>
          <a:p>
            <a:r>
              <a:t>Reviewed 13 September 2026. Activity 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dataset:activities/activity-03-competitor-triangulation/mock-data/competitors.csv</a:t>
            </a:r>
          </a:p>
          <a:p>
            <a:r>
              <a:t>Reviewed 13 September 2026. Activity 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dataset:activities/activity-03-competitor-triangulation/mock-data/competitors.csv</a:t>
            </a:r>
          </a:p>
          <a:p>
            <a:r>
              <a:t>Reviewed 13 September 2026. Activity 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dataset:activities/activity-03-competitor-triangulation/mock-data/competitors.csv</a:t>
            </a:r>
          </a:p>
          <a:p>
            <a:r>
              <a:t>Reviewed 13 September 2026. Activity 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dataset:activities/activity-03-competitor-triangulation/mock-data/competitors.csv</a:t>
            </a:r>
          </a:p>
          <a:p>
            <a:r>
              <a:t>Reviewed 13 September 2026. Activity 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dataset:activities/activity-03-competitor-triangulation/mock-data/competitors.csv</a:t>
            </a:r>
          </a:p>
          <a:p>
            <a:r>
              <a:t>Reviewed 13 September 2026. Activity 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https://code.claude.com/docs/en/overview</a:t>
            </a:r>
          </a:p>
          <a:p>
            <a:r>
              <a:t>Reviewed 13 September 2026. Activity 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dataset:activities/activity-03-competitor-triangulation/mock-data/competitors.csv</a:t>
            </a:r>
          </a:p>
          <a:p>
            <a:r>
              <a:t>Reviewed 13 September 2026. Activity 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dataset:activities/activity-03-competitor-triangulation/mock-data/competitors.csv</a:t>
            </a:r>
          </a:p>
          <a:p>
            <a:r>
              <a:t>Reviewed 13 September 2026. Activity 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dataset:activities/activity-03-competitor-triangulation/mock-data/competitors.csv</a:t>
            </a:r>
          </a:p>
          <a:p>
            <a:r>
              <a:t>Reviewed 13 September 2026. Activity 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dataset:activities/activity-03-competitor-triangulation/mock-data/competitors.csv</a:t>
            </a:r>
          </a:p>
          <a:p>
            <a:r>
              <a:t>Reviewed 13 September 2026. Activity 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dataset:activities/activity-03-competitor-triangulation/mock-data/competitors.csv</a:t>
            </a:r>
          </a:p>
          <a:p>
            <a:r>
              <a:t>Reviewed 13 September 2026. Activity 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dataset:activities/activity-03-competitor-triangulation/mock-data/competitors.csv</a:t>
            </a:r>
          </a:p>
          <a:p>
            <a:r>
              <a:t>Reviewed 13 September 2026. Activity 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dataset:activities/activity-04-review-themes-bias/mock-data/reviews.csv</a:t>
            </a:r>
          </a:p>
          <a:p>
            <a:r>
              <a:t>Reviewed 13 September 2026. Activity 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dataset:activities/activity-04-review-themes-bias/mock-data/reviews.csv</a:t>
            </a:r>
          </a:p>
          <a:p>
            <a:r>
              <a:t>Reviewed 13 September 2026. Activity 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dataset:activities/activity-04-review-themes-bias/mock-data/reviews.csv</a:t>
            </a:r>
          </a:p>
          <a:p>
            <a:r>
              <a:t>Reviewed 13 September 2026. Activity 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dataset:activities/activity-04-review-themes-bias/mock-data/reviews.csv</a:t>
            </a:r>
          </a:p>
          <a:p>
            <a:r>
              <a:t>Reviewed 13 September 2026. Activity 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dataset:activities/activity-04-review-themes-bias/mock-data/reviews.csv</a:t>
            </a:r>
          </a:p>
          <a:p>
            <a:r>
              <a:t>Reviewed 13 September 2026. Activity 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dataset:activities/activity-04-review-themes-bias/mock-data/reviews.csv</a:t>
            </a:r>
          </a:p>
          <a:p>
            <a:r>
              <a:t>Reviewed 13 September 2026. Activity 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https://code.claude.com/docs/en/overview</a:t>
            </a:r>
          </a:p>
          <a:p>
            <a:r>
              <a:t>Reviewed 13 September 2026. Activity 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dataset:activities/activity-04-review-themes-bias/mock-data/reviews.csv</a:t>
            </a:r>
          </a:p>
          <a:p>
            <a:r>
              <a:t>Reviewed 13 September 2026. Activity 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dataset:activities/activity-04-review-themes-bias/mock-data/reviews.csv</a:t>
            </a:r>
          </a:p>
          <a:p>
            <a:r>
              <a:t>Reviewed 13 September 2026. Activity 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dataset:activities/activity-04-review-themes-bias/mock-data/reviews.csv</a:t>
            </a:r>
          </a:p>
          <a:p>
            <a:r>
              <a:t>Reviewed 13 September 2026. Activity 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dataset:activities/activity-04-review-themes-bias/mock-data/reviews.csv</a:t>
            </a:r>
          </a:p>
          <a:p>
            <a:r>
              <a:t>Reviewed 13 September 2026. Activity 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dataset:activities/activity-04-review-themes-bias/mock-data/reviews.csv</a:t>
            </a:r>
          </a:p>
          <a:p>
            <a:r>
              <a:t>Reviewed 13 September 2026. Activity 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dataset:activities/activity-04-review-themes-bias/mock-data/reviews.csv</a:t>
            </a:r>
          </a:p>
          <a:p>
            <a:r>
              <a:t>Reviewed 13 September 2026. Activity 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dataset:activities/activity-05-segments-customer-value/mock-data/segments.csv</a:t>
            </a:r>
          </a:p>
          <a:p>
            <a:r>
              <a:t>Reviewed 13 September 2026. Activity 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dataset:activities/activity-05-segments-customer-value/mock-data/segments.csv</a:t>
            </a:r>
          </a:p>
          <a:p>
            <a:r>
              <a:t>Reviewed 13 September 2026. Activity 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dataset:activities/activity-05-segments-customer-value/mock-data/segments.csv</a:t>
            </a:r>
          </a:p>
          <a:p>
            <a:r>
              <a:t>Reviewed 13 September 2026. Activity 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dataset:activities/activity-05-segments-customer-value/mock-data/segments.csv</a:t>
            </a:r>
          </a:p>
          <a:p>
            <a:r>
              <a:t>Reviewed 13 September 2026. Activity 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dataset:activities/activity-05-segments-customer-value/mock-data/segments.csv</a:t>
            </a:r>
          </a:p>
          <a:p>
            <a:r>
              <a:t>Reviewed 13 September 2026. Activity 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dataset:activities/activity-05-segments-customer-value/mock-data/segments.csv</a:t>
            </a:r>
          </a:p>
          <a:p>
            <a:r>
              <a:t>Reviewed 13 September 2026. Activity 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https://code.claude.com/docs/en/overview</a:t>
            </a:r>
          </a:p>
          <a:p>
            <a:r>
              <a:t>Reviewed 13 September 2026. Activity 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dataset:activities/activity-05-segments-customer-value/mock-data/segments.csv</a:t>
            </a:r>
          </a:p>
          <a:p>
            <a:r>
              <a:t>Reviewed 13 September 2026. Activity 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dataset:activities/activity-05-segments-customer-value/mock-data/segments.csv</a:t>
            </a:r>
          </a:p>
          <a:p>
            <a:r>
              <a:t>Reviewed 13 September 2026. Activity 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dataset:activities/activity-05-segments-customer-value/mock-data/segments.csv</a:t>
            </a:r>
          </a:p>
          <a:p>
            <a:r>
              <a:t>Reviewed 13 September 2026. Activity 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dataset:activities/activity-05-segments-customer-value/mock-data/segments.csv</a:t>
            </a:r>
          </a:p>
          <a:p>
            <a:r>
              <a:t>Reviewed 13 September 2026. Activity 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dataset:activities/activity-05-segments-customer-value/mock-data/segments.csv</a:t>
            </a:r>
          </a:p>
          <a:p>
            <a:r>
              <a:t>Reviewed 13 September 2026. Activity 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dataset:activities/activity-05-segments-customer-value/mock-data/segments.csv</a:t>
            </a:r>
          </a:p>
          <a:p>
            <a:r>
              <a:t>Reviewed 13 September 2026. Activity 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dataset:activities/activity-06-journey-funnel-diagnostics/mock-data/funnel.csv</a:t>
            </a:r>
          </a:p>
          <a:p>
            <a:r>
              <a:t>Reviewed 13 September 2026. Activity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dataset:activities/activity-06-journey-funnel-diagnostics/mock-data/funnel.csv</a:t>
            </a:r>
          </a:p>
          <a:p>
            <a:r>
              <a:t>Reviewed 13 September 2026. Activity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dataset:activities/activity-06-journey-funnel-diagnostics/mock-data/funnel.csv</a:t>
            </a:r>
          </a:p>
          <a:p>
            <a:r>
              <a:t>Reviewed 13 September 2026. Activity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dataset:activities/activity-06-journey-funnel-diagnostics/mock-data/funnel.csv</a:t>
            </a:r>
          </a:p>
          <a:p>
            <a:r>
              <a:t>Reviewed 13 September 2026. Activity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dataset:activities/activity-06-journey-funnel-diagnostics/mock-data/funnel.csv</a:t>
            </a:r>
          </a:p>
          <a:p>
            <a:r>
              <a:t>Reviewed 13 September 2026. Activity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dataset:activities/activity-06-journey-funnel-diagnostics/mock-data/funnel.csv</a:t>
            </a:r>
          </a:p>
          <a:p>
            <a:r>
              <a:t>Reviewed 13 September 2026. Activity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https://code.claude.com/docs/en/overview</a:t>
            </a:r>
          </a:p>
          <a:p>
            <a:r>
              <a:t>Reviewed 13 September 2026. Activity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dataset:activities/activity-06-journey-funnel-diagnostics/mock-data/funnel.csv</a:t>
            </a:r>
          </a:p>
          <a:p>
            <a:r>
              <a:t>Reviewed 13 September 2026. Activity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dataset:activities/activity-06-journey-funnel-diagnostics/mock-data/funnel.csv</a:t>
            </a:r>
          </a:p>
          <a:p>
            <a:r>
              <a:t>Reviewed 13 September 2026. Activity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dataset:activities/activity-06-journey-funnel-diagnostics/mock-data/funnel.csv</a:t>
            </a:r>
          </a:p>
          <a:p>
            <a:r>
              <a:t>Reviewed 13 September 2026. Activity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dataset:activities/activity-06-journey-funnel-diagnostics/mock-data/funnel.csv</a:t>
            </a:r>
          </a:p>
          <a:p>
            <a:r>
              <a:t>Reviewed 13 September 2026. Activity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dataset:activities/activity-06-journey-funnel-diagnostics/mock-data/funnel.csv</a:t>
            </a:r>
          </a:p>
          <a:p>
            <a:r>
              <a:t>Reviewed 13 September 2026. Activity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dataset:activities/activity-06-journey-funnel-diagnostics/mock-data/funnel.csv</a:t>
            </a:r>
          </a:p>
          <a:p>
            <a:r>
              <a:t>Reviewed 13 September 2026. Activity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dataset:activities/activity-07-ga4-measurement-contract/mock-data/measurement-plan.csv</a:t>
            </a:r>
          </a:p>
          <a:p>
            <a:r>
              <a:t>Reviewed 13 September 2026. Activity 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dataset:activities/activity-07-ga4-measurement-contract/mock-data/measurement-plan.csv</a:t>
            </a:r>
          </a:p>
          <a:p>
            <a:r>
              <a:t>Reviewed 13 September 2026. Activity 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dataset:activities/activity-07-ga4-measurement-contract/mock-data/measurement-plan.csv</a:t>
            </a:r>
          </a:p>
          <a:p>
            <a:r>
              <a:t>Reviewed 13 September 2026. Activity 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dataset:activities/activity-07-ga4-measurement-contract/mock-data/measurement-plan.csv</a:t>
            </a:r>
          </a:p>
          <a:p>
            <a:r>
              <a:t>Reviewed 13 September 2026. Activity 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dataset:activities/activity-07-ga4-measurement-contract/mock-data/measurement-plan.csv</a:t>
            </a:r>
          </a:p>
          <a:p>
            <a:r>
              <a:t>Reviewed 13 September 2026. Activity 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dataset:activities/activity-07-ga4-measurement-contract/mock-data/measurement-plan.csv</a:t>
            </a:r>
          </a:p>
          <a:p>
            <a:r>
              <a:t>Reviewed 13 September 2026. Activity 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https://code.claude.com/docs/en/overview</a:t>
            </a:r>
          </a:p>
          <a:p>
            <a:r>
              <a:t>Reviewed 13 September 2026. Activity 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dataset:activities/activity-07-ga4-measurement-contract/mock-data/measurement-plan.csv</a:t>
            </a:r>
          </a:p>
          <a:p>
            <a:r>
              <a:t>Reviewed 13 September 2026. Activity 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dataset:activities/activity-07-ga4-measurement-contract/mock-data/measurement-plan.csv</a:t>
            </a:r>
          </a:p>
          <a:p>
            <a:r>
              <a:t>Reviewed 13 September 2026. Activity 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dataset:activities/activity-07-ga4-measurement-contract/mock-data/measurement-plan.csv</a:t>
            </a:r>
          </a:p>
          <a:p>
            <a:r>
              <a:t>Reviewed 13 September 2026. Activity 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dataset:activities/activity-07-ga4-measurement-contract/mock-data/measurement-plan.csv</a:t>
            </a:r>
          </a:p>
          <a:p>
            <a:r>
              <a:t>Reviewed 13 September 2026. Activity 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dataset:activities/activity-07-ga4-measurement-contract/mock-data/measurement-plan.csv</a:t>
            </a:r>
          </a:p>
          <a:p>
            <a:r>
              <a:t>Reviewed 13 September 2026. Activity 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dataset:activities/activity-07-ga4-measurement-contract/mock-data/measurement-plan.csv</a:t>
            </a:r>
          </a:p>
          <a:p>
            <a:r>
              <a:t>Reviewed 13 September 2026. Activity 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dataset:activities/activity-08-event-quality-deduplication/mock-data/events.csv</a:t>
            </a:r>
          </a:p>
          <a:p>
            <a:r>
              <a:t>Reviewed 13 September 2026. Activity 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dataset:activities/activity-08-event-quality-deduplication/mock-data/events.csv</a:t>
            </a:r>
          </a:p>
          <a:p>
            <a:r>
              <a:t>Reviewed 13 September 2026. Activity 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dataset:activities/activity-08-event-quality-deduplication/mock-data/events.csv</a:t>
            </a:r>
          </a:p>
          <a:p>
            <a:r>
              <a:t>Reviewed 13 September 2026. Activity 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dataset:activities/activity-08-event-quality-deduplication/mock-data/events.csv</a:t>
            </a:r>
          </a:p>
          <a:p>
            <a:r>
              <a:t>Reviewed 13 September 2026. Activity 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dataset:activities/activity-08-event-quality-deduplication/mock-data/events.csv</a:t>
            </a:r>
          </a:p>
          <a:p>
            <a:r>
              <a:t>Reviewed 13 September 2026. Activity 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dataset:activities/activity-08-event-quality-deduplication/mock-data/events.csv</a:t>
            </a:r>
          </a:p>
          <a:p>
            <a:r>
              <a:t>Reviewed 13 September 2026. Activity 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https://code.claude.com/docs/en/overview</a:t>
            </a:r>
          </a:p>
          <a:p>
            <a:r>
              <a:t>Reviewed 13 September 2026. Activity 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dataset:activities/activity-08-event-quality-deduplication/mock-data/events.csv</a:t>
            </a:r>
          </a:p>
          <a:p>
            <a:r>
              <a:t>Reviewed 13 September 2026. Activity 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dataset:activities/activity-08-event-quality-deduplication/mock-data/events.csv</a:t>
            </a:r>
          </a:p>
          <a:p>
            <a:r>
              <a:t>Reviewed 13 September 2026. Activity 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dataset:activities/activity-08-event-quality-deduplication/mock-data/events.csv</a:t>
            </a:r>
          </a:p>
          <a:p>
            <a:r>
              <a:t>Reviewed 13 September 2026. Activity 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dataset:activities/activity-08-event-quality-deduplication/mock-data/events.csv</a:t>
            </a:r>
          </a:p>
          <a:p>
            <a:r>
              <a:t>Reviewed 13 September 2026. Activity 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dataset:activities/activity-08-event-quality-deduplication/mock-data/events.csv</a:t>
            </a:r>
          </a:p>
          <a:p>
            <a:r>
              <a:t>Reviewed 13 September 2026. Activity 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dataset:activities/activity-08-event-quality-deduplication/mock-data/events.csv</a:t>
            </a:r>
          </a:p>
          <a:p>
            <a:r>
              <a:t>Reviewed 13 September 2026. Activity 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dataset:activities/activity-09-conversions-attribution-limits/mock-data/touchpoints.csv</a:t>
            </a:r>
          </a:p>
          <a:p>
            <a:r>
              <a:t>Reviewed 13 September 2026. Activity 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dataset:activities/activity-09-conversions-attribution-limits/mock-data/touchpoints.csv</a:t>
            </a:r>
          </a:p>
          <a:p>
            <a:r>
              <a:t>Reviewed 13 September 2026. Activity 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dataset:activities/activity-09-conversions-attribution-limits/mock-data/touchpoints.csv</a:t>
            </a:r>
          </a:p>
          <a:p>
            <a:r>
              <a:t>Reviewed 13 September 2026. Activity 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dataset:activities/activity-09-conversions-attribution-limits/mock-data/touchpoints.csv</a:t>
            </a:r>
          </a:p>
          <a:p>
            <a:r>
              <a:t>Reviewed 13 September 2026. Activity 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dataset:activities/activity-09-conversions-attribution-limits/mock-data/touchpoints.csv</a:t>
            </a:r>
          </a:p>
          <a:p>
            <a:r>
              <a:t>Reviewed 13 September 2026. Activity 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dataset:activities/activity-09-conversions-attribution-limits/mock-data/touchpoints.csv</a:t>
            </a:r>
          </a:p>
          <a:p>
            <a:r>
              <a:t>Reviewed 13 September 2026. Activity 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https://code.claude.com/docs/en/overview</a:t>
            </a:r>
          </a:p>
          <a:p>
            <a:r>
              <a:t>Reviewed 13 September 2026. Activity 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dataset:activities/activity-09-conversions-attribution-limits/mock-data/touchpoints.csv</a:t>
            </a:r>
          </a:p>
          <a:p>
            <a:r>
              <a:t>Reviewed 13 September 2026. Activity 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dataset:activities/activity-09-conversions-attribution-limits/mock-data/touchpoints.csv</a:t>
            </a:r>
          </a:p>
          <a:p>
            <a:r>
              <a:t>Reviewed 13 September 2026. Activity 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dataset:activities/activity-09-conversions-attribution-limits/mock-data/touchpoints.csv</a:t>
            </a:r>
          </a:p>
          <a:p>
            <a:r>
              <a:t>Reviewed 13 September 2026. Activity 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dataset:activities/activity-09-conversions-attribution-limits/mock-data/touchpoints.csv</a:t>
            </a:r>
          </a:p>
          <a:p>
            <a:r>
              <a:t>Reviewed 13 September 2026. Activity 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dataset:activities/activity-09-conversions-attribution-limits/mock-data/touchpoints.csv</a:t>
            </a:r>
          </a:p>
          <a:p>
            <a:r>
              <a:t>Reviewed 13 September 2026. Activity 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dataset:activities/activity-09-conversions-attribution-limits/mock-data/touchpoints.csv</a:t>
            </a:r>
          </a:p>
          <a:p>
            <a:r>
              <a:t>Reviewed 13 September 2026. Activity 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dataset:activities/activity-10-lifecycle-creative-evidence/mock-data/lifecycle.csv</a:t>
            </a:r>
          </a:p>
          <a:p>
            <a:r>
              <a:t>Reviewed 13 September 2026. Activity 10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dataset:activities/activity-10-lifecycle-creative-evidence/mock-data/lifecycle.csv</a:t>
            </a:r>
          </a:p>
          <a:p>
            <a:r>
              <a:t>Reviewed 13 September 2026. Activity 10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dataset:activities/activity-10-lifecycle-creative-evidence/mock-data/lifecycle.csv</a:t>
            </a:r>
          </a:p>
          <a:p>
            <a:r>
              <a:t>Reviewed 13 September 2026. Activity 10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dataset:activities/activity-10-lifecycle-creative-evidence/mock-data/lifecycle.csv</a:t>
            </a:r>
          </a:p>
          <a:p>
            <a:r>
              <a:t>Reviewed 13 September 2026. Activity 10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dataset:activities/activity-10-lifecycle-creative-evidence/mock-data/lifecycle.csv</a:t>
            </a:r>
          </a:p>
          <a:p>
            <a:r>
              <a:t>Reviewed 13 September 2026. Activity 10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dataset:activities/activity-10-lifecycle-creative-evidence/mock-data/lifecycle.csv</a:t>
            </a:r>
          </a:p>
          <a:p>
            <a:r>
              <a:t>Reviewed 13 September 2026. Activity 10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https://code.claude.com/docs/en/overview</a:t>
            </a:r>
          </a:p>
          <a:p>
            <a:r>
              <a:t>Reviewed 13 September 2026. Activity 10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dataset:activities/activity-10-lifecycle-creative-evidence/mock-data/lifecycle.csv</a:t>
            </a:r>
          </a:p>
          <a:p>
            <a:r>
              <a:t>Reviewed 13 September 2026. Activity 10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dataset:activities/activity-10-lifecycle-creative-evidence/mock-data/lifecycle.csv</a:t>
            </a:r>
          </a:p>
          <a:p>
            <a:r>
              <a:t>Reviewed 13 September 2026. Activity 10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dataset:activities/activity-10-lifecycle-creative-evidence/mock-data/lifecycle.csv</a:t>
            </a:r>
          </a:p>
          <a:p>
            <a:r>
              <a:t>Reviewed 13 September 2026. Activity 10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dataset:activities/activity-10-lifecycle-creative-evidence/mock-data/lifecycle.csv</a:t>
            </a:r>
          </a:p>
          <a:p>
            <a:r>
              <a:t>Reviewed 13 September 2026. Activity 10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dataset:activities/activity-10-lifecycle-creative-evidence/mock-data/lifecycle.csv</a:t>
            </a:r>
          </a:p>
          <a:p>
            <a:r>
              <a:t>Reviewed 13 September 2026. Activity 10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dataset:activities/activity-10-lifecycle-creative-evidence/mock-data/lifecycle.csv</a:t>
            </a:r>
          </a:p>
          <a:p>
            <a:r>
              <a:t>Reviewed 13 September 2026. Activity 10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dataset:activities/activity-11-seo-content-experiment/mock-data/search-content.csv</a:t>
            </a:r>
          </a:p>
          <a:p>
            <a:r>
              <a:t>Reviewed 13 September 2026. Activity 11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dataset:activities/activity-11-seo-content-experiment/mock-data/search-content.csv</a:t>
            </a:r>
          </a:p>
          <a:p>
            <a:r>
              <a:t>Reviewed 13 September 2026. Activity 11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dataset:activities/activity-11-seo-content-experiment/mock-data/search-content.csv</a:t>
            </a:r>
          </a:p>
          <a:p>
            <a:r>
              <a:t>Reviewed 13 September 2026. Activity 11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dataset:activities/activity-11-seo-content-experiment/mock-data/search-content.csv</a:t>
            </a:r>
          </a:p>
          <a:p>
            <a:r>
              <a:t>Reviewed 13 September 2026. Activity 11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dataset:activities/activity-11-seo-content-experiment/mock-data/search-content.csv</a:t>
            </a:r>
          </a:p>
          <a:p>
            <a:r>
              <a:t>Reviewed 13 September 2026. Activity 11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dataset:activities/activity-11-seo-content-experiment/mock-data/search-content.csv</a:t>
            </a:r>
          </a:p>
          <a:p>
            <a:r>
              <a:t>Reviewed 13 September 2026. Activity 11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https://code.claude.com/docs/en/overview</a:t>
            </a:r>
          </a:p>
          <a:p>
            <a:r>
              <a:t>Reviewed 13 September 2026. Activity 11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dataset:activities/activity-11-seo-content-experiment/mock-data/search-content.csv</a:t>
            </a:r>
          </a:p>
          <a:p>
            <a:r>
              <a:t>Reviewed 13 September 2026. Activity 11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dataset:activities/activity-11-seo-content-experiment/mock-data/search-content.csv</a:t>
            </a:r>
          </a:p>
          <a:p>
            <a:r>
              <a:t>Reviewed 13 September 2026. Activity 11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dataset:activities/activity-11-seo-content-experiment/mock-data/search-content.csv</a:t>
            </a:r>
          </a:p>
          <a:p>
            <a:r>
              <a:t>Reviewed 13 September 2026. Activity 11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dataset:activities/activity-11-seo-content-experiment/mock-data/search-content.csv</a:t>
            </a:r>
          </a:p>
          <a:p>
            <a:r>
              <a:t>Reviewed 13 September 2026. Activity 11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dataset:activities/activity-11-seo-content-experiment/mock-data/search-content.csv</a:t>
            </a:r>
          </a:p>
          <a:p>
            <a:r>
              <a:t>Reviewed 13 September 2026. Activity 11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dataset:activities/activity-11-seo-content-experiment/mock-data/search-content.csv</a:t>
            </a:r>
          </a:p>
          <a:p>
            <a:r>
              <a:t>Reviewed 13 September 2026. Activity 11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dataset:activities/activity-12-bounded-demand-forecast/mock-data/demand.csv</a:t>
            </a:r>
          </a:p>
          <a:p>
            <a:r>
              <a:t>Reviewed 13 September 2026. Activity 12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dataset:activities/activity-12-bounded-demand-forecast/mock-data/demand.csv</a:t>
            </a:r>
          </a:p>
          <a:p>
            <a:r>
              <a:t>Reviewed 13 September 2026. Activity 12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dataset:activities/activity-12-bounded-demand-forecast/mock-data/demand.csv</a:t>
            </a:r>
          </a:p>
          <a:p>
            <a:r>
              <a:t>Reviewed 13 September 2026. Activity 12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dataset:activities/activity-12-bounded-demand-forecast/mock-data/demand.csv</a:t>
            </a:r>
          </a:p>
          <a:p>
            <a:r>
              <a:t>Reviewed 13 September 2026. Activity 12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dataset:activities/activity-12-bounded-demand-forecast/mock-data/demand.csv</a:t>
            </a:r>
          </a:p>
          <a:p>
            <a:r>
              <a:t>Reviewed 13 September 2026. Activity 12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dataset:activities/activity-12-bounded-demand-forecast/mock-data/demand.csv</a:t>
            </a:r>
          </a:p>
          <a:p>
            <a:r>
              <a:t>Reviewed 13 September 2026. Activity 12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https://code.claude.com/docs/en/overview</a:t>
            </a:r>
          </a:p>
          <a:p>
            <a:r>
              <a:t>Reviewed 13 September 2026. Activity 12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dataset:activities/activity-12-bounded-demand-forecast/mock-data/demand.csv</a:t>
            </a:r>
          </a:p>
          <a:p>
            <a:r>
              <a:t>Reviewed 13 September 2026. Activity 12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dataset:activities/activity-12-bounded-demand-forecast/mock-data/demand.csv</a:t>
            </a:r>
          </a:p>
          <a:p>
            <a:r>
              <a:t>Reviewed 13 September 2026. Activity 12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dataset:activities/activity-12-bounded-demand-forecast/mock-data/demand.csv</a:t>
            </a:r>
          </a:p>
          <a:p>
            <a:r>
              <a:t>Reviewed 13 September 2026. Activity 12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dataset:activities/activity-12-bounded-demand-forecast/mock-data/demand.csv</a:t>
            </a:r>
          </a:p>
          <a:p>
            <a:r>
              <a:t>Reviewed 13 September 2026. Activity 12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dataset:activities/activity-12-bounded-demand-forecast/mock-data/demand.csv</a:t>
            </a:r>
          </a:p>
          <a:p>
            <a:r>
              <a:t>Reviewed 13 September 2026. Activity 12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dataset:activities/activity-12-bounded-demand-forecast/mock-data/demand.csv</a:t>
            </a:r>
          </a:p>
          <a:p>
            <a:r>
              <a:t>Reviewed 13 September 2026. Activity 12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dataset:activities/activity-13-claude-code-skills-mcp/mock-data/tool-results.csv</a:t>
            </a:r>
          </a:p>
          <a:p>
            <a:r>
              <a:t>Reviewed 13 September 2026. Activity 13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dataset:activities/activity-13-claude-code-skills-mcp/mock-data/tool-results.csv</a:t>
            </a:r>
          </a:p>
          <a:p>
            <a:r>
              <a:t>Reviewed 13 September 2026. Activity 13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dataset:activities/activity-13-claude-code-skills-mcp/mock-data/tool-results.csv</a:t>
            </a:r>
          </a:p>
          <a:p>
            <a:r>
              <a:t>Reviewed 13 September 2026. Activity 13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dataset:activities/activity-13-claude-code-skills-mcp/mock-data/tool-results.csv</a:t>
            </a:r>
          </a:p>
          <a:p>
            <a:r>
              <a:t>Reviewed 13 September 2026. Activity 13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dataset:activities/activity-13-claude-code-skills-mcp/mock-data/tool-results.csv</a:t>
            </a:r>
          </a:p>
          <a:p>
            <a:r>
              <a:t>Reviewed 13 September 2026. Activity 13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dataset:activities/activity-13-claude-code-skills-mcp/mock-data/tool-results.csv</a:t>
            </a:r>
          </a:p>
          <a:p>
            <a:r>
              <a:t>Reviewed 13 September 2026. Activity 13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https://code.claude.com/docs/en/skills</a:t>
            </a:r>
          </a:p>
          <a:p>
            <a:r>
              <a:t>Reviewed 13 September 2026. Activity 13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dataset:activities/activity-13-claude-code-skills-mcp/mock-data/tool-results.csv</a:t>
            </a:r>
          </a:p>
          <a:p>
            <a:r>
              <a:t>Reviewed 13 September 2026. Activity 13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dataset:activities/activity-13-claude-code-skills-mcp/mock-data/tool-results.csv</a:t>
            </a:r>
          </a:p>
          <a:p>
            <a:r>
              <a:t>Reviewed 13 September 2026. Activity 13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dataset:activities/activity-13-claude-code-skills-mcp/mock-data/tool-results.csv</a:t>
            </a:r>
          </a:p>
          <a:p>
            <a:r>
              <a:t>Reviewed 13 September 2026. Activity 13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dataset:activities/activity-13-claude-code-skills-mcp/mock-data/tool-results.csv</a:t>
            </a:r>
          </a:p>
          <a:p>
            <a:r>
              <a:t>Reviewed 13 September 2026. Activity 13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dataset:activities/activity-13-claude-code-skills-mcp/mock-data/tool-results.csv</a:t>
            </a:r>
          </a:p>
          <a:p>
            <a:r>
              <a:t>Reviewed 13 September 2026. Activity 13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dataset:activities/activity-13-claude-code-skills-mcp/mock-data/tool-results.csv</a:t>
            </a:r>
          </a:p>
          <a:p>
            <a:r>
              <a:t>Reviewed 13 September 2026. Activity 13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dataset:activities/activity-14-effectiveness-decision-capstone/mock-data/campaigns.csv</a:t>
            </a:r>
          </a:p>
          <a:p>
            <a:r>
              <a:t>Reviewed 13 September 2026. Activity 14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dataset:activities/activity-14-effectiveness-decision-capstone/mock-data/campaigns.csv</a:t>
            </a:r>
          </a:p>
          <a:p>
            <a:r>
              <a:t>Reviewed 13 September 2026. Activity 14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dataset:activities/activity-14-effectiveness-decision-capstone/mock-data/campaigns.csv</a:t>
            </a:r>
          </a:p>
          <a:p>
            <a:r>
              <a:t>Reviewed 13 September 2026. Activity 14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dataset:activities/activity-14-effectiveness-decision-capstone/mock-data/campaigns.csv</a:t>
            </a:r>
          </a:p>
          <a:p>
            <a:r>
              <a:t>Reviewed 13 September 2026. Activity 14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dataset:activities/activity-14-effectiveness-decision-capstone/mock-data/campaigns.csv</a:t>
            </a:r>
          </a:p>
          <a:p>
            <a:r>
              <a:t>Reviewed 13 September 2026. Activity 14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dataset:activities/activity-14-effectiveness-decision-capstone/mock-data/campaigns.csv</a:t>
            </a:r>
          </a:p>
          <a:p>
            <a:r>
              <a:t>Reviewed 13 September 2026. Activity 14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https://code.claude.com/docs/en/overview</a:t>
            </a:r>
          </a:p>
          <a:p>
            <a:r>
              <a:t>Reviewed 13 September 2026. Activity 14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dataset:activities/activity-14-effectiveness-decision-capstone/mock-data/campaigns.csv</a:t>
            </a:r>
          </a:p>
          <a:p>
            <a:r>
              <a:t>Reviewed 13 September 2026. Activity 14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dataset:activities/activity-14-effectiveness-decision-capstone/mock-data/campaigns.csv</a:t>
            </a:r>
          </a:p>
          <a:p>
            <a:r>
              <a:t>Reviewed 13 September 2026. Activity 14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dataset:activities/activity-14-effectiveness-decision-capstone/mock-data/campaigns.csv</a:t>
            </a:r>
          </a:p>
          <a:p>
            <a:r>
              <a:t>Reviewed 13 September 2026. Activity 14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dataset:activities/activity-14-effectiveness-decision-capstone/mock-data/campaigns.csv</a:t>
            </a:r>
          </a:p>
          <a:p>
            <a:r>
              <a:t>Reviewed 13 September 2026. Activity 14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dataset:activities/activity-14-effectiveness-decision-capstone/mock-data/campaigns.csv</a:t>
            </a:r>
          </a:p>
          <a:p>
            <a:r>
              <a:t>Reviewed 13 September 2026. Activity 14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dataset:activities/activity-14-effectiveness-decision-capstone/mock-data/campaigns.csv</a:t>
            </a:r>
          </a:p>
          <a:p>
            <a:r>
              <a:t>Reviewed 13 September 2026. Activity 14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research method;supplied Digital Marketing reference and source contracts</a:t>
            </a:r>
          </a:p>
          <a:p>
            <a:r>
              <a:t>Reviewed 13 September 2026. Assessment coverage supplement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research method;supplied Digital Marketing reference and source contracts</a:t>
            </a:r>
          </a:p>
          <a:p>
            <a:r>
              <a:t>Reviewed 13 September 2026. Assessment coverage supplement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research method;supplied Digital Marketing reference and source contracts</a:t>
            </a:r>
          </a:p>
          <a:p>
            <a:r>
              <a:t>Reviewed 13 September 2026. Assessment coverage supplement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research method;supplied Digital Marketing reference and source contracts</a:t>
            </a:r>
          </a:p>
          <a:p>
            <a:r>
              <a:t>Reviewed 13 September 2026. Assessment coverage supplement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https://support.google.com/analytics/answer/9322688</a:t>
            </a:r>
          </a:p>
          <a:p>
            <a:r>
              <a:t>Reviewed 13 September 2026. Assessment coverage supplement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https://support.google.com/analytics/answer/9322688</a:t>
            </a:r>
          </a:p>
          <a:p>
            <a:r>
              <a:t>Reviewed 13 September 2026. Assessment coverage supplement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https://support.google.com/analytics/answer/9322688</a:t>
            </a:r>
          </a:p>
          <a:p>
            <a:r>
              <a:t>Reviewed 13 September 2026. Assessment coverage supplement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https://support.google.com/analytics/answer/9322688</a:t>
            </a:r>
          </a:p>
          <a:p>
            <a:r>
              <a:t>Reviewed 13 September 2026. Assessment coverage supplement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https://support.google.com/analytics/answer/9322688</a:t>
            </a:r>
          </a:p>
          <a:p>
            <a:r>
              <a:t>Reviewed 13 September 2026. Assessment coverage supplement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research method;supplied Digital Marketing reference and source contracts</a:t>
            </a:r>
          </a:p>
          <a:p>
            <a:r>
              <a:t>Reviewed 13 September 2026. Assessment coverage supplement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research method;supplied Digital Marketing reference and source contracts</a:t>
            </a:r>
          </a:p>
          <a:p>
            <a:r>
              <a:t>Reviewed 13 September 2026. Assessment coverage supplement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research method;supplied Digital Marketing reference and source contracts</a:t>
            </a:r>
          </a:p>
          <a:p>
            <a:r>
              <a:t>Reviewed 13 September 2026. Assessment coverage supplement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Authored synthetic research method;supplied Digital Marketing reference and source contracts</a:t>
            </a:r>
          </a:p>
          <a:p>
            <a:r>
              <a:t>Reviewed 13 September 2026. Assessment coverage supplement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https://support.google.com/analytics/answer/9322688</a:t>
            </a:r>
          </a:p>
          <a:p>
            <a:r>
              <a:t>Reviewed 13 September 2026. Assessment coverage supplement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https://support.google.com/analytics/answer/9322688</a:t>
            </a:r>
          </a:p>
          <a:p>
            <a:r>
              <a:t>Reviewed 13 September 2026. Assessment coverage supplement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Teaching data and artifacts are synthetic. https://business.columbia.edu/insights/digital-future/ai/generative-ai-market-research</a:t>
            </a:r>
          </a:p>
          <a:p>
            <a:r>
              <a:t>Reviewed 13 September 2026. Assessment coverage supplement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Cambria"/>
          <a:ea typeface="Cambria"/>
          <a:cs typeface="Cambria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Cambria"/>
          <a:ea typeface="Cambria"/>
          <a:cs typeface="Cambria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Cambria"/>
          <a:ea typeface="Cambria"/>
          <a:cs typeface="Cambria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Calibri"/>
          <a:ea typeface="Calibri"/>
          <a:cs typeface="Calibri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Calibri"/>
          <a:ea typeface="Calibri"/>
          <a:cs typeface="Calibri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Calibri"/>
          <a:ea typeface="Calibri"/>
          <a:cs typeface="Calibri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Calibri"/>
          <a:ea typeface="Calibri"/>
          <a:cs typeface="Calibri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Calibri"/>
          <a:ea typeface="Calibri"/>
          <a:cs typeface="Calibri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Calibri"/>
          <a:ea typeface="Calibri"/>
          <a:cs typeface="Calibri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Calibri"/>
          <a:ea typeface="Calibri"/>
          <a:cs typeface="Calibri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Calibri"/>
          <a:ea typeface="Calibri"/>
          <a:cs typeface="Calibri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Calibri"/>
          <a:ea typeface="Calibri"/>
          <a:cs typeface="Calibri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Calibri"/>
          <a:ea typeface="Calibri"/>
          <a:cs typeface="Calibri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Calibri"/>
          <a:ea typeface="Calibri"/>
          <a:cs typeface="Calibri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Calibri"/>
          <a:ea typeface="Calibri"/>
          <a:cs typeface="Calibri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Calibri"/>
          <a:ea typeface="Calibri"/>
          <a:cs typeface="Calibri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Calibri"/>
          <a:ea typeface="Calibri"/>
          <a:cs typeface="Calibri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Calibri"/>
          <a:ea typeface="Calibri"/>
          <a:cs typeface="Calibri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Calibri"/>
          <a:ea typeface="Calibri"/>
          <a:cs typeface="Calibri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19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Relationship Id="rId3" Type="http://schemas.openxmlformats.org/officeDocument/2006/relationships/notesSlide" Target="../notesSlides/notesSlide32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Relationship Id="rId3" Type="http://schemas.openxmlformats.org/officeDocument/2006/relationships/notesSlide" Target="../notesSlides/notesSlide45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Relationship Id="rId3" Type="http://schemas.openxmlformats.org/officeDocument/2006/relationships/notesSlide" Target="../notesSlides/notesSlide58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Relationship Id="rId3" Type="http://schemas.openxmlformats.org/officeDocument/2006/relationships/notesSlide" Target="../notesSlides/notesSlide71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0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1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2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3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Relationship Id="rId3" Type="http://schemas.openxmlformats.org/officeDocument/2006/relationships/notesSlide" Target="../notesSlides/notesSlide84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5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6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7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8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9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0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1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2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3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4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5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6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8.xml"/><Relationship Id="rId3" Type="http://schemas.openxmlformats.org/officeDocument/2006/relationships/notesSlide" Target="../notesSlides/notesSlide97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8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9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0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1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2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3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4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5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6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7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8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9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9.xml"/><Relationship Id="rId3" Type="http://schemas.openxmlformats.org/officeDocument/2006/relationships/notesSlide" Target="../notesSlides/notesSlide110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1.xml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2.xml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3.xm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4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5.xm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6.xml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7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8.xml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9.xml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0.xml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1.xml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2.xml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0.xml"/><Relationship Id="rId3" Type="http://schemas.openxmlformats.org/officeDocument/2006/relationships/notesSlide" Target="../notesSlides/notesSlide123.xml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4.xml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5.xml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6.xml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7.xml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8.xml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9.xml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0.xml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1.xml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2.xml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3.xml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4.xml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5.xml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1.xml"/><Relationship Id="rId3" Type="http://schemas.openxmlformats.org/officeDocument/2006/relationships/notesSlide" Target="../notesSlides/notesSlide136.xml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7.xml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8.xml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9.xml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0.xml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1.xml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2.xml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3.xml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4.xml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5.xml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6.xml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7.xml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8.xml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2.xml"/><Relationship Id="rId3" Type="http://schemas.openxmlformats.org/officeDocument/2006/relationships/notesSlide" Target="../notesSlides/notesSlide149.xml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0.xml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1.xml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2.xml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3.xml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4.xml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5.xml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6.xml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7.xml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8.xml"/></Relationships>
</file>

<file path=ppt/slides/_rels/slide1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9.xml"/></Relationships>
</file>

<file path=ppt/slides/_rels/slide1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0.xml"/></Relationships>
</file>

<file path=ppt/slides/_rels/slide1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1.xml"/></Relationships>
</file>

<file path=ppt/slides/_rels/slide1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3.xml"/><Relationship Id="rId3" Type="http://schemas.openxmlformats.org/officeDocument/2006/relationships/notesSlide" Target="../notesSlides/notesSlide162.xml"/></Relationships>
</file>

<file path=ppt/slides/_rels/slide1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3.xml"/></Relationships>
</file>

<file path=ppt/slides/_rels/slide1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4.xml"/></Relationships>
</file>

<file path=ppt/slides/_rels/slide1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5.xml"/></Relationships>
</file>

<file path=ppt/slides/_rels/slide1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6.xml"/></Relationships>
</file>

<file path=ppt/slides/_rels/slide1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7.xml"/></Relationships>
</file>

<file path=ppt/slides/_rels/slide1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8.xml"/></Relationships>
</file>

<file path=ppt/slides/_rels/slide1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9.xml"/></Relationships>
</file>

<file path=ppt/slides/_rels/slide1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0.xml"/></Relationships>
</file>

<file path=ppt/slides/_rels/slide1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1.xml"/></Relationships>
</file>

<file path=ppt/slides/_rels/slide1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2.xml"/></Relationships>
</file>

<file path=ppt/slides/_rels/slide1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3.xml"/></Relationships>
</file>

<file path=ppt/slides/_rels/slide1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4.xml"/></Relationships>
</file>

<file path=ppt/slides/_rels/slide1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4.xml"/><Relationship Id="rId3" Type="http://schemas.openxmlformats.org/officeDocument/2006/relationships/notesSlide" Target="../notesSlides/notesSlide175.xml"/></Relationships>
</file>

<file path=ppt/slides/_rels/slide1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6.xml"/></Relationships>
</file>

<file path=ppt/slides/_rels/slide1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7.xml"/></Relationships>
</file>

<file path=ppt/slides/_rels/slide1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8.xml"/></Relationships>
</file>

<file path=ppt/slides/_rels/slide2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9.xml"/></Relationships>
</file>

<file path=ppt/slides/_rels/slide2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0.xml"/></Relationships>
</file>

<file path=ppt/slides/_rels/slide2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1.xml"/></Relationships>
</file>

<file path=ppt/slides/_rels/slide2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2.xml"/></Relationships>
</file>

<file path=ppt/slides/_rels/slide2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3.xml"/></Relationships>
</file>

<file path=ppt/slides/_rels/slide2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4.xml"/></Relationships>
</file>

<file path=ppt/slides/_rels/slide2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5.xml"/></Relationships>
</file>

<file path=ppt/slides/_rels/slide2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6.xml"/></Relationships>
</file>

<file path=ppt/slides/_rels/slide2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7.xml"/></Relationships>
</file>

<file path=ppt/slides/_rels/slide2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8.xml"/></Relationships>
</file>

<file path=ppt/slides/_rels/slide2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9.xml"/></Relationships>
</file>

<file path=ppt/slides/_rels/slide2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0.xml"/></Relationships>
</file>

<file path=ppt/slides/_rels/slide2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1.xml"/></Relationships>
</file>

<file path=ppt/slides/_rels/slide2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2.xml"/></Relationships>
</file>

<file path=ppt/slides/_rels/slide2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3.xml"/></Relationships>
</file>

<file path=ppt/slides/_rels/slide2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4.xml"/></Relationships>
</file>

<file path=ppt/slides/_rels/slide2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5.xml"/></Relationships>
</file>

<file path=ppt/slides/_rels/slide2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6.xml"/></Relationships>
</file>

<file path=ppt/slides/_rels/slide2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7.xml"/></Relationships>
</file>

<file path=ppt/slides/_rels/slide2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98.xml"/></Relationships>
</file>

<file path=ppt/slides/_rels/slide2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20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509760" y="-1463040"/>
            <a:ext cx="4206240" cy="4206240"/>
          </a:xfrm>
          <a:prstGeom prst="ellipse">
            <a:avLst/>
          </a:prstGeom>
          <a:solidFill>
            <a:srgbClr val="D97757">
              <a:alpha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607040" y="4023360"/>
            <a:ext cx="3108960" cy="3108960"/>
          </a:xfrm>
          <a:prstGeom prst="ellipse">
            <a:avLst/>
          </a:prstGeom>
          <a:solidFill>
            <a:srgbClr val="3A7D7B">
              <a:alpha val="2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1371600"/>
            <a:ext cx="9144000" cy="3657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l"/>
            <a:r>
              <a:rPr sz="1400" b="1">
                <a:solidFill>
                  <a:srgbClr val="D97757"/>
                </a:solidFill>
                <a:latin typeface="Calibri"/>
              </a:rPr>
              <a:t>WSQ COURSE  •  TGS-2022017520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828800"/>
            <a:ext cx="10241280" cy="26517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l"/>
            <a:r>
              <a:rPr sz="5200" b="1">
                <a:solidFill>
                  <a:srgbClr val="FFFFFF"/>
                </a:solidFill>
                <a:latin typeface="Cambria"/>
              </a:rPr>
              <a:t>Agentic AI for Market Research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5212080"/>
            <a:ext cx="10058400" cy="6400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Tertiary Infotech Academy Pte Ltd</a:t>
            </a:r>
          </a:p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UEN: 201200696W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172200"/>
            <a:ext cx="105156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l"/>
            <a:r>
              <a:rPr sz="1200" b="0">
                <a:solidFill>
                  <a:srgbClr val="B9B4A9"/>
                </a:solidFill>
                <a:latin typeface="Calibri"/>
              </a:rPr>
              <a:t>www.tertiarycourses.com.sg   |   enquiry@tertiaryinfotech.com   |   +65 6100 0613</a:t>
            </a:r>
          </a:p>
        </p:txBody>
      </p:sp>
      <p:sp>
        <p:nvSpPr>
          <p:cNvPr id="8" name="Rectangle 7"/>
          <p:cNvSpPr/>
          <p:nvPr/>
        </p:nvSpPr>
        <p:spPr>
          <a:xfrm>
            <a:off x="7863840" y="1371600"/>
            <a:ext cx="3776472" cy="3657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r"/>
            <a:r>
              <a:rPr sz="1300" b="0">
                <a:solidFill>
                  <a:srgbClr val="B9B4A9"/>
                </a:solidFill>
                <a:latin typeface="Calibri"/>
              </a:rPr>
              <a:t>Version 15.0  ·  10 Oct 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7159752" y="6355080"/>
            <a:ext cx="457200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r"/>
            <a:r>
              <a:rPr sz="900" b="0">
                <a:solidFill>
                  <a:srgbClr val="8A867D"/>
                </a:solidFill>
                <a:latin typeface="Calibri"/>
              </a:rPr>
              <a:t>© Tertiary Infotech Academy Pte Ltd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COURSE ADMINISTRATION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Digital Attendance (Mandatory)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SSG digital attendance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6B6862"/>
                </a:solidFill>
                <a:latin typeface="Calibri"/>
              </a:rPr>
              <a:t>Record AM, PM and assessment attendance as directed by the trainer.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TRAQOM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6B6862"/>
                </a:solidFill>
                <a:latin typeface="Calibri"/>
              </a:rPr>
              <a:t>Complete the required TRAQOM course quality survey via the LMS link.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Attendance evidence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6B6862"/>
                </a:solidFill>
                <a:latin typeface="Calibri"/>
              </a:rPr>
              <a:t>Use the displayed official QR or link and confirm submission.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Funding eligibility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6B6862"/>
                </a:solidFill>
                <a:latin typeface="Calibri"/>
              </a:rPr>
              <a:t>Minimum 75% attendance and competent assessment outcome; terms apply.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GENERAL TRAINER TEMPLATE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About the Trainer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68780" y="2286000"/>
            <a:ext cx="1554480" cy="1554480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68780" y="2286000"/>
            <a:ext cx="155448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4400" b="1">
                <a:solidFill>
                  <a:srgbClr val="FFFFFF"/>
                </a:solidFill>
                <a:latin typeface="Cambria"/>
              </a:rPr>
              <a:t>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160520"/>
            <a:ext cx="3063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2100" b="1">
                <a:solidFill>
                  <a:srgbClr val="21201C"/>
                </a:solidFill>
                <a:latin typeface="Cambria"/>
              </a:rPr>
              <a:t>Your Trainer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754880"/>
            <a:ext cx="30632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6B6862"/>
                </a:solidFill>
                <a:latin typeface="Calibri"/>
              </a:rPr>
              <a:t>Complete before delivery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80560" y="1783080"/>
            <a:ext cx="6949440" cy="563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80560" y="1783080"/>
            <a:ext cx="91440" cy="56388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73168" y="1783080"/>
            <a:ext cx="6400800" cy="563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NAME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8E5DE"/>
                </a:solidFill>
                <a:latin typeface="Calibri"/>
              </a:rPr>
              <a:t>____________________________________________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80560" y="2529840"/>
            <a:ext cx="6949440" cy="563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480560" y="2529840"/>
            <a:ext cx="91440" cy="56388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73168" y="2529840"/>
            <a:ext cx="6400800" cy="563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DESIGNATION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8E5DE"/>
                </a:solidFill>
                <a:latin typeface="Calibri"/>
              </a:rPr>
              <a:t>____________________________________________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80560" y="3276600"/>
            <a:ext cx="6949440" cy="563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480560" y="3276600"/>
            <a:ext cx="91440" cy="563880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73168" y="3276600"/>
            <a:ext cx="6400800" cy="563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C2603F"/>
                </a:solidFill>
                <a:latin typeface="Calibri"/>
              </a:rPr>
              <a:t>QUALIFICATIONS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8E5DE"/>
                </a:solidFill>
                <a:latin typeface="Calibri"/>
              </a:rPr>
              <a:t>____________________________________________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80560" y="4023360"/>
            <a:ext cx="6949440" cy="563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480560" y="4023360"/>
            <a:ext cx="91440" cy="563880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73168" y="4023360"/>
            <a:ext cx="6400800" cy="563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C88A2E"/>
                </a:solidFill>
                <a:latin typeface="Calibri"/>
              </a:rPr>
              <a:t>EXPERTISE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8E5DE"/>
                </a:solidFill>
                <a:latin typeface="Calibri"/>
              </a:rPr>
              <a:t>____________________________________________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480560" y="4770120"/>
            <a:ext cx="6949440" cy="563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480560" y="4770120"/>
            <a:ext cx="91440" cy="56388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73168" y="4770120"/>
            <a:ext cx="6400800" cy="563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EXPERIENCE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8E5DE"/>
                </a:solidFill>
                <a:latin typeface="Calibri"/>
              </a:rPr>
              <a:t>____________________________________________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480560" y="5516880"/>
            <a:ext cx="6949440" cy="563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480560" y="5516880"/>
            <a:ext cx="91440" cy="56388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773168" y="5516880"/>
            <a:ext cx="6400800" cy="563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CONTACT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8E5DE"/>
                </a:solidFill>
                <a:latin typeface="Calibri"/>
              </a:rPr>
              <a:t>____________________________________________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YOUR TRAINER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About the Trainer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68780" y="2286000"/>
            <a:ext cx="1554480" cy="1554480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68780" y="2286000"/>
            <a:ext cx="155448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4400" b="1">
                <a:solidFill>
                  <a:srgbClr val="FFFFFF"/>
                </a:solidFill>
                <a:latin typeface="Cambria"/>
              </a:rPr>
              <a:t>AA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160520"/>
            <a:ext cx="3063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2100" b="1">
                <a:solidFill>
                  <a:srgbClr val="21201C"/>
                </a:solidFill>
                <a:latin typeface="Cambria"/>
              </a:rPr>
              <a:t>Dr. Alfred Ang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754880"/>
            <a:ext cx="30632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6B6862"/>
                </a:solidFill>
                <a:latin typeface="Calibri"/>
              </a:rPr>
              <a:t>Principal Trainer · Tertiary Infotech Academy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80560" y="1783080"/>
            <a:ext cx="6949440" cy="9372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80560" y="1783080"/>
            <a:ext cx="91440" cy="93726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73168" y="1783080"/>
            <a:ext cx="6400800" cy="9372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ROLE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Principal Trainer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80560" y="2903220"/>
            <a:ext cx="6949440" cy="9372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480560" y="2903220"/>
            <a:ext cx="91440" cy="93726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73168" y="2903220"/>
            <a:ext cx="6400800" cy="9372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QUALIFICATIONS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Trainer presents current qualifications and experience.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80560" y="4023360"/>
            <a:ext cx="6949440" cy="9372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480560" y="4023360"/>
            <a:ext cx="91440" cy="937260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73168" y="4023360"/>
            <a:ext cx="6400800" cy="9372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C2603F"/>
                </a:solidFill>
                <a:latin typeface="Calibri"/>
              </a:rPr>
              <a:t>COURSE FOCUS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Applied AI, reproducible analytics and marketing research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80560" y="5143500"/>
            <a:ext cx="6949440" cy="9372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480560" y="5143500"/>
            <a:ext cx="91440" cy="937260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73168" y="5143500"/>
            <a:ext cx="6400800" cy="9372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C88A2E"/>
                </a:solidFill>
                <a:latin typeface="Calibri"/>
              </a:rPr>
              <a:t>CONTACT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enquiry@tertiaryinfotech.com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COURSE ADMINISTRATION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Learner Introduction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Research decision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6B6862"/>
                </a:solidFill>
                <a:latin typeface="Calibri"/>
              </a:rPr>
              <a:t>Share one marketing decision and the evidence needed.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Experience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6B6862"/>
                </a:solidFill>
                <a:latin typeface="Calibri"/>
              </a:rPr>
              <a:t>Describe your analytics and AI-tool experience.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Working context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6B6862"/>
                </a:solidFill>
                <a:latin typeface="Calibri"/>
              </a:rPr>
              <a:t>Identify permitted training tools and access boundaries.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Success criterion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6B6862"/>
                </a:solidFill>
                <a:latin typeface="Calibri"/>
              </a:rPr>
              <a:t>Name one inspectable artifact you want to produce.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COURSE ADMINISTRATION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Ground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Participation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6B6862"/>
                </a:solidFill>
                <a:latin typeface="Calibri"/>
              </a:rPr>
              <a:t>Question unsupported claims and preserve other learners’ privacy.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Synthetic data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6B6862"/>
                </a:solidFill>
                <a:latin typeface="Calibri"/>
              </a:rPr>
              <a:t>Use supplied fictional data; keep real customer information outside training.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Human approval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6B6862"/>
                </a:solidFill>
                <a:latin typeface="Calibri"/>
              </a:rPr>
              <a:t>Review plans, tool scope and outputs before consequential actions.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Assessment integrity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6B6862"/>
                </a:solidFill>
                <a:latin typeface="Calibri"/>
              </a:rPr>
              <a:t>Individual work; do not share assessment scripts or answer keys.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COURSE ADMINISTRATION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Lesson Plan · Two Days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Day 1 · 8h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6B6862"/>
                </a:solidFill>
                <a:latin typeface="Calibri"/>
              </a:rPr>
              <a:t>Evidence, sources, trends, segments and journey diagnostics; Activities 1–7.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Day 2 · 5.5h teaching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6B6862"/>
                </a:solidFill>
                <a:latin typeface="Calibri"/>
              </a:rPr>
              <a:t>Events, attribution, creative, SEO, forecasting and reproducibility; Activities 8–14.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Filed assessment · 2.5h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6B6862"/>
                </a:solidFill>
                <a:latin typeface="Calibri"/>
              </a:rPr>
              <a:t>Final day: WA 60 minutes and PP 90 minutes; starts 15:30, ends 18:00.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Duration reconciliation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6B6862"/>
                </a:solidFill>
                <a:latin typeface="Calibri"/>
              </a:rPr>
              <a:t>16h total = 13.5h training + 2.5h assessment. Filed assessment timings govern.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COURSE ADMINISTRATION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Learning Outcomes · Market Research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LO1 · Data and sources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6B6862"/>
                </a:solidFill>
                <a:latin typeface="Calibri"/>
              </a:rPr>
              <a:t>LO1: Identify market-research data types and evaluate sources for quality, relevance and ethical use.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LO2 · Trends and variables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6B6862"/>
                </a:solidFill>
                <a:latin typeface="Calibri"/>
              </a:rPr>
              <a:t>LO2: Analyse market trends and variables using traceable evidence and reproducible methods.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LO3 · Behaviour and forecasting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6B6862"/>
                </a:solidFill>
                <a:latin typeface="Calibri"/>
              </a:rPr>
              <a:t>LO3: Explore customer behaviour, segments and journeys and develop bounded forecasts.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LO4 · Effectiveness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6B6862"/>
                </a:solidFill>
                <a:latin typeface="Calibri"/>
              </a:rPr>
              <a:t>LO4: Evaluate marketing effectiveness using measurement models, events and conversions.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COURSE ADMINISTRATION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Briefing for Assessment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Individual open book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6B6862"/>
                </a:solidFill>
                <a:latin typeface="Calibri"/>
              </a:rPr>
              <a:t>Use permitted course notes; no collaboration or external answer sharing.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WA · 60 minutes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6B6862"/>
                </a:solidFill>
                <a:latin typeface="Calibri"/>
              </a:rPr>
              <a:t>Eight short-answer questions; demonstrate K1–K8.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PP · 90 minutes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6B6862"/>
                </a:solidFill>
                <a:latin typeface="Calibri"/>
              </a:rPr>
              <a:t>Four performance tasks; demonstrate A1–A8 with evidence and calculations.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Submission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6B6862"/>
                </a:solidFill>
                <a:latin typeface="Calibri"/>
              </a:rPr>
              <a:t>Save requested evidence and submit on the matching LMS course.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COURSE ADMINISTRATION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Assessment and Funding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Competence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6B6862"/>
                </a:solidFill>
                <a:latin typeface="Calibri"/>
              </a:rPr>
              <a:t>Demonstrate every required criterion; the assessor records C or NYC.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Eligibility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6B6862"/>
                </a:solidFill>
                <a:latin typeface="Calibri"/>
              </a:rPr>
              <a:t>Minimum 75% digital attendance; funding eligibility and terms apply.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Schedule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6B6862"/>
                </a:solidFill>
                <a:latin typeface="Calibri"/>
              </a:rPr>
              <a:t>Day 2,15:30–16:30 WA;16:30–18:00 PP.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Evidence boundaries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6B6862"/>
                </a:solidFill>
                <a:latin typeface="Calibri"/>
              </a:rPr>
              <a:t>Synthetic analysis proves training execution; live implementation needs separate evidence.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LMS · SCHEMATIC BASED ON VERIFIED LABELS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21201C"/>
                </a:solidFill>
                <a:latin typeface="Calibri"/>
              </a:rPr>
              <a:t>Download Course Material · Verified LMS Resource Panel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48840"/>
            <a:ext cx="2370582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79067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7906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Courseware Link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Shared course folder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202686" y="3223260"/>
            <a:ext cx="274320" cy="0"/>
          </a:xfrm>
          <a:prstGeom prst="line">
            <a:avLst/>
          </a:prstGeom>
          <a:ln w="25400">
            <a:solidFill>
              <a:srgbClr val="D977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353187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31870" y="2148840"/>
            <a:ext cx="2370582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433697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369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988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Learner Guide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2331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PDF + learner slides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957316" y="3223260"/>
            <a:ext cx="274320" cy="0"/>
          </a:xfrm>
          <a:prstGeom prst="line">
            <a:avLst/>
          </a:prstGeom>
          <a:ln w="25400">
            <a:solidFill>
              <a:srgbClr val="D977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628650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86500" y="2148840"/>
            <a:ext cx="2370582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188327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8832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451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Trainer Slides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794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Editable PPTX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711946" y="3223260"/>
            <a:ext cx="274320" cy="0"/>
          </a:xfrm>
          <a:prstGeom prst="line">
            <a:avLst/>
          </a:prstGeom>
          <a:ln w="25400">
            <a:solidFill>
              <a:srgbClr val="D977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904113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041130" y="2148840"/>
            <a:ext cx="2370582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942957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94295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914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Activities / Lab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3257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14activity folders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77240" y="4608576"/>
            <a:ext cx="10634472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77240" y="4608576"/>
            <a:ext cx="100584" cy="105156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51560" y="4718304"/>
            <a:ext cx="10149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RESOURCE MAPPING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1560" y="5029200"/>
            <a:ext cx="1014984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21201C"/>
                </a:solidFill>
                <a:latin typeface="Calibri"/>
              </a:rPr>
              <a:t>lms-tms.tertiaryinfotech.com · TGS-2022017520. Current LMS labels verified13September2026. Resource controls point to role-appropriate files;this is a schematic,not an interface screenshot.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transition spd="fast" advClick="1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COURSE ADMINISTRATION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Assessment 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48840"/>
            <a:ext cx="1819656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03604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03604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TRAQOM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822192"/>
            <a:ext cx="1636776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Course quality survey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651760" y="3223260"/>
            <a:ext cx="274320" cy="0"/>
          </a:xfrm>
          <a:prstGeom prst="line">
            <a:avLst/>
          </a:prstGeom>
          <a:ln w="25400">
            <a:solidFill>
              <a:srgbClr val="D977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2980944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980944" y="2148840"/>
            <a:ext cx="1819656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607308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07308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8960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Digital attendance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72384" y="3822192"/>
            <a:ext cx="1636776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Assessment record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855464" y="3223260"/>
            <a:ext cx="274320" cy="0"/>
          </a:xfrm>
          <a:prstGeom prst="line">
            <a:avLst/>
          </a:prstGeom>
          <a:ln w="25400">
            <a:solidFill>
              <a:srgbClr val="D977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184648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184648" y="2148840"/>
            <a:ext cx="1819656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811012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11012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12664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WA then PP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76088" y="3822192"/>
            <a:ext cx="1636776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Individual evidence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059168" y="3223260"/>
            <a:ext cx="274320" cy="0"/>
          </a:xfrm>
          <a:prstGeom prst="line">
            <a:avLst/>
          </a:prstGeom>
          <a:ln w="25400">
            <a:solidFill>
              <a:srgbClr val="D977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7388352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388352" y="2148840"/>
            <a:ext cx="1819656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014716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014716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16368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Submit on LMS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79792" y="3822192"/>
            <a:ext cx="1636776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Correct course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9262872" y="3223260"/>
            <a:ext cx="274320" cy="0"/>
          </a:xfrm>
          <a:prstGeom prst="line">
            <a:avLst/>
          </a:prstGeom>
          <a:ln w="25400">
            <a:solidFill>
              <a:srgbClr val="D977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9592056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592056" y="2148840"/>
            <a:ext cx="1819656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0218420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218420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720072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Sign record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83496" y="3822192"/>
            <a:ext cx="1636776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Assessment summary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77240" y="4608576"/>
            <a:ext cx="10634472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77240" y="4608576"/>
            <a:ext cx="100584" cy="105156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51560" y="4718304"/>
            <a:ext cx="10149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EVIDENCE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51560" y="5029200"/>
            <a:ext cx="1014984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21201C"/>
                </a:solidFill>
                <a:latin typeface="Calibri"/>
              </a:rPr>
              <a:t>Follow the trainer’s current LMS instructions; assessment is individual and open book.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transition spd="fast" advClick="1"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D97757"/>
                </a:solidFill>
                <a:latin typeface="Cambria"/>
              </a:rPr>
              <a:t>LEARNING OUTCOME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21201C"/>
                </a:solidFill>
                <a:latin typeface="Cambria"/>
              </a:rPr>
              <a:t>Data Types and Sources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6052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6B6862"/>
                </a:solidFill>
                <a:latin typeface="Calibri"/>
              </a:rPr>
              <a:t>Cowork evidence synthesis · Claude Code reproducible analysis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8E5DE"/>
                </a:solidFill>
                <a:latin typeface="Cambria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  <p:transition spd="med" advClick="1">
    <p:push dir="l"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LO1 · ACTIVITY 01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Evidence Registry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19072"/>
            <a:ext cx="1554480" cy="420624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5544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mbria"/>
              </a:rPr>
              <a:t>ACTIVITY 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87168" y="1719072"/>
            <a:ext cx="88696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B6862"/>
                </a:solidFill>
                <a:latin typeface="Calibri"/>
              </a:rPr>
              <a:t>ICT-SNM-3007-1.1 · LO1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86000"/>
            <a:ext cx="10634472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21201C"/>
                </a:solidFill>
                <a:latin typeface="Calibri"/>
              </a:rPr>
              <a:t>A Singapore learning provider must decide whether to launch an evening AI marketing programme. A search summary is insufficient: each demand claim needs a source, date, population and permission record.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474720"/>
            <a:ext cx="3392424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3474720"/>
            <a:ext cx="3392424" cy="9144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6696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YOU'LL BUILD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6696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evidence-register.csv and research-brief.md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98264" y="3474720"/>
            <a:ext cx="3392424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98264" y="3474720"/>
            <a:ext cx="3392424" cy="9144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17720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TOOLCHAIN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Claude Cowork · Claude Code · CSV / Markdown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19288" y="3474720"/>
            <a:ext cx="3392424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19288" y="3474720"/>
            <a:ext cx="3392424" cy="91440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8744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C2603F"/>
                </a:solidFill>
                <a:latin typeface="Calibri"/>
              </a:rPr>
              <a:t>DONE WHEN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38744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Four uniquely identified sources; each claim states population, period, confidence and an explicit limitation.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LO1 · ACTIVITY 01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Evidence Registry · Data and Trust Boundaries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48840"/>
            <a:ext cx="2370582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79067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7906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Raw inputs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sources.csv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202686" y="3223260"/>
            <a:ext cx="274320" cy="0"/>
          </a:xfrm>
          <a:prstGeom prst="line">
            <a:avLst/>
          </a:prstGeom>
          <a:ln w="25400">
            <a:solidFill>
              <a:srgbClr val="D977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353187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31870" y="2148840"/>
            <a:ext cx="2370582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433697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369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988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Evidence checks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2331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IDs,date,units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957316" y="3223260"/>
            <a:ext cx="274320" cy="0"/>
          </a:xfrm>
          <a:prstGeom prst="line">
            <a:avLst/>
          </a:prstGeom>
          <a:ln w="25400">
            <a:solidFill>
              <a:srgbClr val="D977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628650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86500" y="2148840"/>
            <a:ext cx="2370582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188327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8832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451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Deterministic analysis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794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Schema and formulas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711946" y="3223260"/>
            <a:ext cx="274320" cy="0"/>
          </a:xfrm>
          <a:prstGeom prst="line">
            <a:avLst/>
          </a:prstGeom>
          <a:ln w="25400">
            <a:solidFill>
              <a:srgbClr val="D977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904113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041130" y="2148840"/>
            <a:ext cx="2370582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942957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94295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914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Human decision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3257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Review before action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77240" y="4608576"/>
            <a:ext cx="10634472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77240" y="4608576"/>
            <a:ext cx="100584" cy="105156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51560" y="4718304"/>
            <a:ext cx="10149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CONTRACT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1560" y="5029200"/>
            <a:ext cx="1014984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21201C"/>
                </a:solidFill>
                <a:latin typeface="Calibri"/>
              </a:rPr>
              <a:t>Classify primary/secondary and qualitative/quantitative sources; record first-party origin, time window and consent; separate direct observations from interpretations.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transition spd="fast" advClick="1">
    <p:fade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LO1 · ACTIVITY 01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Evidence Registry · Input Schema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Field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Contract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Quality control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41409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4140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source_id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41409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4140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str; example: S01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41409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4140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Preserve source_id;check units/identity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672660"/>
            <a:ext cx="2764962" cy="41409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672660"/>
            <a:ext cx="2508930" cy="4140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source_type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672660"/>
            <a:ext cx="3934755" cy="41409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672660"/>
            <a:ext cx="3678723" cy="4140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str; example: customer_survey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672660"/>
            <a:ext cx="3934755" cy="41409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672660"/>
            <a:ext cx="3678723" cy="4140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Preserve source_type;check units/identity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086752"/>
            <a:ext cx="2764962" cy="41409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086752"/>
            <a:ext cx="2508930" cy="4140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published_date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086752"/>
            <a:ext cx="3934755" cy="41409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086752"/>
            <a:ext cx="3678723" cy="4140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str; example: 2026-08-01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086752"/>
            <a:ext cx="3934755" cy="41409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086752"/>
            <a:ext cx="3678723" cy="4140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Preserve published_date;check units/identity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3500844"/>
            <a:ext cx="2764962" cy="41409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3500844"/>
            <a:ext cx="2508930" cy="4140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population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3500844"/>
            <a:ext cx="3934755" cy="41409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3500844"/>
            <a:ext cx="3678723" cy="4140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str; example: existing learners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3500844"/>
            <a:ext cx="3934755" cy="41409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3500844"/>
            <a:ext cx="3678723" cy="4140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Preserve population;check units/identity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3914936"/>
            <a:ext cx="2764962" cy="41409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05256" y="3914936"/>
            <a:ext cx="2508930" cy="4140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sample_n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542202" y="3914936"/>
            <a:ext cx="3934755" cy="41409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70218" y="3914936"/>
            <a:ext cx="3678723" cy="4140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int; example: 120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476957" y="3914936"/>
            <a:ext cx="3934755" cy="41409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604973" y="3914936"/>
            <a:ext cx="3678723" cy="4140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Preserve sample_n;check units/identity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77240" y="4329028"/>
            <a:ext cx="2764962" cy="41409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05256" y="4329028"/>
            <a:ext cx="2508930" cy="4140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claim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542202" y="4329028"/>
            <a:ext cx="3934755" cy="41409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70218" y="4329028"/>
            <a:ext cx="3678723" cy="4140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str; example: 72 prefer evenings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476957" y="4329028"/>
            <a:ext cx="3934755" cy="41409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604973" y="4329028"/>
            <a:ext cx="3678723" cy="4140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Preserve claim;check units/identity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77240" y="4743120"/>
            <a:ext cx="2764962" cy="41409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05256" y="4743120"/>
            <a:ext cx="2508930" cy="4140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confidence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542202" y="4743120"/>
            <a:ext cx="3934755" cy="41409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670218" y="4743120"/>
            <a:ext cx="3678723" cy="4140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str; example: medium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476957" y="4743120"/>
            <a:ext cx="3934755" cy="41409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604973" y="4743120"/>
            <a:ext cx="3678723" cy="4140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Preserve confidence;check units/identity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77240" y="5358380"/>
            <a:ext cx="10634472" cy="8412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77240" y="5358380"/>
            <a:ext cx="100584" cy="8412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51560" y="5468108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WHEN IT MATTERS  </a:t>
            </a:r>
            <a:r>
              <a:rPr sz="1200" b="0">
                <a:solidFill>
                  <a:srgbClr val="21201C"/>
                </a:solidFill>
                <a:latin typeface="Calibri"/>
              </a:rPr>
              <a:t>Source rows remain immutable. New computed fields belong in outputs; ambiguous data is qualified rather than invented.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LO1 · ACTIVITY 01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Evidence Registry · Evidence Exhibit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source_id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population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claim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S01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existing learners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72 prefer evenings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S02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enquiries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36 request evening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S03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global marketers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training demand rising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398264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4398264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S04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consented sessions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96 enquiry events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5312664"/>
            <a:ext cx="10634472" cy="8412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" y="5312664"/>
            <a:ext cx="100584" cy="8412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1560" y="5422392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WHEN IT MATTERS  </a:t>
            </a:r>
            <a:r>
              <a:rPr sz="1200" b="0">
                <a:solidFill>
                  <a:srgbClr val="21201C"/>
                </a:solidFill>
                <a:latin typeface="Calibri"/>
              </a:rPr>
              <a:t>This exhibit is an authored synthetic dataset. Read exact units and identifiers before interpreting values.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LO1 · ACTIVITY 01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Evidence Registry · Worked Calculation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3447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B6862"/>
                </a:solidFill>
                <a:latin typeface="Calibri"/>
              </a:rPr>
              <a:t>Interpret the denominator,units and decision boundary.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86000"/>
            <a:ext cx="5943600" cy="3794760"/>
          </a:xfrm>
          <a:prstGeom prst="rect">
            <a:avLst/>
          </a:prstGeom>
          <a:solidFill>
            <a:srgbClr val="212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2395728"/>
            <a:ext cx="5541264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300">
                <a:solidFill>
                  <a:srgbClr val="B9B4A9"/>
                </a:solidFill>
                <a:latin typeface="Consolas"/>
              </a:rPr>
              <a:t>Evening preference = 72 / 120 = 60%; denominator is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F0B89E"/>
                </a:solidFill>
                <a:latin typeface="Consolas"/>
              </a:rPr>
              <a:t>surveyed existing learners, not the Singapore market.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95160" y="228600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95160" y="2286000"/>
            <a:ext cx="82296" cy="9144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32904" y="237744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Inputs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32904" y="267004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sources.csv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95160" y="324612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995160" y="3246120"/>
            <a:ext cx="82296" cy="91440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32904" y="333756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3A7D7B"/>
                </a:solidFill>
                <a:latin typeface="Calibri"/>
              </a:rPr>
              <a:t>Calculation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32904" y="363016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Recompute exact values independently.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95160" y="420624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95160" y="4206240"/>
            <a:ext cx="82296" cy="914400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32904" y="429768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2603F"/>
                </a:solidFill>
                <a:latin typeface="Calibri"/>
              </a:rPr>
              <a:t>Interpretation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32904" y="459028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Synthetic percentages use different populations. Their height cannot establish…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95160" y="516636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995160" y="5166360"/>
            <a:ext cx="82296" cy="914400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32904" y="525780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88A2E"/>
                </a:solidFill>
                <a:latin typeface="Calibri"/>
              </a:rPr>
              <a:t>Boundary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32904" y="555040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Synthetic descriptive evidence;live/causal result not established.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LO1 · ACTIVITY 01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Evidence Registry · Editable Chart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777240" y="1783080"/>
          <a:ext cx="10634472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ectangle 7"/>
          <p:cNvSpPr/>
          <p:nvPr/>
        </p:nvSpPr>
        <p:spPr>
          <a:xfrm>
            <a:off x="777240" y="5230368"/>
            <a:ext cx="10634472" cy="1005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5230368"/>
            <a:ext cx="100584" cy="100584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5340096"/>
            <a:ext cx="10149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WHAT THE DATA SHOWS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5632704"/>
            <a:ext cx="10149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Synthetic percentages use different populations. Their height cannot establish market size; compare definitions before aggregating.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1636776"/>
            <a:ext cx="9144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6B6862"/>
                </a:solidFill>
                <a:latin typeface="Calibri"/>
              </a:rPr>
              <a:t>Percentage (%) of each stated population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LO1 · ACTIVITY 01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Evidence Registry · Reproducible Contract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3447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B6862"/>
                </a:solidFill>
                <a:latin typeface="Calibri"/>
              </a:rPr>
              <a:t>Readable excerpt; complete procedure and runnable practice remain in the guide.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86000"/>
            <a:ext cx="5943600" cy="3794760"/>
          </a:xfrm>
          <a:prstGeom prst="rect">
            <a:avLst/>
          </a:prstGeom>
          <a:solidFill>
            <a:srgbClr val="212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2395728"/>
            <a:ext cx="5541264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300">
                <a:solidFill>
                  <a:srgbClr val="C2603F"/>
                </a:solidFill>
                <a:latin typeface="Consolas"/>
              </a:rPr>
              <a:t>import csv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F0B89E"/>
                </a:solidFill>
                <a:latin typeface="Consolas"/>
              </a:rPr>
              <a:t>with open("mock-data/sources.csv") as f: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B9B4A9"/>
                </a:solidFill>
                <a:latin typeface="Consolas"/>
              </a:rPr>
              <a:t>    rows = list(csv.DictReader(f))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B9B4A9"/>
                </a:solidFill>
                <a:latin typeface="Consolas"/>
              </a:rPr>
              <a:t>assert len({r["source_id"] for r in rows}) == 4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B9B4A9"/>
                </a:solidFill>
                <a:latin typeface="Consolas"/>
              </a:rPr>
              <a:t>required = {"population", "published_date"}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B9B4A9"/>
                </a:solidFill>
                <a:latin typeface="Consolas"/>
              </a:rPr>
              <a:t>assert required &lt;= set(rows[0])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95160" y="228600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95160" y="2286000"/>
            <a:ext cx="82296" cy="9144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32904" y="237744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Data contract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32904" y="267004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sources.csv; exact field names matter.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95160" y="324612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995160" y="3246120"/>
            <a:ext cx="82296" cy="91440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32904" y="333756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3A7D7B"/>
                </a:solidFill>
                <a:latin typeface="Calibri"/>
              </a:rPr>
              <a:t>Identity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32904" y="363016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Preserve row IDs or segment labels.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95160" y="420624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95160" y="4206240"/>
            <a:ext cx="82296" cy="914400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32904" y="429768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2603F"/>
                </a:solidFill>
                <a:latin typeface="Calibri"/>
              </a:rPr>
              <a:t>Calculation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32904" y="459028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Deterministic code checks the agent narrative.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95160" y="516636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995160" y="5166360"/>
            <a:ext cx="82296" cy="914400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32904" y="525780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88A2E"/>
                </a:solidFill>
                <a:latin typeface="Calibri"/>
              </a:rPr>
              <a:t>Verification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32904" y="555040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Four uniquely identified sources; each claim states population, period, confidence…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C2603F"/>
                </a:solidFill>
                <a:latin typeface="Cambria"/>
              </a:rPr>
              <a:t>LO1 · ACTIVITY 01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Evidence Registry · Decision Rule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Diamond 6"/>
          <p:cNvSpPr/>
          <p:nvPr/>
        </p:nvSpPr>
        <p:spPr>
          <a:xfrm>
            <a:off x="777240" y="2514600"/>
            <a:ext cx="4206240" cy="2468880"/>
          </a:xfrm>
          <a:prstGeom prst="diamond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Does the source match the decision population?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577840" y="1965960"/>
            <a:ext cx="5806440" cy="1371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577840" y="1965960"/>
            <a:ext cx="100584" cy="137160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52160" y="2112264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3A7D7B"/>
                </a:solidFill>
                <a:latin typeface="Cambria"/>
              </a:rPr>
              <a:t>YES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2514600"/>
            <a:ext cx="5303520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Use with stated sampling limits</a:t>
            </a:r>
          </a:p>
        </p:txBody>
      </p:sp>
      <p:cxnSp>
        <p:nvCxnSpPr>
          <p:cNvPr id="12" name="Connector 11"/>
          <p:cNvCxnSpPr/>
          <p:nvPr/>
        </p:nvCxnSpPr>
        <p:spPr>
          <a:xfrm flipV="1">
            <a:off x="4983480" y="2651760"/>
            <a:ext cx="594360" cy="1097280"/>
          </a:xfrm>
          <a:prstGeom prst="line">
            <a:avLst/>
          </a:prstGeom>
          <a:ln w="25400">
            <a:solidFill>
              <a:srgbClr val="3A7D7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577840" y="3977639"/>
            <a:ext cx="5806440" cy="1371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577840" y="3977639"/>
            <a:ext cx="100584" cy="1371600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52160" y="4123943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C88A2E"/>
                </a:solidFill>
                <a:latin typeface="Cambria"/>
              </a:rPr>
              <a:t>NO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4526279"/>
            <a:ext cx="5303520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Qualify the claim or collect primary data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983480" y="3749040"/>
            <a:ext cx="594360" cy="914399"/>
          </a:xfrm>
          <a:prstGeom prst="line">
            <a:avLst/>
          </a:prstGeom>
          <a:ln w="25400">
            <a:solidFill>
              <a:srgbClr val="C88A2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777240" y="5623560"/>
            <a:ext cx="10634472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5742432"/>
            <a:ext cx="10149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B6862"/>
                </a:solidFill>
                <a:latin typeface="Calibri"/>
              </a:rPr>
              <a:t>This is an authored research decision rule. It does not grant product permissions or replace human review.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LO1 · ACTIVITY 01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Evidence Registry · Claim-Evidence Ledger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Claim layer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Evidence required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Permitted wording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Observation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source_id: S01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Evening preference = 72 / 120 = 60%; denominator is surveyed existing learners, not the Singapore market.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Inference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Synthetic percentages use different populations. Their height cannot establish market size; compare…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Does the source match the decision population?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Recommendation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Use with stated sampling limits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research-brief.md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398264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4398264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Unknown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A global report is used to claim Singapore buying intent. Its population and date do not match the decision…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Qualify the claim or collect primary data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5312664"/>
            <a:ext cx="10634472" cy="8412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" y="5312664"/>
            <a:ext cx="100584" cy="8412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1560" y="5422392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WHEN IT MATTERS  </a:t>
            </a:r>
            <a:r>
              <a:rPr sz="1200" b="0">
                <a:solidFill>
                  <a:srgbClr val="21201C"/>
                </a:solidFill>
                <a:latin typeface="Calibri"/>
              </a:rPr>
              <a:t>Preserve the distinction between observed data, model output and human decision throughout Cowork and Code handoffs.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C88A2E"/>
                </a:solidFill>
                <a:latin typeface="Cambria"/>
              </a:rPr>
              <a:t>LO1 · ACTIVITY 01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Evidence Registry · Failure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3447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B6862"/>
                </a:solidFill>
                <a:latin typeface="Calibri"/>
              </a:rPr>
              <a:t>A plausible report can be wrong even when its numbers look polished.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86000"/>
            <a:ext cx="5943600" cy="3794760"/>
          </a:xfrm>
          <a:prstGeom prst="rect">
            <a:avLst/>
          </a:prstGeom>
          <a:solidFill>
            <a:srgbClr val="212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2395728"/>
            <a:ext cx="5541264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300">
                <a:solidFill>
                  <a:srgbClr val="F0B89E"/>
                </a:solidFill>
                <a:latin typeface="Consolas"/>
              </a:rPr>
              <a:t>A global report is used to claim Singapore buying intent.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F0B89E"/>
                </a:solidFill>
                <a:latin typeface="Consolas"/>
              </a:rPr>
              <a:t>Its population and date do not match the decision, so the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F0B89E"/>
                </a:solidFill>
                <a:latin typeface="Consolas"/>
              </a:rPr>
              <a:t>claim must be downgraded.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95160" y="228600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95160" y="2286000"/>
            <a:ext cx="82296" cy="9144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32904" y="237744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Trigger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32904" y="267004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The agent promotes a claim beyond its evidence.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95160" y="324612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995160" y="3246120"/>
            <a:ext cx="82296" cy="91440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32904" y="333756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3A7D7B"/>
                </a:solidFill>
                <a:latin typeface="Calibri"/>
              </a:rPr>
              <a:t>Diagnostic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32904" y="363016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Inspect the underlying rows,scope and denominator.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95160" y="420624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95160" y="4206240"/>
            <a:ext cx="82296" cy="914400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32904" y="429768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2603F"/>
                </a:solidFill>
                <a:latin typeface="Calibri"/>
              </a:rPr>
              <a:t>Recovery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32904" y="459028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Revise the claim and retain the rejected reasoning.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95160" y="516636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995160" y="5166360"/>
            <a:ext cx="82296" cy="914400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32904" y="525780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88A2E"/>
                </a:solidFill>
                <a:latin typeface="Calibri"/>
              </a:rPr>
              <a:t>Recheck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32904" y="555040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Four uniquely identified sources; each claim states population, period, confidence…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LO1 · ACTIVITY 01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Evidence Registry · Control and Recovery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Control point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Risk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Required evidence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source_id identity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S01 omitted or changed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Reconcile raw identifiers in sources.csv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Metric contract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Evening preference = 72 / 120 = 60%; denominator is surveyed existing learners, not the Singapore market.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Independent calculation and named denominator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Inference check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A global report is used to claim Singapore buying intent. Its population and date do not match the decision…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Qualify the claim or collect primary data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398264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4398264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Decision output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evidence-register.csv and research-brief.md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Retain provenance, access permission and citation per claim. Use anonymised exports; never include emails…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5312664"/>
            <a:ext cx="10634472" cy="8412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" y="5312664"/>
            <a:ext cx="100584" cy="8412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1560" y="5422392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WHEN IT MATTERS  </a:t>
            </a:r>
            <a:r>
              <a:rPr sz="1200" b="0">
                <a:solidFill>
                  <a:srgbClr val="21201C"/>
                </a:solidFill>
                <a:latin typeface="Calibri"/>
              </a:rPr>
              <a:t>Retain provenance, access permission and citation per claim. Use anonymised exports; never include emails, phone numbers or credentials in the research workspace.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LO1 · ACTIVITY 01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Evidence Registry · Output Handoff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48840"/>
            <a:ext cx="2370582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79067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7906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sources.csv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Raw 4 records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202686" y="3223260"/>
            <a:ext cx="274320" cy="0"/>
          </a:xfrm>
          <a:prstGeom prst="line">
            <a:avLst/>
          </a:prstGeom>
          <a:ln w="25400">
            <a:solidFill>
              <a:srgbClr val="D977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353187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31870" y="2148840"/>
            <a:ext cx="2370582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433697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369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988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source_id audit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2331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Preserve identifiers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957316" y="3223260"/>
            <a:ext cx="274320" cy="0"/>
          </a:xfrm>
          <a:prstGeom prst="line">
            <a:avLst/>
          </a:prstGeom>
          <a:ln w="25400">
            <a:solidFill>
              <a:srgbClr val="D977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628650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86500" y="2148840"/>
            <a:ext cx="2370582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188327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8832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451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evidence-register.csv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794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Computed evidence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711946" y="3223260"/>
            <a:ext cx="274320" cy="0"/>
          </a:xfrm>
          <a:prstGeom prst="line">
            <a:avLst/>
          </a:prstGeom>
          <a:ln w="25400">
            <a:solidFill>
              <a:srgbClr val="D977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904113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041130" y="2148840"/>
            <a:ext cx="2370582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942957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94295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914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Human decision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3257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Reviewer decision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77240" y="4608576"/>
            <a:ext cx="10634472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77240" y="4608576"/>
            <a:ext cx="100584" cy="105156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51560" y="4718304"/>
            <a:ext cx="10149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OUTPUT CONTRACT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1560" y="5029200"/>
            <a:ext cx="1014984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21201C"/>
                </a:solidFill>
                <a:latin typeface="Calibri"/>
              </a:rPr>
              <a:t>Evening preference = 72 / 120 = 60%; denominator is surveyed existing learners, not the Singapore market. Output: evidence-register.csv and research-brief.md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transition spd="fast" advClick="1">
    <p:fade/>
  </p:transition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LO1 · ACTIVITY 01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Evidence Registry · Acceptance Evidence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10634472" cy="1965960"/>
          </a:xfrm>
          <a:prstGeom prst="rect">
            <a:avLst/>
          </a:prstGeom>
          <a:solidFill>
            <a:srgbClr val="EA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100584" cy="1965960"/>
          </a:xfrm>
          <a:prstGeom prst="rect">
            <a:avLst/>
          </a:prstGeom>
          <a:solidFill>
            <a:srgbClr val="4A8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38528"/>
            <a:ext cx="1005840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4A8F5F"/>
                </a:solidFill>
                <a:latin typeface="Cambria"/>
              </a:rPr>
              <a:t>✅  Expected result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395728"/>
            <a:ext cx="10058400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21201C"/>
                </a:solidFill>
                <a:latin typeface="Calibri"/>
              </a:rPr>
              <a:t>Four uniquely identified sources; each claim states population, period, confidence and an explicit limitation.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950208"/>
            <a:ext cx="1063447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C88A2E"/>
                </a:solidFill>
                <a:latin typeface="Calibri"/>
              </a:rPr>
              <a:t>IF IT DOESN'T WORK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4297680"/>
            <a:ext cx="3392424" cy="15727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4297680"/>
            <a:ext cx="3392424" cy="82296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6696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21201C"/>
                </a:solidFill>
                <a:latin typeface="Calibri"/>
              </a:rPr>
              <a:t>Numbers disagree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6696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6862"/>
                </a:solidFill>
                <a:latin typeface="Calibri"/>
              </a:rPr>
              <a:t>Check header parsing,units,denominator and duplicate records.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98264" y="4297680"/>
            <a:ext cx="3392424" cy="15727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98264" y="4297680"/>
            <a:ext cx="3392424" cy="82296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17720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21201C"/>
                </a:solidFill>
                <a:latin typeface="Calibri"/>
              </a:rPr>
              <a:t>Claim lacks a source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6862"/>
                </a:solidFill>
                <a:latin typeface="Calibri"/>
              </a:rPr>
              <a:t>Add row IDs and scope; downgrade or remove unsupported inference.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19288" y="4297680"/>
            <a:ext cx="3392424" cy="15727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19288" y="4297680"/>
            <a:ext cx="3392424" cy="82296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38744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21201C"/>
                </a:solidFill>
                <a:latin typeface="Calibri"/>
              </a:rPr>
              <a:t>Tool unavailable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38744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6862"/>
                </a:solidFill>
                <a:latin typeface="Calibri"/>
              </a:rPr>
              <a:t>Use the documented CSV fallback and state the unexecuted product boundary.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LO1 · ACTIVITY 02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Cowork Folder Research Brief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19072"/>
            <a:ext cx="1554480" cy="420624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5544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mbria"/>
              </a:rPr>
              <a:t>ACTIVITY 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87168" y="1719072"/>
            <a:ext cx="88696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B6862"/>
                </a:solidFill>
                <a:latin typeface="Calibri"/>
              </a:rPr>
              <a:t>ICT-SNM-3007-1.1 · LO1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86000"/>
            <a:ext cx="10634472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21201C"/>
                </a:solidFill>
                <a:latin typeface="Calibri"/>
              </a:rPr>
              <a:t>A marketer receives mixed CSV exports and creative notes. Cowork should turn a bounded folder into a decision brief while leaving original files unchanged and treating embedded instructions as untrusted content.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474720"/>
            <a:ext cx="3392424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3474720"/>
            <a:ext cx="3392424" cy="9144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6696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YOU'LL BUILD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6696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input-manifest.csv and decision-brief.md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98264" y="3474720"/>
            <a:ext cx="3392424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98264" y="3474720"/>
            <a:ext cx="3392424" cy="9144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17720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TOOLCHAIN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Claude Cowork · Claude Code · CSV / Markdown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19288" y="3474720"/>
            <a:ext cx="3392424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19288" y="3474720"/>
            <a:ext cx="3392424" cy="91440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8744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C2603F"/>
                </a:solidFill>
                <a:latin typeface="Calibri"/>
              </a:rPr>
              <a:t>DONE WHEN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38744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Four manifest records; original input hashes unchanged; two requested outputs; untrusted instruction quoted as data and ignored.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27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LO1 · ACTIVITY 02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21201C"/>
                </a:solidFill>
                <a:latin typeface="Calibri"/>
              </a:rPr>
              <a:t>Cowork Folder Research Brief · Data and Trust Boundaries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48840"/>
            <a:ext cx="2370582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79067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7906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Raw inputs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campaign-files.csv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202686" y="3223260"/>
            <a:ext cx="274320" cy="0"/>
          </a:xfrm>
          <a:prstGeom prst="line">
            <a:avLst/>
          </a:prstGeom>
          <a:ln w="25400">
            <a:solidFill>
              <a:srgbClr val="D977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353187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31870" y="2148840"/>
            <a:ext cx="2370582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433697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369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988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Evidence checks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2331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IDs,date,units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957316" y="3223260"/>
            <a:ext cx="274320" cy="0"/>
          </a:xfrm>
          <a:prstGeom prst="line">
            <a:avLst/>
          </a:prstGeom>
          <a:ln w="25400">
            <a:solidFill>
              <a:srgbClr val="D977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628650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86500" y="2148840"/>
            <a:ext cx="2370582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188327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8832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451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Deterministic analysis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794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Schema and formulas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711946" y="3223260"/>
            <a:ext cx="274320" cy="0"/>
          </a:xfrm>
          <a:prstGeom prst="line">
            <a:avLst/>
          </a:prstGeom>
          <a:ln w="25400">
            <a:solidFill>
              <a:srgbClr val="D977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904113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041130" y="2148840"/>
            <a:ext cx="2370582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942957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94295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914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Human decision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3257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Review before action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77240" y="4608576"/>
            <a:ext cx="10634472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77240" y="4608576"/>
            <a:ext cx="100584" cy="105156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51560" y="4718304"/>
            <a:ext cx="10149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CONTRACT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1560" y="5029200"/>
            <a:ext cx="1014984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21201C"/>
                </a:solidFill>
                <a:latin typeface="Calibri"/>
              </a:rPr>
              <a:t>Inventory -&gt; bounded plan -&gt; approved file reads -&gt; evidence synthesis -&gt; output diff -&gt; human decision. This is a teaching model of task control, not a fabricated Cowork interface.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28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transition spd="fast" advClick="1">
    <p:fade/>
  </p:transition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LO1 · ACTIVITY 02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Cowork Folder Research Brief · Input Schema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Field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Contract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Quality control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48310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4831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file_id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48310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4831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str; example: F01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48310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4831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Preserve file_id;check units/identity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741676"/>
            <a:ext cx="2764962" cy="48310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741676"/>
            <a:ext cx="2508930" cy="4831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filename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741676"/>
            <a:ext cx="3934755" cy="48310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741676"/>
            <a:ext cx="3678723" cy="4831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str; example: traffic.csv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741676"/>
            <a:ext cx="3934755" cy="48310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741676"/>
            <a:ext cx="3678723" cy="4831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Preserve filename;check units/identity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224784"/>
            <a:ext cx="2764962" cy="48310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224784"/>
            <a:ext cx="2508930" cy="4831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owner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224784"/>
            <a:ext cx="3934755" cy="48310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224784"/>
            <a:ext cx="3678723" cy="4831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str; example: analytics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224784"/>
            <a:ext cx="3934755" cy="48310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224784"/>
            <a:ext cx="3678723" cy="4831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Preserve owner;check units/identity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3707892"/>
            <a:ext cx="2764962" cy="48310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3707892"/>
            <a:ext cx="2508930" cy="4831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period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3707892"/>
            <a:ext cx="3934755" cy="48310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3707892"/>
            <a:ext cx="3678723" cy="4831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str; example: 2026-08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3707892"/>
            <a:ext cx="3934755" cy="48310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3707892"/>
            <a:ext cx="3678723" cy="4831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Preserve period;check units/identity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4191000"/>
            <a:ext cx="2764962" cy="48310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05256" y="4191000"/>
            <a:ext cx="2508930" cy="4831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row_count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542202" y="4191000"/>
            <a:ext cx="3934755" cy="48310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70218" y="4191000"/>
            <a:ext cx="3678723" cy="4831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int; example: 4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476957" y="4191000"/>
            <a:ext cx="3934755" cy="48310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604973" y="4191000"/>
            <a:ext cx="3678723" cy="4831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Preserve row_count;check units/identity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77240" y="4674108"/>
            <a:ext cx="2764962" cy="48310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05256" y="4674108"/>
            <a:ext cx="2508930" cy="4831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status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542202" y="4674108"/>
            <a:ext cx="3934755" cy="48310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70218" y="4674108"/>
            <a:ext cx="3678723" cy="4831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str; example: approved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476957" y="4674108"/>
            <a:ext cx="3934755" cy="48310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604973" y="4674108"/>
            <a:ext cx="3678723" cy="4831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Preserve status;check units/identity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77240" y="5358384"/>
            <a:ext cx="10634472" cy="8412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777240" y="5358384"/>
            <a:ext cx="100584" cy="8412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51560" y="5468112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WHEN IT MATTERS  </a:t>
            </a:r>
            <a:r>
              <a:rPr sz="1200" b="0">
                <a:solidFill>
                  <a:srgbClr val="21201C"/>
                </a:solidFill>
                <a:latin typeface="Calibri"/>
              </a:rPr>
              <a:t>Source rows remain immutable. New computed fields belong in outputs; ambiguous data is qualified rather than invented.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29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LO1 · ACTIVITY 02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Cowork Folder Research Brief · Evidence Exhibit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file_id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filename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status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F01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traffic.csv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approved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F02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campaign.csv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approved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F03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brand-guide.md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approved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398264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4398264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F04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external-note.md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untrusted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5312664"/>
            <a:ext cx="10634472" cy="8412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" y="5312664"/>
            <a:ext cx="100584" cy="8412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1560" y="5422392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WHEN IT MATTERS  </a:t>
            </a:r>
            <a:r>
              <a:rPr sz="1200" b="0">
                <a:solidFill>
                  <a:srgbClr val="21201C"/>
                </a:solidFill>
                <a:latin typeface="Calibri"/>
              </a:rPr>
              <a:t>This exhibit is an authored synthetic dataset. Read exact units and identifiers before interpreting values.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30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LO1 · ACTIVITY 02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Cowork Folder Research Brief · Worked Calculation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3447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B6862"/>
                </a:solidFill>
                <a:latin typeface="Calibri"/>
              </a:rPr>
              <a:t>Interpret the denominator,units and decision boundary.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86000"/>
            <a:ext cx="5943600" cy="3794760"/>
          </a:xfrm>
          <a:prstGeom prst="rect">
            <a:avLst/>
          </a:prstGeom>
          <a:solidFill>
            <a:srgbClr val="212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2395728"/>
            <a:ext cx="5541264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300">
                <a:solidFill>
                  <a:srgbClr val="B9B4A9"/>
                </a:solidFill>
                <a:latin typeface="Consolas"/>
              </a:rPr>
              <a:t>Coverage = 3 approved inputs / 4 inventoried inputs =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F0B89E"/>
                </a:solidFill>
                <a:latin typeface="Consolas"/>
              </a:rPr>
              <a:t>75%; an excluded file remains visible in the manifest.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95160" y="228600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95160" y="2286000"/>
            <a:ext cx="82296" cy="9144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32904" y="237744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Inputs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32904" y="267004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campaign-files.csv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95160" y="324612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995160" y="3246120"/>
            <a:ext cx="82296" cy="91440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32904" y="333756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3A7D7B"/>
                </a:solidFill>
                <a:latin typeface="Calibri"/>
              </a:rPr>
              <a:t>Calculation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32904" y="363016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Recompute exact values independently.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95160" y="420624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95160" y="4206240"/>
            <a:ext cx="82296" cy="914400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32904" y="429768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2603F"/>
                </a:solidFill>
                <a:latin typeface="Calibri"/>
              </a:rPr>
              <a:t>Interpretation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32904" y="459028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Synthetic manifest counts distinguish information access from output creation. A…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95160" y="516636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995160" y="5166360"/>
            <a:ext cx="82296" cy="914400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32904" y="525780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88A2E"/>
                </a:solidFill>
                <a:latin typeface="Calibri"/>
              </a:rPr>
              <a:t>Boundary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32904" y="555040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Synthetic descriptive evidence;live/causal result not established.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31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LO1 · ACTIVITY 02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Cowork Folder Research Brief · Editable Chart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777240" y="1783080"/>
          <a:ext cx="10634472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ectangle 7"/>
          <p:cNvSpPr/>
          <p:nvPr/>
        </p:nvSpPr>
        <p:spPr>
          <a:xfrm>
            <a:off x="777240" y="5230368"/>
            <a:ext cx="10634472" cy="1005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5230368"/>
            <a:ext cx="100584" cy="100584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5340096"/>
            <a:ext cx="10149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WHAT THE DATA SHOWS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5632704"/>
            <a:ext cx="10149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Synthetic manifest counts distinguish information access from output creation. A quarantine decision is evidence, not missing work.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32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1636776"/>
            <a:ext cx="9144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6B6862"/>
                </a:solidFill>
                <a:latin typeface="Calibri"/>
              </a:rPr>
              <a:t>Count of manifest files / outputs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LO1 · ACTIVITY 02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Cowork Folder Research Brief · Reproducible Contract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3447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B6862"/>
                </a:solidFill>
                <a:latin typeface="Calibri"/>
              </a:rPr>
              <a:t>Readable excerpt; complete procedure and runnable practice remain in the guide.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86000"/>
            <a:ext cx="5943600" cy="3794760"/>
          </a:xfrm>
          <a:prstGeom prst="rect">
            <a:avLst/>
          </a:prstGeom>
          <a:solidFill>
            <a:srgbClr val="212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2395728"/>
            <a:ext cx="5541264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300">
                <a:solidFill>
                  <a:srgbClr val="C2603F"/>
                </a:solidFill>
                <a:latin typeface="Consolas"/>
              </a:rPr>
              <a:t>from pathlib import Path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B9B4A9"/>
                </a:solidFill>
                <a:latin typeface="Consolas"/>
              </a:rPr>
              <a:t>root = Path("mock-data")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B9B4A9"/>
                </a:solidFill>
                <a:latin typeface="Consolas"/>
              </a:rPr>
              <a:t>files = list(root.glob("*.csv"))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B9B4A9"/>
                </a:solidFill>
                <a:latin typeface="Consolas"/>
              </a:rPr>
              <a:t>assert all(f.suffix == ".csv" for f in files)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B9B4A9"/>
                </a:solidFill>
                <a:latin typeface="Consolas"/>
              </a:rPr>
              <a:t>output = Path("outputs")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B9B4A9"/>
                </a:solidFill>
                <a:latin typeface="Consolas"/>
              </a:rPr>
              <a:t>output.mkdir(exist_ok=True)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95160" y="228600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95160" y="2286000"/>
            <a:ext cx="82296" cy="9144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32904" y="237744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Data contract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32904" y="267004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campaign-files.csv; exact field names matter.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95160" y="324612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995160" y="3246120"/>
            <a:ext cx="82296" cy="91440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32904" y="333756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3A7D7B"/>
                </a:solidFill>
                <a:latin typeface="Calibri"/>
              </a:rPr>
              <a:t>Identity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32904" y="363016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Preserve row IDs or segment labels.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95160" y="420624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95160" y="4206240"/>
            <a:ext cx="82296" cy="914400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32904" y="429768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2603F"/>
                </a:solidFill>
                <a:latin typeface="Calibri"/>
              </a:rPr>
              <a:t>Calculation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32904" y="459028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Deterministic code checks the agent narrative.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95160" y="516636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995160" y="5166360"/>
            <a:ext cx="82296" cy="914400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32904" y="525780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88A2E"/>
                </a:solidFill>
                <a:latin typeface="Calibri"/>
              </a:rPr>
              <a:t>Verification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32904" y="555040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Four manifest records; original input hashes unchanged; two requested outputs…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33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C2603F"/>
                </a:solidFill>
                <a:latin typeface="Cambria"/>
              </a:rPr>
              <a:t>LO1 · ACTIVITY 02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Cowork Folder Research Brief · Decision Rule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Diamond 6"/>
          <p:cNvSpPr/>
          <p:nvPr/>
        </p:nvSpPr>
        <p:spPr>
          <a:xfrm>
            <a:off x="777240" y="2514600"/>
            <a:ext cx="4206240" cy="2468880"/>
          </a:xfrm>
          <a:prstGeom prst="diamond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Would the action write outside the copied folder?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577840" y="1965960"/>
            <a:ext cx="5806440" cy="1371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577840" y="1965960"/>
            <a:ext cx="100584" cy="137160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52160" y="2112264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3A7D7B"/>
                </a:solidFill>
                <a:latin typeface="Cambria"/>
              </a:rPr>
              <a:t>YES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2514600"/>
            <a:ext cx="5303520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Pause for human scope review</a:t>
            </a:r>
          </a:p>
        </p:txBody>
      </p:sp>
      <p:cxnSp>
        <p:nvCxnSpPr>
          <p:cNvPr id="12" name="Connector 11"/>
          <p:cNvCxnSpPr/>
          <p:nvPr/>
        </p:nvCxnSpPr>
        <p:spPr>
          <a:xfrm flipV="1">
            <a:off x="4983480" y="2651760"/>
            <a:ext cx="594360" cy="1097280"/>
          </a:xfrm>
          <a:prstGeom prst="line">
            <a:avLst/>
          </a:prstGeom>
          <a:ln w="25400">
            <a:solidFill>
              <a:srgbClr val="3A7D7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577840" y="3977639"/>
            <a:ext cx="5806440" cy="1371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577840" y="3977639"/>
            <a:ext cx="100584" cy="1371600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52160" y="4123943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C88A2E"/>
                </a:solidFill>
                <a:latin typeface="Cambria"/>
              </a:rPr>
              <a:t>NO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4526279"/>
            <a:ext cx="5303520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Proceed within approved outputs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983480" y="3749040"/>
            <a:ext cx="594360" cy="914399"/>
          </a:xfrm>
          <a:prstGeom prst="line">
            <a:avLst/>
          </a:prstGeom>
          <a:ln w="25400">
            <a:solidFill>
              <a:srgbClr val="C88A2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777240" y="5623560"/>
            <a:ext cx="10634472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5742432"/>
            <a:ext cx="10149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B6862"/>
                </a:solidFill>
                <a:latin typeface="Calibri"/>
              </a:rPr>
              <a:t>This is an authored research decision rule. It does not grant product permissions or replace human review.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34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LO1 · ACTIVITY 02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Cowork Folder Research Brief · Claim-Evidence Ledger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Claim layer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Evidence required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Permitted wording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Observation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file_id: F01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Coverage = 3 approved inputs / 4 inventoried inputs = 75%; an excluded file remains visible in the manifest.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Inference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Synthetic manifest counts distinguish information access from output creation. A quarantine…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Would the action write outside the copied folder?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Recommendation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Pause for human scope review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decision-brief.md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398264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4398264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Unknown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An external note tells the agent to upload the folder elsewhere. It is task data, not an authorised…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Proceed within approved outputs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5312664"/>
            <a:ext cx="10634472" cy="8412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" y="5312664"/>
            <a:ext cx="100584" cy="8412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1560" y="5422392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WHEN IT MATTERS  </a:t>
            </a:r>
            <a:r>
              <a:rPr sz="1200" b="0">
                <a:solidFill>
                  <a:srgbClr val="21201C"/>
                </a:solidFill>
                <a:latin typeface="Calibri"/>
              </a:rPr>
              <a:t>Preserve the distinction between observed data, model output and human decision throughout Cowork and Code handoffs.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35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C88A2E"/>
                </a:solidFill>
                <a:latin typeface="Cambria"/>
              </a:rPr>
              <a:t>LO1 · ACTIVITY 02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Cowork Folder Research Brief · Failure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3447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B6862"/>
                </a:solidFill>
                <a:latin typeface="Calibri"/>
              </a:rPr>
              <a:t>A plausible report can be wrong even when its numbers look polished.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86000"/>
            <a:ext cx="5943600" cy="3794760"/>
          </a:xfrm>
          <a:prstGeom prst="rect">
            <a:avLst/>
          </a:prstGeom>
          <a:solidFill>
            <a:srgbClr val="212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2395728"/>
            <a:ext cx="5541264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300">
                <a:solidFill>
                  <a:srgbClr val="F0B89E"/>
                </a:solidFill>
                <a:latin typeface="Consolas"/>
              </a:rPr>
              <a:t>An external note tells the agent to upload the folder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F0B89E"/>
                </a:solidFill>
                <a:latin typeface="Consolas"/>
              </a:rPr>
              <a:t>elsewhere. It is task data, not an authorised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F0B89E"/>
                </a:solidFill>
                <a:latin typeface="Consolas"/>
              </a:rPr>
              <a:t>instruction, and must not change scope.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95160" y="228600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95160" y="2286000"/>
            <a:ext cx="82296" cy="9144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32904" y="237744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Trigger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32904" y="267004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The agent promotes a claim beyond its evidence.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95160" y="324612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995160" y="3246120"/>
            <a:ext cx="82296" cy="91440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32904" y="333756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3A7D7B"/>
                </a:solidFill>
                <a:latin typeface="Calibri"/>
              </a:rPr>
              <a:t>Diagnostic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32904" y="363016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Inspect the underlying rows,scope and denominator.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95160" y="420624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95160" y="4206240"/>
            <a:ext cx="82296" cy="914400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32904" y="429768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2603F"/>
                </a:solidFill>
                <a:latin typeface="Calibri"/>
              </a:rPr>
              <a:t>Recovery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32904" y="459028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Revise the claim and retain the rejected reasoning.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95160" y="516636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995160" y="5166360"/>
            <a:ext cx="82296" cy="914400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32904" y="525780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88A2E"/>
                </a:solidFill>
                <a:latin typeface="Calibri"/>
              </a:rPr>
              <a:t>Recheck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32904" y="555040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Four manifest records; original input hashes unchanged; two requested outputs…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36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LO1 · ACTIVITY 02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Cowork Folder Research Brief · Control and Recovery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Control point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Risk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Required evidence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file_id identity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F01 omitted or changed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Reconcile raw identifiers in campaign-files.csv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Metric contract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Coverage = 3 approved inputs / 4 inventoried inputs = 75%; an excluded file remains visible in the manifest.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Independent calculation and named denominator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Inference check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An external note tells the agent to upload the folder elsewhere. It is task data, not an authorised…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Proceed within approved outputs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398264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4398264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Decision output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input-manifest.csv and decision-brief.md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Copy inputs, use dedicated output paths, inspect the plan and changed files, reject external sends and…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5312664"/>
            <a:ext cx="10634472" cy="8412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" y="5312664"/>
            <a:ext cx="100584" cy="8412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1560" y="5422392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WHEN IT MATTERS  </a:t>
            </a:r>
            <a:r>
              <a:rPr sz="1200" b="0">
                <a:solidFill>
                  <a:srgbClr val="21201C"/>
                </a:solidFill>
                <a:latin typeface="Calibri"/>
              </a:rPr>
              <a:t>Copy inputs, use dedicated output paths, inspect the plan and changed files, reject external sends and deletion. Product availability and permission controls depend on the current account.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37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LO1 · ACTIVITY 02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Cowork Folder Research Brief · Output Handoff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48840"/>
            <a:ext cx="2370582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79067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7906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campaign-files.csv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Raw 4 records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202686" y="3223260"/>
            <a:ext cx="274320" cy="0"/>
          </a:xfrm>
          <a:prstGeom prst="line">
            <a:avLst/>
          </a:prstGeom>
          <a:ln w="25400">
            <a:solidFill>
              <a:srgbClr val="D977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353187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31870" y="2148840"/>
            <a:ext cx="2370582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433697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369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988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file_id audit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2331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Preserve identifiers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957316" y="3223260"/>
            <a:ext cx="274320" cy="0"/>
          </a:xfrm>
          <a:prstGeom prst="line">
            <a:avLst/>
          </a:prstGeom>
          <a:ln w="25400">
            <a:solidFill>
              <a:srgbClr val="D977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628650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86500" y="2148840"/>
            <a:ext cx="2370582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188327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8832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451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input-manifest.csv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794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Computed evidence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711946" y="3223260"/>
            <a:ext cx="274320" cy="0"/>
          </a:xfrm>
          <a:prstGeom prst="line">
            <a:avLst/>
          </a:prstGeom>
          <a:ln w="25400">
            <a:solidFill>
              <a:srgbClr val="D977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904113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041130" y="2148840"/>
            <a:ext cx="2370582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942957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94295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914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Human decision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3257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Reviewer decision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77240" y="4608576"/>
            <a:ext cx="10634472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77240" y="4608576"/>
            <a:ext cx="100584" cy="105156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51560" y="4718304"/>
            <a:ext cx="10149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OUTPUT CONTRACT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1560" y="5029200"/>
            <a:ext cx="1014984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21201C"/>
                </a:solidFill>
                <a:latin typeface="Calibri"/>
              </a:rPr>
              <a:t>Coverage = 3 approved inputs / 4 inventoried inputs = 75%; an excluded file remains visible in the manifest. Output: input-manifest.csv and decision-brief.md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38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transition spd="fast" advClick="1">
    <p:fade/>
  </p:transition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LO1 · ACTIVITY 02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Cowork Folder Research Brief · Acceptance Evidence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10634472" cy="1965960"/>
          </a:xfrm>
          <a:prstGeom prst="rect">
            <a:avLst/>
          </a:prstGeom>
          <a:solidFill>
            <a:srgbClr val="EA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100584" cy="1965960"/>
          </a:xfrm>
          <a:prstGeom prst="rect">
            <a:avLst/>
          </a:prstGeom>
          <a:solidFill>
            <a:srgbClr val="4A8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38528"/>
            <a:ext cx="1005840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4A8F5F"/>
                </a:solidFill>
                <a:latin typeface="Cambria"/>
              </a:rPr>
              <a:t>✅  Expected result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395728"/>
            <a:ext cx="10058400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21201C"/>
                </a:solidFill>
                <a:latin typeface="Calibri"/>
              </a:rPr>
              <a:t>Four manifest records; original input hashes unchanged; two requested outputs; untrusted instruction quoted as data and ignored.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950208"/>
            <a:ext cx="1063447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C88A2E"/>
                </a:solidFill>
                <a:latin typeface="Calibri"/>
              </a:rPr>
              <a:t>IF IT DOESN'T WORK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4297680"/>
            <a:ext cx="3392424" cy="15727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4297680"/>
            <a:ext cx="3392424" cy="82296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6696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21201C"/>
                </a:solidFill>
                <a:latin typeface="Calibri"/>
              </a:rPr>
              <a:t>Numbers disagree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6696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6862"/>
                </a:solidFill>
                <a:latin typeface="Calibri"/>
              </a:rPr>
              <a:t>Check header parsing,units,denominator and duplicate records.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98264" y="4297680"/>
            <a:ext cx="3392424" cy="15727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98264" y="4297680"/>
            <a:ext cx="3392424" cy="82296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17720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21201C"/>
                </a:solidFill>
                <a:latin typeface="Calibri"/>
              </a:rPr>
              <a:t>Claim lacks a source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6862"/>
                </a:solidFill>
                <a:latin typeface="Calibri"/>
              </a:rPr>
              <a:t>Add row IDs and scope; downgrade or remove unsupported inference.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19288" y="4297680"/>
            <a:ext cx="3392424" cy="15727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19288" y="4297680"/>
            <a:ext cx="3392424" cy="82296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38744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21201C"/>
                </a:solidFill>
                <a:latin typeface="Calibri"/>
              </a:rPr>
              <a:t>Tool unavailable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38744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6862"/>
                </a:solidFill>
                <a:latin typeface="Calibri"/>
              </a:rPr>
              <a:t>Use the documented CSV fallback and state the unexecuted product boundary.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39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D97757"/>
                </a:solidFill>
                <a:latin typeface="Cambria"/>
              </a:rPr>
              <a:t>LEARNING OUTCOME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21201C"/>
                </a:solidFill>
                <a:latin typeface="Cambria"/>
              </a:rPr>
              <a:t>Trends and Variables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6052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6B6862"/>
                </a:solidFill>
                <a:latin typeface="Calibri"/>
              </a:rPr>
              <a:t>Cowork evidence synthesis · Claude Code reproducible analysis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8E5DE"/>
                </a:solidFill>
                <a:latin typeface="Cambria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40</a:t>
            </a:r>
          </a:p>
        </p:txBody>
      </p:sp>
    </p:spTree>
  </p:cSld>
  <p:clrMapOvr>
    <a:masterClrMapping/>
  </p:clrMapOvr>
  <p:transition spd="med" advClick="1">
    <p:push dir="l"/>
  </p:transition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LO2 · ACTIVITY 03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Competitor Triangulation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19072"/>
            <a:ext cx="1554480" cy="420624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5544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mbria"/>
              </a:rPr>
              <a:t>ACTIVITY 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87168" y="1719072"/>
            <a:ext cx="88696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B6862"/>
                </a:solidFill>
                <a:latin typeface="Calibri"/>
              </a:rPr>
              <a:t>ICT-SNM-3007-1.1 · LO2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86000"/>
            <a:ext cx="10634472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21201C"/>
                </a:solidFill>
                <a:latin typeface="Calibri"/>
              </a:rPr>
              <a:t>The provider compares three fictional competitors. Advertised prices, course hours and learner-review counts must be normalised before Cowork can recommend a positioning gap.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474720"/>
            <a:ext cx="3392424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3474720"/>
            <a:ext cx="3392424" cy="9144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6696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YOU'LL BUILD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6696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competitor-matrix.csv and positioning-note.md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98264" y="3474720"/>
            <a:ext cx="3392424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98264" y="3474720"/>
            <a:ext cx="3392424" cy="9144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17720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TOOLCHAIN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Claude Cowork · Claude Code · CSV / Markdown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19288" y="3474720"/>
            <a:ext cx="3392424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19288" y="3474720"/>
            <a:ext cx="3392424" cy="91440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8744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C2603F"/>
                </a:solidFill>
                <a:latin typeface="Calibri"/>
              </a:rPr>
              <a:t>DONE WHEN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38744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Hourly prices 60,45,50; all three claim IDs cited; at least two uncertainty statements; no unsupported leadership claim.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41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LO2 · ACTIVITY 03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Competitor Triangulation · Data and Trust Boundaries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48840"/>
            <a:ext cx="2370582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79067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7906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Raw inputs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competitors.csv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202686" y="3223260"/>
            <a:ext cx="274320" cy="0"/>
          </a:xfrm>
          <a:prstGeom prst="line">
            <a:avLst/>
          </a:prstGeom>
          <a:ln w="25400">
            <a:solidFill>
              <a:srgbClr val="D977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353187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31870" y="2148840"/>
            <a:ext cx="2370582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433697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369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988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Evidence checks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2331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IDs,date,units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957316" y="3223260"/>
            <a:ext cx="274320" cy="0"/>
          </a:xfrm>
          <a:prstGeom prst="line">
            <a:avLst/>
          </a:prstGeom>
          <a:ln w="25400">
            <a:solidFill>
              <a:srgbClr val="D977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628650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86500" y="2148840"/>
            <a:ext cx="2370582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188327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8832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451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Deterministic analysis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794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Schema and formulas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711946" y="3223260"/>
            <a:ext cx="274320" cy="0"/>
          </a:xfrm>
          <a:prstGeom prst="line">
            <a:avLst/>
          </a:prstGeom>
          <a:ln w="25400">
            <a:solidFill>
              <a:srgbClr val="D977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904113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041130" y="2148840"/>
            <a:ext cx="2370582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942957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94295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914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Human decision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3257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Review before action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77240" y="4608576"/>
            <a:ext cx="10634472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77240" y="4608576"/>
            <a:ext cx="100584" cy="105156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51560" y="4718304"/>
            <a:ext cx="10149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CONTRACT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1560" y="5029200"/>
            <a:ext cx="1014984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21201C"/>
                </a:solidFill>
                <a:latin typeface="Calibri"/>
              </a:rPr>
              <a:t>Match comparable features, units and retrieval dates; distinguish vendor claim from independent evidence; triangulate one claim with two source types before promoting it.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42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transition spd="fast" advClick="1">
    <p:fade/>
  </p:transition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LO2 · ACTIVITY 03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Competitor Triangulation · Input Schema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Field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Contract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Quality control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48310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4831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competitor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48310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4831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str; example: Northstar Learning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48310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4831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Preserve competitor;check units/identity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741676"/>
            <a:ext cx="2764962" cy="48310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741676"/>
            <a:ext cx="2508930" cy="4831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price_sgd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741676"/>
            <a:ext cx="3934755" cy="48310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741676"/>
            <a:ext cx="3678723" cy="4831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int; example: 480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741676"/>
            <a:ext cx="3934755" cy="48310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741676"/>
            <a:ext cx="3678723" cy="4831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Preserve price_sgd;check units/identity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224784"/>
            <a:ext cx="2764962" cy="48310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224784"/>
            <a:ext cx="2508930" cy="4831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hours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224784"/>
            <a:ext cx="3934755" cy="48310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224784"/>
            <a:ext cx="3678723" cy="4831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int; example: 8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224784"/>
            <a:ext cx="3934755" cy="48310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224784"/>
            <a:ext cx="3678723" cy="4831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Preserve hours;check units/identity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3707892"/>
            <a:ext cx="2764962" cy="48310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3707892"/>
            <a:ext cx="2508930" cy="4831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review_n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3707892"/>
            <a:ext cx="3934755" cy="48310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3707892"/>
            <a:ext cx="3678723" cy="4831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int; example: 24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3707892"/>
            <a:ext cx="3934755" cy="48310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3707892"/>
            <a:ext cx="3678723" cy="4831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Preserve review_n;check units/identity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4191000"/>
            <a:ext cx="2764962" cy="48310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05256" y="4191000"/>
            <a:ext cx="2508930" cy="4831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rating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542202" y="4191000"/>
            <a:ext cx="3934755" cy="48310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70218" y="4191000"/>
            <a:ext cx="3678723" cy="4831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float; example: 4.6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476957" y="4191000"/>
            <a:ext cx="3934755" cy="48310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604973" y="4191000"/>
            <a:ext cx="3678723" cy="4831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Preserve rating;check units/identity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77240" y="4674108"/>
            <a:ext cx="2764962" cy="48310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05256" y="4674108"/>
            <a:ext cx="2508930" cy="4831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claim_id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542202" y="4674108"/>
            <a:ext cx="3934755" cy="48310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70218" y="4674108"/>
            <a:ext cx="3678723" cy="4831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str; example: C01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476957" y="4674108"/>
            <a:ext cx="3934755" cy="48310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604973" y="4674108"/>
            <a:ext cx="3678723" cy="4831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Preserve claim_id;check units/identity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77240" y="5358384"/>
            <a:ext cx="10634472" cy="8412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777240" y="5358384"/>
            <a:ext cx="100584" cy="8412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51560" y="5468112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WHEN IT MATTERS  </a:t>
            </a:r>
            <a:r>
              <a:rPr sz="1200" b="0">
                <a:solidFill>
                  <a:srgbClr val="21201C"/>
                </a:solidFill>
                <a:latin typeface="Calibri"/>
              </a:rPr>
              <a:t>Source rows remain immutable. New computed fields belong in outputs; ambiguous data is qualified rather than invented.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43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LO2 · ACTIVITY 03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Competitor Triangulation · Evidence Exhibit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competitor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price_sgd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hours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Northstar Learning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480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8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Harbour Academy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720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16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Orchid Skills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600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12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599432"/>
            <a:ext cx="10634472" cy="8412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77240" y="4599432"/>
            <a:ext cx="100584" cy="8412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51560" y="4709160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WHEN IT MATTERS  </a:t>
            </a:r>
            <a:r>
              <a:rPr sz="1200" b="0">
                <a:solidFill>
                  <a:srgbClr val="21201C"/>
                </a:solidFill>
                <a:latin typeface="Calibri"/>
              </a:rPr>
              <a:t>This exhibit is an authored synthetic dataset. Read exact units and identifiers before interpreting values.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44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LO2 · ACTIVITY 03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Competitor Triangulation · Worked Calculation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3447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B6862"/>
                </a:solidFill>
                <a:latin typeface="Calibri"/>
              </a:rPr>
              <a:t>Interpret the denominator,units and decision boundary.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86000"/>
            <a:ext cx="5943600" cy="3794760"/>
          </a:xfrm>
          <a:prstGeom prst="rect">
            <a:avLst/>
          </a:prstGeom>
          <a:solidFill>
            <a:srgbClr val="212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2395728"/>
            <a:ext cx="5541264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300">
                <a:solidFill>
                  <a:srgbClr val="B9B4A9"/>
                </a:solidFill>
                <a:latin typeface="Consolas"/>
              </a:rPr>
              <a:t>Price per hour: 480/8 = $60; 720/16 = $45; 600/12 = $50.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F0B89E"/>
                </a:solidFill>
                <a:latin typeface="Consolas"/>
              </a:rPr>
              <a:t>The cheapest total price is not the cheapest hourly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F0B89E"/>
                </a:solidFill>
                <a:latin typeface="Consolas"/>
              </a:rPr>
              <a:t>offer.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95160" y="228600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95160" y="2286000"/>
            <a:ext cx="82296" cy="9144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32904" y="237744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Inputs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32904" y="267004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competitors.csv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95160" y="324612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995160" y="3246120"/>
            <a:ext cx="82296" cy="91440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32904" y="333756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3A7D7B"/>
                </a:solidFill>
                <a:latin typeface="Calibri"/>
              </a:rPr>
              <a:t>Calculation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32904" y="363016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Recompute exact values independently.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95160" y="420624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95160" y="4206240"/>
            <a:ext cx="82296" cy="914400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32904" y="429768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2603F"/>
                </a:solidFill>
                <a:latin typeface="Calibri"/>
              </a:rPr>
              <a:t>Interpretation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32904" y="459028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Synthetic SGD per hour. Harbour is lowest per hour; its eight reviews provide a…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95160" y="516636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995160" y="5166360"/>
            <a:ext cx="82296" cy="914400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32904" y="525780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88A2E"/>
                </a:solidFill>
                <a:latin typeface="Calibri"/>
              </a:rPr>
              <a:t>Boundary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32904" y="555040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Synthetic descriptive evidence;live/causal result not established.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45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LO2 · ACTIVITY 03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Competitor Triangulation · Editable Chart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777240" y="1783080"/>
          <a:ext cx="10634472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ectangle 7"/>
          <p:cNvSpPr/>
          <p:nvPr/>
        </p:nvSpPr>
        <p:spPr>
          <a:xfrm>
            <a:off x="777240" y="5230368"/>
            <a:ext cx="10634472" cy="1005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5230368"/>
            <a:ext cx="100584" cy="100584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5340096"/>
            <a:ext cx="10149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WHAT THE DATA SHOWS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5632704"/>
            <a:ext cx="10149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Synthetic SGD per hour. Harbour is lowest per hour; its eight reviews provide a smaller evidence base for satisfaction.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46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1636776"/>
            <a:ext cx="9144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6B6862"/>
                </a:solidFill>
                <a:latin typeface="Calibri"/>
              </a:rPr>
              <a:t>Advertised tuition (SGD per hour)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LO2 · ACTIVITY 03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Competitor Triangulation · Reproducible Contract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3447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B6862"/>
                </a:solidFill>
                <a:latin typeface="Calibri"/>
              </a:rPr>
              <a:t>Readable excerpt; complete procedure and runnable practice remain in the guide.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86000"/>
            <a:ext cx="5943600" cy="3794760"/>
          </a:xfrm>
          <a:prstGeom prst="rect">
            <a:avLst/>
          </a:prstGeom>
          <a:solidFill>
            <a:srgbClr val="212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2395728"/>
            <a:ext cx="5541264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300">
                <a:solidFill>
                  <a:srgbClr val="C2603F"/>
                </a:solidFill>
                <a:latin typeface="Consolas"/>
              </a:rPr>
              <a:t>import csv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F0B89E"/>
                </a:solidFill>
                <a:latin typeface="Consolas"/>
              </a:rPr>
              <a:t>with open("mock-data/competitors.csv") as f: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B9B4A9"/>
                </a:solidFill>
                <a:latin typeface="Consolas"/>
              </a:rPr>
              <a:t>    rows = list(csv.DictReader(f))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F0B89E"/>
                </a:solidFill>
                <a:latin typeface="Consolas"/>
              </a:rPr>
              <a:t>for r in rows: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B9B4A9"/>
                </a:solidFill>
                <a:latin typeface="Consolas"/>
              </a:rPr>
              <a:t>    r["sgd_per_hour"] = round(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F0B89E"/>
                </a:solidFill>
                <a:latin typeface="Consolas"/>
              </a:rPr>
              <a:t>        float(r["price_sgd"])/float(r["hours"]), 2)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95160" y="228600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95160" y="2286000"/>
            <a:ext cx="82296" cy="9144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32904" y="237744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Data contract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32904" y="267004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competitors.csv; exact field names matter.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95160" y="324612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995160" y="3246120"/>
            <a:ext cx="82296" cy="91440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32904" y="333756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3A7D7B"/>
                </a:solidFill>
                <a:latin typeface="Calibri"/>
              </a:rPr>
              <a:t>Identity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32904" y="363016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Preserve row IDs or segment labels.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95160" y="420624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95160" y="4206240"/>
            <a:ext cx="82296" cy="914400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32904" y="429768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2603F"/>
                </a:solidFill>
                <a:latin typeface="Calibri"/>
              </a:rPr>
              <a:t>Calculation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32904" y="459028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Deterministic code checks the agent narrative.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95160" y="516636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995160" y="5166360"/>
            <a:ext cx="82296" cy="914400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32904" y="525780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88A2E"/>
                </a:solidFill>
                <a:latin typeface="Calibri"/>
              </a:rPr>
              <a:t>Verification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32904" y="555040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Hourly prices 60,45,50; all three claim IDs cited; at least two uncertainty…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47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C2603F"/>
                </a:solidFill>
                <a:latin typeface="Cambria"/>
              </a:rPr>
              <a:t>LO2 · ACTIVITY 03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Competitor Triangulation · Decision Rule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Diamond 6"/>
          <p:cNvSpPr/>
          <p:nvPr/>
        </p:nvSpPr>
        <p:spPr>
          <a:xfrm>
            <a:off x="777240" y="2514600"/>
            <a:ext cx="4206240" cy="2468880"/>
          </a:xfrm>
          <a:prstGeom prst="diamond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Are units, offer scope and dates comparable?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577840" y="1965960"/>
            <a:ext cx="5806440" cy="1371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577840" y="1965960"/>
            <a:ext cx="100584" cy="137160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52160" y="2112264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3A7D7B"/>
                </a:solidFill>
                <a:latin typeface="Cambria"/>
              </a:rPr>
              <a:t>YES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2514600"/>
            <a:ext cx="5303520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Rank with evidence-volume caveat</a:t>
            </a:r>
          </a:p>
        </p:txBody>
      </p:sp>
      <p:cxnSp>
        <p:nvCxnSpPr>
          <p:cNvPr id="12" name="Connector 11"/>
          <p:cNvCxnSpPr/>
          <p:nvPr/>
        </p:nvCxnSpPr>
        <p:spPr>
          <a:xfrm flipV="1">
            <a:off x="4983480" y="2651760"/>
            <a:ext cx="594360" cy="1097280"/>
          </a:xfrm>
          <a:prstGeom prst="line">
            <a:avLst/>
          </a:prstGeom>
          <a:ln w="25400">
            <a:solidFill>
              <a:srgbClr val="3A7D7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577840" y="3977639"/>
            <a:ext cx="5806440" cy="1371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577840" y="3977639"/>
            <a:ext cx="100584" cy="1371600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52160" y="4123943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C88A2E"/>
                </a:solidFill>
                <a:latin typeface="Cambria"/>
              </a:rPr>
              <a:t>NO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4526279"/>
            <a:ext cx="5303520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Normalise or mark non-comparable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983480" y="3749040"/>
            <a:ext cx="594360" cy="914399"/>
          </a:xfrm>
          <a:prstGeom prst="line">
            <a:avLst/>
          </a:prstGeom>
          <a:ln w="25400">
            <a:solidFill>
              <a:srgbClr val="C88A2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777240" y="5623560"/>
            <a:ext cx="10634472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5742432"/>
            <a:ext cx="10149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B6862"/>
                </a:solidFill>
                <a:latin typeface="Calibri"/>
              </a:rPr>
              <a:t>This is an authored research decision rule. It does not grant product permissions or replace human review.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48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LO2 · ACTIVITY 03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Competitor Triangulation · Claim-Evidence Ledger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Claim layer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Evidence required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Permitted wording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Observation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competitor: Northstar Learning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Price per hour: 480/8 = $60; 720/16 = $45; 600/12 = $50. The cheapest total price is not the cheapest hourly…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Inference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Synthetic SGD per hour. Harbour is lowest per hour; its eight reviews provide a smaller evidence…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Are units, offer scope and dates comparable?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Recommendation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Rank with evidence-volume caveat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positioning-note.md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398264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4398264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Unknown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Cowork labels Harbour the market leader from a 4.8 rating based on eight reviews. Rating and evidence volume…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Normalise or mark non-comparable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5312664"/>
            <a:ext cx="10634472" cy="8412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" y="5312664"/>
            <a:ext cx="100584" cy="8412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1560" y="5422392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WHEN IT MATTERS  </a:t>
            </a:r>
            <a:r>
              <a:rPr sz="1200" b="0">
                <a:solidFill>
                  <a:srgbClr val="21201C"/>
                </a:solidFill>
                <a:latin typeface="Calibri"/>
              </a:rPr>
              <a:t>Preserve the distinction between observed data, model output and human decision throughout Cowork and Code handoffs.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49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C88A2E"/>
                </a:solidFill>
                <a:latin typeface="Cambria"/>
              </a:rPr>
              <a:t>LO2 · ACTIVITY 03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Competitor Triangulation · Failure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3447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B6862"/>
                </a:solidFill>
                <a:latin typeface="Calibri"/>
              </a:rPr>
              <a:t>A plausible report can be wrong even when its numbers look polished.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86000"/>
            <a:ext cx="5943600" cy="3794760"/>
          </a:xfrm>
          <a:prstGeom prst="rect">
            <a:avLst/>
          </a:prstGeom>
          <a:solidFill>
            <a:srgbClr val="212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2395728"/>
            <a:ext cx="5541264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300">
                <a:solidFill>
                  <a:srgbClr val="F0B89E"/>
                </a:solidFill>
                <a:latin typeface="Consolas"/>
              </a:rPr>
              <a:t>Cowork labels Harbour the market leader from a 4.8 rating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F0B89E"/>
                </a:solidFill>
                <a:latin typeface="Consolas"/>
              </a:rPr>
              <a:t>based on eight reviews. Rating and evidence volume must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F0B89E"/>
                </a:solidFill>
                <a:latin typeface="Consolas"/>
              </a:rPr>
              <a:t>be evaluated separately.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95160" y="228600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95160" y="2286000"/>
            <a:ext cx="82296" cy="9144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32904" y="237744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Trigger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32904" y="267004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The agent promotes a claim beyond its evidence.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95160" y="324612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995160" y="3246120"/>
            <a:ext cx="82296" cy="91440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32904" y="333756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3A7D7B"/>
                </a:solidFill>
                <a:latin typeface="Calibri"/>
              </a:rPr>
              <a:t>Diagnostic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32904" y="363016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Inspect the underlying rows,scope and denominator.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95160" y="420624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95160" y="4206240"/>
            <a:ext cx="82296" cy="914400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32904" y="429768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2603F"/>
                </a:solidFill>
                <a:latin typeface="Calibri"/>
              </a:rPr>
              <a:t>Recovery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32904" y="459028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Revise the claim and retain the rejected reasoning.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95160" y="516636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995160" y="5166360"/>
            <a:ext cx="82296" cy="914400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32904" y="525780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88A2E"/>
                </a:solidFill>
                <a:latin typeface="Calibri"/>
              </a:rPr>
              <a:t>Recheck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32904" y="555040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Hourly prices 60,45,50; all three claim IDs cited; at least two uncertainty…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50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LO2 · ACTIVITY 03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Competitor Triangulation · Control and Recovery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Control point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Risk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Required evidence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competitor identity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Northstar Learning omitted or changed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Reconcile raw identifiers in competitors.csv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Metric contract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Price per hour: 480/8 = $60; 720/16 = $45; 600/12 = $50. The cheapest total price is not the cheapest hourly…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Independent calculation and named denominator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Inference check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Cowork labels Harbour the market leader from a 4.8 rating based on eight reviews. Rating and evidence volume…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Normalise or mark non-comparable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398264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4398264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Decision output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competitor-matrix.csv and positioning-note.md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Record comparable offer boundaries and source date. Never claim fictional competitors exist. Preserve…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5312664"/>
            <a:ext cx="10634472" cy="8412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" y="5312664"/>
            <a:ext cx="100584" cy="8412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1560" y="5422392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WHEN IT MATTERS  </a:t>
            </a:r>
            <a:r>
              <a:rPr sz="1200" b="0">
                <a:solidFill>
                  <a:srgbClr val="21201C"/>
                </a:solidFill>
                <a:latin typeface="Calibri"/>
              </a:rPr>
              <a:t>Record comparable offer boundaries and source date. Never claim fictional competitors exist. Preserve unknowns instead of filling gaps with plausible text.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51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LO2 · ACTIVITY 03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Competitor Triangulation · Output Handoff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48840"/>
            <a:ext cx="2370582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79067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7906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competitors.csv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Raw 3 records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202686" y="3223260"/>
            <a:ext cx="274320" cy="0"/>
          </a:xfrm>
          <a:prstGeom prst="line">
            <a:avLst/>
          </a:prstGeom>
          <a:ln w="25400">
            <a:solidFill>
              <a:srgbClr val="D977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353187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31870" y="2148840"/>
            <a:ext cx="2370582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433697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369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988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competitor audit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2331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Preserve identifiers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957316" y="3223260"/>
            <a:ext cx="274320" cy="0"/>
          </a:xfrm>
          <a:prstGeom prst="line">
            <a:avLst/>
          </a:prstGeom>
          <a:ln w="25400">
            <a:solidFill>
              <a:srgbClr val="D977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628650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86500" y="2148840"/>
            <a:ext cx="2370582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188327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8832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451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competitor-matrix.csv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794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Computed evidence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711946" y="3223260"/>
            <a:ext cx="274320" cy="0"/>
          </a:xfrm>
          <a:prstGeom prst="line">
            <a:avLst/>
          </a:prstGeom>
          <a:ln w="25400">
            <a:solidFill>
              <a:srgbClr val="D977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904113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041130" y="2148840"/>
            <a:ext cx="2370582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942957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94295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914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Human decision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3257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Reviewer decision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77240" y="4608576"/>
            <a:ext cx="10634472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77240" y="4608576"/>
            <a:ext cx="100584" cy="105156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51560" y="4718304"/>
            <a:ext cx="10149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OUTPUT CONTRACT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1560" y="5029200"/>
            <a:ext cx="1014984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21201C"/>
                </a:solidFill>
                <a:latin typeface="Calibri"/>
              </a:rPr>
              <a:t>Price per hour: 480/8 = $60; 720/16 = $45; 600/12 = $50. The cheapest total price is not the cheapest hourly offer. Output: competitor-matrix.csv and positioning-note.md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52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transition spd="fast" advClick="1">
    <p:fade/>
  </p:transition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LO2 · ACTIVITY 03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Competitor Triangulation · Acceptance Evidence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10634472" cy="1965960"/>
          </a:xfrm>
          <a:prstGeom prst="rect">
            <a:avLst/>
          </a:prstGeom>
          <a:solidFill>
            <a:srgbClr val="EA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100584" cy="1965960"/>
          </a:xfrm>
          <a:prstGeom prst="rect">
            <a:avLst/>
          </a:prstGeom>
          <a:solidFill>
            <a:srgbClr val="4A8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38528"/>
            <a:ext cx="1005840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4A8F5F"/>
                </a:solidFill>
                <a:latin typeface="Cambria"/>
              </a:rPr>
              <a:t>✅  Expected result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395728"/>
            <a:ext cx="10058400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21201C"/>
                </a:solidFill>
                <a:latin typeface="Calibri"/>
              </a:rPr>
              <a:t>Hourly prices 60,45,50; all three claim IDs cited; at least two uncertainty statements; no unsupported leadership claim.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950208"/>
            <a:ext cx="1063447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C88A2E"/>
                </a:solidFill>
                <a:latin typeface="Calibri"/>
              </a:rPr>
              <a:t>IF IT DOESN'T WORK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4297680"/>
            <a:ext cx="3392424" cy="15727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4297680"/>
            <a:ext cx="3392424" cy="82296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6696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21201C"/>
                </a:solidFill>
                <a:latin typeface="Calibri"/>
              </a:rPr>
              <a:t>Numbers disagree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6696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6862"/>
                </a:solidFill>
                <a:latin typeface="Calibri"/>
              </a:rPr>
              <a:t>Check header parsing,units,denominator and duplicate records.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98264" y="4297680"/>
            <a:ext cx="3392424" cy="15727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98264" y="4297680"/>
            <a:ext cx="3392424" cy="82296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17720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21201C"/>
                </a:solidFill>
                <a:latin typeface="Calibri"/>
              </a:rPr>
              <a:t>Claim lacks a source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6862"/>
                </a:solidFill>
                <a:latin typeface="Calibri"/>
              </a:rPr>
              <a:t>Add row IDs and scope; downgrade or remove unsupported inference.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19288" y="4297680"/>
            <a:ext cx="3392424" cy="15727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19288" y="4297680"/>
            <a:ext cx="3392424" cy="82296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38744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21201C"/>
                </a:solidFill>
                <a:latin typeface="Calibri"/>
              </a:rPr>
              <a:t>Tool unavailable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38744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6862"/>
                </a:solidFill>
                <a:latin typeface="Calibri"/>
              </a:rPr>
              <a:t>Use the documented CSV fallback and state the unexecuted product boundary.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53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LO2 · ACTIVITY 04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Review Themes and Bias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19072"/>
            <a:ext cx="1554480" cy="420624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5544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mbria"/>
              </a:rPr>
              <a:t>ACTIVITY 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87168" y="1719072"/>
            <a:ext cx="88696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B6862"/>
                </a:solidFill>
                <a:latin typeface="Calibri"/>
              </a:rPr>
              <a:t>ICT-SNM-3007-1.1 · LO2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86000"/>
            <a:ext cx="10634472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21201C"/>
                </a:solidFill>
                <a:latin typeface="Calibri"/>
              </a:rPr>
              <a:t>Eight fictional course reviews mention timing, relevance and support. An agent must code textual evidence without inventing customer identities or treating volunteered reviews as a representative survey.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474720"/>
            <a:ext cx="3392424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3474720"/>
            <a:ext cx="3392424" cy="9144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6696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YOU'LL BUILD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6696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coded-reviews.csv and theme-memo.md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98264" y="3474720"/>
            <a:ext cx="3392424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98264" y="3474720"/>
            <a:ext cx="3392424" cy="9144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17720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TOOLCHAIN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Claude Cowork · Claude Code · CSV / Markdown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19288" y="3474720"/>
            <a:ext cx="3392424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19288" y="3474720"/>
            <a:ext cx="3392424" cy="91440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8744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C2603F"/>
                </a:solidFill>
                <a:latin typeface="Calibri"/>
              </a:rPr>
              <a:t>DONE WHEN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38744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Eight review IDs retained; 3 timing,3 relevance,2 support; R08 mixed qualifier; selection-bias limitation.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54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LO2 · ACTIVITY 04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Review Themes and Bias · Data and Trust Boundaries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48840"/>
            <a:ext cx="2370582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79067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7906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Raw inputs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reviews.csv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202686" y="3223260"/>
            <a:ext cx="274320" cy="0"/>
          </a:xfrm>
          <a:prstGeom prst="line">
            <a:avLst/>
          </a:prstGeom>
          <a:ln w="25400">
            <a:solidFill>
              <a:srgbClr val="D977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353187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31870" y="2148840"/>
            <a:ext cx="2370582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433697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369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988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Evidence checks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2331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IDs,date,units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957316" y="3223260"/>
            <a:ext cx="274320" cy="0"/>
          </a:xfrm>
          <a:prstGeom prst="line">
            <a:avLst/>
          </a:prstGeom>
          <a:ln w="25400">
            <a:solidFill>
              <a:srgbClr val="D977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628650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86500" y="2148840"/>
            <a:ext cx="2370582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188327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8832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451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Deterministic analysis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794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Schema and formulas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711946" y="3223260"/>
            <a:ext cx="274320" cy="0"/>
          </a:xfrm>
          <a:prstGeom prst="line">
            <a:avLst/>
          </a:prstGeom>
          <a:ln w="25400">
            <a:solidFill>
              <a:srgbClr val="D977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904113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041130" y="2148840"/>
            <a:ext cx="2370582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942957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94295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914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Human decision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3257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Review before action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77240" y="4608576"/>
            <a:ext cx="10634472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77240" y="4608576"/>
            <a:ext cx="100584" cy="105156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51560" y="4718304"/>
            <a:ext cx="10149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CONTRACT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1560" y="5029200"/>
            <a:ext cx="1014984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21201C"/>
                </a:solidFill>
                <a:latin typeface="Calibri"/>
              </a:rPr>
              <a:t>Define codebook -&gt; quote evidence -&gt; assign theme -&gt; review disagreement -&gt; count -&gt; qualify interpretation. Keep negation and mixed sentiment visible.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55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transition spd="fast" advClick="1">
    <p:fade/>
  </p:transition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LO2 · ACTIVITY 04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Review Themes and Bias · Input Schema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Field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Contract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Quality control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review_id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str; example: R01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Preserve review_id;check units/identity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segment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str; example: working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Preserve segment;check units/identity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text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str; example: Evening timing fits my work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Preserve text;check units/identity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398264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4398264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theme_reference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str; example: timing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Preserve theme_reference;check units/identity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5312664"/>
            <a:ext cx="10634472" cy="8412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" y="5312664"/>
            <a:ext cx="100584" cy="8412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1560" y="5422392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WHEN IT MATTERS  </a:t>
            </a:r>
            <a:r>
              <a:rPr sz="1200" b="0">
                <a:solidFill>
                  <a:srgbClr val="21201C"/>
                </a:solidFill>
                <a:latin typeface="Calibri"/>
              </a:rPr>
              <a:t>Source rows remain immutable. New computed fields belong in outputs; ambiguous data is qualified rather than invented.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56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LO2 · ACTIVITY 04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Review Themes and Bias · Evidence Exhibit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review_id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text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theme_reference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36233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R01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36233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Evening timing fits my work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36233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timing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620899"/>
            <a:ext cx="2764962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620899"/>
            <a:ext cx="2508930" cy="36233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R02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620899"/>
            <a:ext cx="3934755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620899"/>
            <a:ext cx="3678723" cy="36233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Need more relevant marketing examples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620899"/>
            <a:ext cx="3934755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620899"/>
            <a:ext cx="3678723" cy="36233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relevance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2983230"/>
            <a:ext cx="2764962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2983230"/>
            <a:ext cx="2508930" cy="36233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R03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2983230"/>
            <a:ext cx="3934755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2983230"/>
            <a:ext cx="3678723" cy="36233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Support answered my questions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2983230"/>
            <a:ext cx="3934755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2983230"/>
            <a:ext cx="3678723" cy="36233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support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3345561"/>
            <a:ext cx="2764962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3345561"/>
            <a:ext cx="2508930" cy="36233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R04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3345561"/>
            <a:ext cx="3934755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3345561"/>
            <a:ext cx="3678723" cy="36233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Weekend timing is easier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3345561"/>
            <a:ext cx="3934755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3345561"/>
            <a:ext cx="3678723" cy="36233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timing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3707892"/>
            <a:ext cx="2764962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05256" y="3707892"/>
            <a:ext cx="2508930" cy="36233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R05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542202" y="3707892"/>
            <a:ext cx="3934755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70218" y="3707892"/>
            <a:ext cx="3678723" cy="36233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Relevant exercises helped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476957" y="3707892"/>
            <a:ext cx="3934755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604973" y="3707892"/>
            <a:ext cx="3678723" cy="36233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relevance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77240" y="4070223"/>
            <a:ext cx="2764962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05256" y="4070223"/>
            <a:ext cx="2508930" cy="36233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R06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542202" y="4070223"/>
            <a:ext cx="3934755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70218" y="4070223"/>
            <a:ext cx="3678723" cy="36233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Support reply was slow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476957" y="4070223"/>
            <a:ext cx="3934755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604973" y="4070223"/>
            <a:ext cx="3678723" cy="36233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support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77240" y="4432554"/>
            <a:ext cx="2764962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05256" y="4432554"/>
            <a:ext cx="2508930" cy="36233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R07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542202" y="4432554"/>
            <a:ext cx="3934755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670218" y="4432554"/>
            <a:ext cx="3678723" cy="36233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Evening timing is useful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476957" y="4432554"/>
            <a:ext cx="3934755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604973" y="4432554"/>
            <a:ext cx="3678723" cy="36233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timing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77240" y="4794885"/>
            <a:ext cx="2764962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05256" y="4794885"/>
            <a:ext cx="2508930" cy="36233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R08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542202" y="4794885"/>
            <a:ext cx="3934755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670218" y="4794885"/>
            <a:ext cx="3678723" cy="36233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Relevant examples but rushed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476957" y="4794885"/>
            <a:ext cx="3934755" cy="362331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604973" y="4794885"/>
            <a:ext cx="3678723" cy="36233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relevance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77240" y="5358384"/>
            <a:ext cx="10634472" cy="8412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77240" y="5358384"/>
            <a:ext cx="100584" cy="8412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51560" y="5468112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WHEN IT MATTERS  </a:t>
            </a:r>
            <a:r>
              <a:rPr sz="1200" b="0">
                <a:solidFill>
                  <a:srgbClr val="21201C"/>
                </a:solidFill>
                <a:latin typeface="Calibri"/>
              </a:rPr>
              <a:t>This exhibit is an authored synthetic dataset. Read exact units and identifiers before interpreting values.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57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LO2 · ACTIVITY 04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Review Themes and Bias · Worked Calculation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3447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B6862"/>
                </a:solidFill>
                <a:latin typeface="Calibri"/>
              </a:rPr>
              <a:t>Interpret the denominator,units and decision boundary.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86000"/>
            <a:ext cx="5943600" cy="3794760"/>
          </a:xfrm>
          <a:prstGeom prst="rect">
            <a:avLst/>
          </a:prstGeom>
          <a:solidFill>
            <a:srgbClr val="212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2395728"/>
            <a:ext cx="5541264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300">
                <a:solidFill>
                  <a:srgbClr val="B9B4A9"/>
                </a:solidFill>
                <a:latin typeface="Consolas"/>
              </a:rPr>
              <a:t>Timing mentions = 3/8 = 37.5%; relevance = 3/8; support =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F0B89E"/>
                </a:solidFill>
                <a:latin typeface="Consolas"/>
              </a:rPr>
              <a:t>2/8. These are coded mentions, not sentiment scores or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F0B89E"/>
                </a:solidFill>
                <a:latin typeface="Consolas"/>
              </a:rPr>
              <a:t>market prevalence.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95160" y="228600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95160" y="2286000"/>
            <a:ext cx="82296" cy="9144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32904" y="237744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Inputs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32904" y="267004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reviews.csv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95160" y="324612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995160" y="3246120"/>
            <a:ext cx="82296" cy="91440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32904" y="333756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3A7D7B"/>
                </a:solidFill>
                <a:latin typeface="Calibri"/>
              </a:rPr>
              <a:t>Calculation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32904" y="363016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Recompute exact values independently.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95160" y="420624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95160" y="4206240"/>
            <a:ext cx="82296" cy="914400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32904" y="429768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2603F"/>
                </a:solidFill>
                <a:latin typeface="Calibri"/>
              </a:rPr>
              <a:t>Interpretation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32904" y="459028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Synthetic coded mentions. Equal theme counts do not imply equal strategic…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95160" y="516636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995160" y="5166360"/>
            <a:ext cx="82296" cy="914400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32904" y="525780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88A2E"/>
                </a:solidFill>
                <a:latin typeface="Calibri"/>
              </a:rPr>
              <a:t>Boundary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32904" y="555040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Synthetic descriptive evidence;live/causal result not established.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58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LO2 · ACTIVITY 04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Review Themes and Bias · Editable Chart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777240" y="1783080"/>
          <a:ext cx="10634472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ectangle 7"/>
          <p:cNvSpPr/>
          <p:nvPr/>
        </p:nvSpPr>
        <p:spPr>
          <a:xfrm>
            <a:off x="777240" y="5230368"/>
            <a:ext cx="10634472" cy="1005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5230368"/>
            <a:ext cx="100584" cy="100584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5340096"/>
            <a:ext cx="10149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WHAT THE DATA SHOWS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5632704"/>
            <a:ext cx="10149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Synthetic coded mentions. Equal theme counts do not imply equal strategic importance; preserve the supporting review IDs.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59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1636776"/>
            <a:ext cx="9144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6B6862"/>
                </a:solidFill>
                <a:latin typeface="Calibri"/>
              </a:rPr>
              <a:t>Count of coded review mentions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LO2 · ACTIVITY 04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Review Themes and Bias · Reproducible Contract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3447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B6862"/>
                </a:solidFill>
                <a:latin typeface="Calibri"/>
              </a:rPr>
              <a:t>Readable excerpt; complete procedure and runnable practice remain in the guide.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86000"/>
            <a:ext cx="5943600" cy="3794760"/>
          </a:xfrm>
          <a:prstGeom prst="rect">
            <a:avLst/>
          </a:prstGeom>
          <a:solidFill>
            <a:srgbClr val="212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2395728"/>
            <a:ext cx="5541264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300">
                <a:solidFill>
                  <a:srgbClr val="C2603F"/>
                </a:solidFill>
                <a:latin typeface="Consolas"/>
              </a:rPr>
              <a:t>import csv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C2603F"/>
                </a:solidFill>
                <a:latin typeface="Consolas"/>
              </a:rPr>
              <a:t>from collections import Counter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F0B89E"/>
                </a:solidFill>
                <a:latin typeface="Consolas"/>
              </a:rPr>
              <a:t>with open("mock-data/reviews.csv") as f: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B9B4A9"/>
                </a:solidFill>
                <a:latin typeface="Consolas"/>
              </a:rPr>
              <a:t>    rows = list(csv.DictReader(f))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B9B4A9"/>
                </a:solidFill>
                <a:latin typeface="Consolas"/>
              </a:rPr>
              <a:t>counts = Counter(r["theme_reference"] for r in rows)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B9B4A9"/>
                </a:solidFill>
                <a:latin typeface="Consolas"/>
              </a:rPr>
              <a:t>assert sum(counts.values()) == 8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95160" y="228600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95160" y="2286000"/>
            <a:ext cx="82296" cy="9144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32904" y="237744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Data contract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32904" y="267004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reviews.csv; exact field names matter.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95160" y="324612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995160" y="3246120"/>
            <a:ext cx="82296" cy="91440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32904" y="333756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3A7D7B"/>
                </a:solidFill>
                <a:latin typeface="Calibri"/>
              </a:rPr>
              <a:t>Identity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32904" y="363016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Preserve row IDs or segment labels.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95160" y="420624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95160" y="4206240"/>
            <a:ext cx="82296" cy="914400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32904" y="429768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2603F"/>
                </a:solidFill>
                <a:latin typeface="Calibri"/>
              </a:rPr>
              <a:t>Calculation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32904" y="459028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Deterministic code checks the agent narrative.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95160" y="516636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995160" y="5166360"/>
            <a:ext cx="82296" cy="914400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32904" y="525780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88A2E"/>
                </a:solidFill>
                <a:latin typeface="Calibri"/>
              </a:rPr>
              <a:t>Verification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32904" y="555040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Eight review IDs retained; 3 timing,3 relevance,2 support; R08 mixed qualifier…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60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C2603F"/>
                </a:solidFill>
                <a:latin typeface="Cambria"/>
              </a:rPr>
              <a:t>LO2 · ACTIVITY 04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Review Themes and Bias · Decision Rule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Diamond 6"/>
          <p:cNvSpPr/>
          <p:nvPr/>
        </p:nvSpPr>
        <p:spPr>
          <a:xfrm>
            <a:off x="777240" y="2514600"/>
            <a:ext cx="4206240" cy="2468880"/>
          </a:xfrm>
          <a:prstGeom prst="diamond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Can the theme be traced to explicit wording?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577840" y="1965960"/>
            <a:ext cx="5806440" cy="1371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577840" y="1965960"/>
            <a:ext cx="100584" cy="137160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52160" y="2112264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3A7D7B"/>
                </a:solidFill>
                <a:latin typeface="Cambria"/>
              </a:rPr>
              <a:t>YES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2514600"/>
            <a:ext cx="5303520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Code with quotation and qualifier</a:t>
            </a:r>
          </a:p>
        </p:txBody>
      </p:sp>
      <p:cxnSp>
        <p:nvCxnSpPr>
          <p:cNvPr id="12" name="Connector 11"/>
          <p:cNvCxnSpPr/>
          <p:nvPr/>
        </p:nvCxnSpPr>
        <p:spPr>
          <a:xfrm flipV="1">
            <a:off x="4983480" y="2651760"/>
            <a:ext cx="594360" cy="1097280"/>
          </a:xfrm>
          <a:prstGeom prst="line">
            <a:avLst/>
          </a:prstGeom>
          <a:ln w="25400">
            <a:solidFill>
              <a:srgbClr val="3A7D7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577840" y="3977639"/>
            <a:ext cx="5806440" cy="1371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577840" y="3977639"/>
            <a:ext cx="100584" cy="1371600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52160" y="4123943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C88A2E"/>
                </a:solidFill>
                <a:latin typeface="Cambria"/>
              </a:rPr>
              <a:t>NO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4526279"/>
            <a:ext cx="5303520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Mark uncertain; human review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983480" y="3749040"/>
            <a:ext cx="594360" cy="914399"/>
          </a:xfrm>
          <a:prstGeom prst="line">
            <a:avLst/>
          </a:prstGeom>
          <a:ln w="25400">
            <a:solidFill>
              <a:srgbClr val="C88A2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777240" y="5623560"/>
            <a:ext cx="10634472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5742432"/>
            <a:ext cx="10149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B6862"/>
                </a:solidFill>
                <a:latin typeface="Calibri"/>
              </a:rPr>
              <a:t>This is an authored research decision rule. It does not grant product permissions or replace human review.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61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LO2 · ACTIVITY 04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Review Themes and Bias · Claim-Evidence Ledger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Claim layer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Evidence required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Permitted wording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Observation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review_id: R01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Timing mentions = 3/8 = 37.5%; relevance = 3/8; support = 2/8. These are coded mentions, not sentiment scores…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Inference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Synthetic coded mentions. Equal theme counts do not imply equal strategic importance; preserve the…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Can the theme be traced to explicit wording?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Recommendation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Code with quotation and qualifier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theme-memo.md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398264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4398264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Unknown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R08 is flattened into positive sentiment although it says the exercises were rushed. Mixed sentiment needs a…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Mark uncertain; human review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5312664"/>
            <a:ext cx="10634472" cy="8412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" y="5312664"/>
            <a:ext cx="100584" cy="8412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1560" y="5422392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WHEN IT MATTERS  </a:t>
            </a:r>
            <a:r>
              <a:rPr sz="1200" b="0">
                <a:solidFill>
                  <a:srgbClr val="21201C"/>
                </a:solidFill>
                <a:latin typeface="Calibri"/>
              </a:rPr>
              <a:t>Preserve the distinction between observed data, model output and human decision throughout Cowork and Code handoffs.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62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C88A2E"/>
                </a:solidFill>
                <a:latin typeface="Cambria"/>
              </a:rPr>
              <a:t>LO2 · ACTIVITY 04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Review Themes and Bias · Failure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3447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B6862"/>
                </a:solidFill>
                <a:latin typeface="Calibri"/>
              </a:rPr>
              <a:t>A plausible report can be wrong even when its numbers look polished.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86000"/>
            <a:ext cx="5943600" cy="3794760"/>
          </a:xfrm>
          <a:prstGeom prst="rect">
            <a:avLst/>
          </a:prstGeom>
          <a:solidFill>
            <a:srgbClr val="212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2395728"/>
            <a:ext cx="5541264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300">
                <a:solidFill>
                  <a:srgbClr val="F0B89E"/>
                </a:solidFill>
                <a:latin typeface="Consolas"/>
              </a:rPr>
              <a:t>R08 is flattened into positive sentiment although it says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F0B89E"/>
                </a:solidFill>
                <a:latin typeface="Consolas"/>
              </a:rPr>
              <a:t>the exercises were rushed. Mixed sentiment needs a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F0B89E"/>
                </a:solidFill>
                <a:latin typeface="Consolas"/>
              </a:rPr>
              <a:t>separate qualifier.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95160" y="228600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95160" y="2286000"/>
            <a:ext cx="82296" cy="9144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32904" y="237744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Trigger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32904" y="267004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The agent promotes a claim beyond its evidence.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95160" y="324612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995160" y="3246120"/>
            <a:ext cx="82296" cy="91440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32904" y="333756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3A7D7B"/>
                </a:solidFill>
                <a:latin typeface="Calibri"/>
              </a:rPr>
              <a:t>Diagnostic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32904" y="363016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Inspect the underlying rows,scope and denominator.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95160" y="420624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95160" y="4206240"/>
            <a:ext cx="82296" cy="914400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32904" y="429768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2603F"/>
                </a:solidFill>
                <a:latin typeface="Calibri"/>
              </a:rPr>
              <a:t>Recovery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32904" y="459028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Revise the claim and retain the rejected reasoning.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95160" y="516636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995160" y="5166360"/>
            <a:ext cx="82296" cy="914400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32904" y="525780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88A2E"/>
                </a:solidFill>
                <a:latin typeface="Calibri"/>
              </a:rPr>
              <a:t>Recheck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32904" y="555040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Eight review IDs retained; 3 timing,3 relevance,2 support; R08 mixed qualifier…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63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LO2 · ACTIVITY 04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Review Themes and Bias · Control and Recovery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Control point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Risk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Required evidence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review_id identity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R01 omitted or changed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Reconcile raw identifiers in reviews.csv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Metric contract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Timing mentions = 3/8 = 37.5%; relevance = 3/8; support = 2/8. These are coded mentions, not sentiment scores…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Independent calculation and named denominator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Inference check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R08 is flattened into positive sentiment although it says the exercises were rushed. Mixed sentiment needs a…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Mark uncertain; human review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398264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4398264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Decision output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coded-reviews.csv and theme-memo.md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Use short de-identified extracts; maintain row-level auditability; have a human review ambiguous assignments…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5312664"/>
            <a:ext cx="10634472" cy="8412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" y="5312664"/>
            <a:ext cx="100584" cy="8412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1560" y="5422392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WHEN IT MATTERS  </a:t>
            </a:r>
            <a:r>
              <a:rPr sz="1200" b="0">
                <a:solidFill>
                  <a:srgbClr val="21201C"/>
                </a:solidFill>
                <a:latin typeface="Calibri"/>
              </a:rPr>
              <a:t>Use short de-identified extracts; maintain row-level auditability; have a human review ambiguous assignments; do not infer protected characteristics.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64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LO2 · ACTIVITY 04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Review Themes and Bias · Output Handoff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48840"/>
            <a:ext cx="2370582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79067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7906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reviews.csv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Raw 8 records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202686" y="3223260"/>
            <a:ext cx="274320" cy="0"/>
          </a:xfrm>
          <a:prstGeom prst="line">
            <a:avLst/>
          </a:prstGeom>
          <a:ln w="25400">
            <a:solidFill>
              <a:srgbClr val="D977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353187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31870" y="2148840"/>
            <a:ext cx="2370582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433697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369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988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review_id audit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2331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Preserve identifiers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957316" y="3223260"/>
            <a:ext cx="274320" cy="0"/>
          </a:xfrm>
          <a:prstGeom prst="line">
            <a:avLst/>
          </a:prstGeom>
          <a:ln w="25400">
            <a:solidFill>
              <a:srgbClr val="D977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628650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86500" y="2148840"/>
            <a:ext cx="2370582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188327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8832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451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coded-reviews.csv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794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Computed evidence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711946" y="3223260"/>
            <a:ext cx="274320" cy="0"/>
          </a:xfrm>
          <a:prstGeom prst="line">
            <a:avLst/>
          </a:prstGeom>
          <a:ln w="25400">
            <a:solidFill>
              <a:srgbClr val="D977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904113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041130" y="2148840"/>
            <a:ext cx="2370582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942957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94295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914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Human decision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3257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Reviewer decision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77240" y="4608576"/>
            <a:ext cx="10634472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77240" y="4608576"/>
            <a:ext cx="100584" cy="105156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51560" y="4718304"/>
            <a:ext cx="10149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OUTPUT CONTRACT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1560" y="5029200"/>
            <a:ext cx="1014984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21201C"/>
                </a:solidFill>
                <a:latin typeface="Calibri"/>
              </a:rPr>
              <a:t>Timing mentions = 3/8 = 37.5%; relevance = 3/8; support = 2/8. These are coded mentions, not sentiment scores or market prevalence. Output: coded-reviews.csv and theme-memo.md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65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transition spd="fast" advClick="1">
    <p:fade/>
  </p:transition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LO2 · ACTIVITY 04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Review Themes and Bias · Acceptance Evidence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10634472" cy="1965960"/>
          </a:xfrm>
          <a:prstGeom prst="rect">
            <a:avLst/>
          </a:prstGeom>
          <a:solidFill>
            <a:srgbClr val="EA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100584" cy="1965960"/>
          </a:xfrm>
          <a:prstGeom prst="rect">
            <a:avLst/>
          </a:prstGeom>
          <a:solidFill>
            <a:srgbClr val="4A8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38528"/>
            <a:ext cx="1005840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4A8F5F"/>
                </a:solidFill>
                <a:latin typeface="Cambria"/>
              </a:rPr>
              <a:t>✅  Expected result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395728"/>
            <a:ext cx="10058400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21201C"/>
                </a:solidFill>
                <a:latin typeface="Calibri"/>
              </a:rPr>
              <a:t>Eight review IDs retained; 3 timing,3 relevance,2 support; R08 mixed qualifier; selection-bias limitation.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950208"/>
            <a:ext cx="1063447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C88A2E"/>
                </a:solidFill>
                <a:latin typeface="Calibri"/>
              </a:rPr>
              <a:t>IF IT DOESN'T WORK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4297680"/>
            <a:ext cx="3392424" cy="15727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4297680"/>
            <a:ext cx="3392424" cy="82296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6696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21201C"/>
                </a:solidFill>
                <a:latin typeface="Calibri"/>
              </a:rPr>
              <a:t>Numbers disagree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6696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6862"/>
                </a:solidFill>
                <a:latin typeface="Calibri"/>
              </a:rPr>
              <a:t>Check header parsing,units,denominator and duplicate records.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98264" y="4297680"/>
            <a:ext cx="3392424" cy="15727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98264" y="4297680"/>
            <a:ext cx="3392424" cy="82296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17720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21201C"/>
                </a:solidFill>
                <a:latin typeface="Calibri"/>
              </a:rPr>
              <a:t>Claim lacks a source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6862"/>
                </a:solidFill>
                <a:latin typeface="Calibri"/>
              </a:rPr>
              <a:t>Add row IDs and scope; downgrade or remove unsupported inference.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19288" y="4297680"/>
            <a:ext cx="3392424" cy="15727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19288" y="4297680"/>
            <a:ext cx="3392424" cy="82296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38744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21201C"/>
                </a:solidFill>
                <a:latin typeface="Calibri"/>
              </a:rPr>
              <a:t>Tool unavailable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38744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6862"/>
                </a:solidFill>
                <a:latin typeface="Calibri"/>
              </a:rPr>
              <a:t>Use the documented CSV fallback and state the unexecuted product boundary.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66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D97757"/>
                </a:solidFill>
                <a:latin typeface="Cambria"/>
              </a:rPr>
              <a:t>LEARNING OUTCOME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21201C"/>
                </a:solidFill>
                <a:latin typeface="Cambria"/>
              </a:rPr>
              <a:t>Behaviour and Demand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6052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6B6862"/>
                </a:solidFill>
                <a:latin typeface="Calibri"/>
              </a:rPr>
              <a:t>Cowork evidence synthesis · Claude Code reproducible analysis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8E5DE"/>
                </a:solidFill>
                <a:latin typeface="Cambria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67</a:t>
            </a:r>
          </a:p>
        </p:txBody>
      </p:sp>
    </p:spTree>
  </p:cSld>
  <p:clrMapOvr>
    <a:masterClrMapping/>
  </p:clrMapOvr>
  <p:transition spd="med" advClick="1">
    <p:push dir="l"/>
  </p:transition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LO3 · ACTIVITY 05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Segments and Customer Value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19072"/>
            <a:ext cx="1554480" cy="420624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5544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mbria"/>
              </a:rPr>
              <a:t>ACTIVITY 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87168" y="1719072"/>
            <a:ext cx="88696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B6862"/>
                </a:solidFill>
                <a:latin typeface="Calibri"/>
              </a:rPr>
              <a:t>ICT-SNM-3007-1.1 · LO3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86000"/>
            <a:ext cx="10634472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21201C"/>
                </a:solidFill>
                <a:latin typeface="Calibri"/>
              </a:rPr>
              <a:t>A fictional programme has working professionals and career switchers. Behavioural segments should guide research questions and consented messaging, with customer value calculated using explicit margin and retention assumptions.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474720"/>
            <a:ext cx="3392424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3474720"/>
            <a:ext cx="3392424" cy="9144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6696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YOU'LL BUILD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6696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segment-value.csv and persona-hypotheses.md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98264" y="3474720"/>
            <a:ext cx="3392424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98264" y="3474720"/>
            <a:ext cx="3392424" cy="9144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17720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TOOLCHAIN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Claude Cowork · Claude Code · CSV / Markdown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19288" y="3474720"/>
            <a:ext cx="3392424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19288" y="3474720"/>
            <a:ext cx="3392424" cy="91440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8744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C2603F"/>
                </a:solidFill>
                <a:latin typeface="Calibri"/>
              </a:rPr>
              <a:t>DONE WHEN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38744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Margins/customer 300,200,500; total customers 80; no invented demographic traits; retained-margin assumptions explicit.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68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LO3 · ACTIVITY 05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21201C"/>
                </a:solidFill>
                <a:latin typeface="Calibri"/>
              </a:rPr>
              <a:t>Segments and Customer Value · Data and Trust Boundaries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48840"/>
            <a:ext cx="2370582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79067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7906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Raw inputs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segments.csv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202686" y="3223260"/>
            <a:ext cx="274320" cy="0"/>
          </a:xfrm>
          <a:prstGeom prst="line">
            <a:avLst/>
          </a:prstGeom>
          <a:ln w="25400">
            <a:solidFill>
              <a:srgbClr val="D977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353187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31870" y="2148840"/>
            <a:ext cx="2370582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433697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369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988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Evidence checks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2331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IDs,date,units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957316" y="3223260"/>
            <a:ext cx="274320" cy="0"/>
          </a:xfrm>
          <a:prstGeom prst="line">
            <a:avLst/>
          </a:prstGeom>
          <a:ln w="25400">
            <a:solidFill>
              <a:srgbClr val="D977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628650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86500" y="2148840"/>
            <a:ext cx="2370582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188327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8832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451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Deterministic analysis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794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Schema and formulas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711946" y="3223260"/>
            <a:ext cx="274320" cy="0"/>
          </a:xfrm>
          <a:prstGeom prst="line">
            <a:avLst/>
          </a:prstGeom>
          <a:ln w="25400">
            <a:solidFill>
              <a:srgbClr val="D977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904113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041130" y="2148840"/>
            <a:ext cx="2370582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942957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94295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914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Human decision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3257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Review before action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77240" y="4608576"/>
            <a:ext cx="10634472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77240" y="4608576"/>
            <a:ext cx="100584" cy="105156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51560" y="4718304"/>
            <a:ext cx="10149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CONTRACT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1560" y="5029200"/>
            <a:ext cx="1014984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21201C"/>
                </a:solidFill>
                <a:latin typeface="Calibri"/>
              </a:rPr>
              <a:t>Choose observable non-sensitive variables, compute group sizes and values, validate distinct needs with evidence, avoid assigning personas beyond available data.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69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transition spd="fast" advClick="1">
    <p:fade/>
  </p:transition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LO3 · ACTIVITY 05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Segments and Customer Value · Input Schema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Field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Contract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Quality control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segment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str; example: Working professionals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Preserve segment;check units/identity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838297"/>
            <a:ext cx="2764962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838297"/>
            <a:ext cx="2508930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customers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838297"/>
            <a:ext cx="3934755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838297"/>
            <a:ext cx="3678723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int; example: 40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838297"/>
            <a:ext cx="3934755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838297"/>
            <a:ext cx="3678723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Preserve customers;check units/identity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418026"/>
            <a:ext cx="2764962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418026"/>
            <a:ext cx="2508930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revenue_sgd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418026"/>
            <a:ext cx="3934755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418026"/>
            <a:ext cx="3678723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int; example: 24000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418026"/>
            <a:ext cx="3934755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418026"/>
            <a:ext cx="3678723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Preserve revenue_sgd;check units/identity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3997755"/>
            <a:ext cx="2764962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3997755"/>
            <a:ext cx="2508930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cost_sgd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3997755"/>
            <a:ext cx="3934755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3997755"/>
            <a:ext cx="3678723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int; example: 12000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3997755"/>
            <a:ext cx="3934755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3997755"/>
            <a:ext cx="3678723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Preserve cost_sgd;check units/identity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4577484"/>
            <a:ext cx="2764962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05256" y="4577484"/>
            <a:ext cx="2508930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retention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542202" y="4577484"/>
            <a:ext cx="3934755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70218" y="4577484"/>
            <a:ext cx="3678723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float; example: 0.7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476957" y="4577484"/>
            <a:ext cx="3934755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604973" y="4577484"/>
            <a:ext cx="3678723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Preserve retention;check units/identity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77240" y="5358381"/>
            <a:ext cx="10634472" cy="8412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77240" y="5358381"/>
            <a:ext cx="100584" cy="8412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51560" y="5468109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WHEN IT MATTERS  </a:t>
            </a:r>
            <a:r>
              <a:rPr sz="1200" b="0">
                <a:solidFill>
                  <a:srgbClr val="21201C"/>
                </a:solidFill>
                <a:latin typeface="Calibri"/>
              </a:rPr>
              <a:t>Source rows remain immutable. New computed fields belong in outputs; ambiguous data is qualified rather than invented.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70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LO3 · ACTIVITY 05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Segments and Customer Value · Evidence Exhibit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segment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2623170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2367138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customers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65372" y="1783080"/>
            <a:ext cx="2623170" cy="47548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93388" y="1783080"/>
            <a:ext cx="2367138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revenue_sgd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788542" y="1783080"/>
            <a:ext cx="2623170" cy="475488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16558" y="1783080"/>
            <a:ext cx="2367138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cost_sgd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Working professionals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542202" y="2258568"/>
            <a:ext cx="262317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70218" y="2258568"/>
            <a:ext cx="2367138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40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65372" y="2258568"/>
            <a:ext cx="262317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93388" y="2258568"/>
            <a:ext cx="2367138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24000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788542" y="2258568"/>
            <a:ext cx="262317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16558" y="2258568"/>
            <a:ext cx="2367138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12000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Career switchers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542202" y="2971800"/>
            <a:ext cx="262317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70218" y="2971800"/>
            <a:ext cx="2367138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30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65372" y="2971800"/>
            <a:ext cx="262317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93388" y="2971800"/>
            <a:ext cx="2367138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15000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788542" y="2971800"/>
            <a:ext cx="262317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916558" y="2971800"/>
            <a:ext cx="2367138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9000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Team leads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3685032"/>
            <a:ext cx="262317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3685032"/>
            <a:ext cx="2367138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10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165372" y="3685032"/>
            <a:ext cx="262317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293388" y="3685032"/>
            <a:ext cx="2367138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8000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788542" y="3685032"/>
            <a:ext cx="262317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916558" y="3685032"/>
            <a:ext cx="2367138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3000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7240" y="4599432"/>
            <a:ext cx="10634472" cy="8412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77240" y="4599432"/>
            <a:ext cx="100584" cy="8412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51560" y="4709160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WHEN IT MATTERS  </a:t>
            </a:r>
            <a:r>
              <a:rPr sz="1200" b="0">
                <a:solidFill>
                  <a:srgbClr val="21201C"/>
                </a:solidFill>
                <a:latin typeface="Calibri"/>
              </a:rPr>
              <a:t>This exhibit is an authored synthetic dataset. Read exact units and identifiers before interpreting values.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71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LO3 · ACTIVITY 05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Segments and Customer Value · Worked Calculation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3447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B6862"/>
                </a:solidFill>
                <a:latin typeface="Calibri"/>
              </a:rPr>
              <a:t>Interpret the denominator,units and decision boundary.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86000"/>
            <a:ext cx="5943600" cy="3794760"/>
          </a:xfrm>
          <a:prstGeom prst="rect">
            <a:avLst/>
          </a:prstGeom>
          <a:solidFill>
            <a:srgbClr val="212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2395728"/>
            <a:ext cx="5541264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300">
                <a:solidFill>
                  <a:srgbClr val="B9B4A9"/>
                </a:solidFill>
                <a:latin typeface="Consolas"/>
              </a:rPr>
              <a:t>Working margin/customer = (24000-12000)/40 = $300. Simple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B9B4A9"/>
                </a:solidFill>
                <a:latin typeface="Consolas"/>
              </a:rPr>
              <a:t>one-period retained margin estimate = $300 × 0.7 = $210;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F0B89E"/>
                </a:solidFill>
                <a:latin typeface="Consolas"/>
              </a:rPr>
              <a:t>not lifetime value.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95160" y="228600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95160" y="2286000"/>
            <a:ext cx="82296" cy="9144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32904" y="237744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Inputs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32904" y="267004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segments.csv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95160" y="324612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995160" y="3246120"/>
            <a:ext cx="82296" cy="91440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32904" y="333756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3A7D7B"/>
                </a:solidFill>
                <a:latin typeface="Calibri"/>
              </a:rPr>
              <a:t>Calculation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32904" y="363016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Recompute exact values independently.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95160" y="420624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95160" y="4206240"/>
            <a:ext cx="82296" cy="914400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32904" y="429768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2603F"/>
                </a:solidFill>
                <a:latin typeface="Calibri"/>
              </a:rPr>
              <a:t>Interpretation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32904" y="459028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Synthetic contribution margin per customer. Team leads have higher unit margin but…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95160" y="516636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995160" y="5166360"/>
            <a:ext cx="82296" cy="914400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32904" y="525780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88A2E"/>
                </a:solidFill>
                <a:latin typeface="Calibri"/>
              </a:rPr>
              <a:t>Boundary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32904" y="555040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Synthetic descriptive evidence;live/causal result not established.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72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LO3 · ACTIVITY 05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Segments and Customer Value · Editable Chart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777240" y="1783080"/>
          <a:ext cx="10634472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ectangle 7"/>
          <p:cNvSpPr/>
          <p:nvPr/>
        </p:nvSpPr>
        <p:spPr>
          <a:xfrm>
            <a:off x="777240" y="5230368"/>
            <a:ext cx="10634472" cy="1005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5230368"/>
            <a:ext cx="100584" cy="100584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5340096"/>
            <a:ext cx="10149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WHAT THE DATA SHOWS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5632704"/>
            <a:ext cx="10149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Synthetic contribution margin per customer. Team leads have higher unit margin but only ten customers; validate segment stability.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73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1636776"/>
            <a:ext cx="9144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6B6862"/>
                </a:solidFill>
                <a:latin typeface="Calibri"/>
              </a:rPr>
              <a:t>Contribution margin (SGD per customer)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LO3 · ACTIVITY 05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Segments and Customer Value · Reproducible Contract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3447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B6862"/>
                </a:solidFill>
                <a:latin typeface="Calibri"/>
              </a:rPr>
              <a:t>Readable excerpt; complete procedure and runnable practice remain in the guide.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86000"/>
            <a:ext cx="5943600" cy="3794760"/>
          </a:xfrm>
          <a:prstGeom prst="rect">
            <a:avLst/>
          </a:prstGeom>
          <a:solidFill>
            <a:srgbClr val="212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2395728"/>
            <a:ext cx="5541264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300">
                <a:solidFill>
                  <a:srgbClr val="C2603F"/>
                </a:solidFill>
                <a:latin typeface="Consolas"/>
              </a:rPr>
              <a:t>import csv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F0B89E"/>
                </a:solidFill>
                <a:latin typeface="Consolas"/>
              </a:rPr>
              <a:t>with open("mock-data/segments.csv") as f: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B9B4A9"/>
                </a:solidFill>
                <a:latin typeface="Consolas"/>
              </a:rPr>
              <a:t>    rows = list(csv.DictReader(f))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F0B89E"/>
                </a:solidFill>
                <a:latin typeface="Consolas"/>
              </a:rPr>
              <a:t>for r in rows: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B9B4A9"/>
                </a:solidFill>
                <a:latin typeface="Consolas"/>
              </a:rPr>
              <a:t>    margin = float(r["revenue_sgd"])-float(r["cost_sgd"])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B9B4A9"/>
                </a:solidFill>
                <a:latin typeface="Consolas"/>
              </a:rPr>
              <a:t>    r["margin_per_customer"] = margin/int(r["customers"])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95160" y="228600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95160" y="2286000"/>
            <a:ext cx="82296" cy="9144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32904" y="237744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Data contract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32904" y="267004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segments.csv; exact field names matter.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95160" y="324612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995160" y="3246120"/>
            <a:ext cx="82296" cy="91440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32904" y="333756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3A7D7B"/>
                </a:solidFill>
                <a:latin typeface="Calibri"/>
              </a:rPr>
              <a:t>Identity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32904" y="363016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Preserve row IDs or segment labels.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95160" y="420624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95160" y="4206240"/>
            <a:ext cx="82296" cy="914400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32904" y="429768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2603F"/>
                </a:solidFill>
                <a:latin typeface="Calibri"/>
              </a:rPr>
              <a:t>Calculation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32904" y="459028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Deterministic code checks the agent narrative.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95160" y="516636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995160" y="5166360"/>
            <a:ext cx="82296" cy="914400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32904" y="525780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88A2E"/>
                </a:solidFill>
                <a:latin typeface="Calibri"/>
              </a:rPr>
              <a:t>Verification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32904" y="555040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Margins/customer 300,200,500; total customers 80; no invented demographic traits…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74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C2603F"/>
                </a:solidFill>
                <a:latin typeface="Cambria"/>
              </a:rPr>
              <a:t>LO3 · ACTIVITY 05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Segments and Customer Value · Decision Rule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Diamond 6"/>
          <p:cNvSpPr/>
          <p:nvPr/>
        </p:nvSpPr>
        <p:spPr>
          <a:xfrm>
            <a:off x="777240" y="2514600"/>
            <a:ext cx="4206240" cy="2468880"/>
          </a:xfrm>
          <a:prstGeom prst="diamond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Is the segment supported by observed variables?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577840" y="1965960"/>
            <a:ext cx="5806440" cy="1371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577840" y="1965960"/>
            <a:ext cx="100584" cy="137160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52160" y="2112264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3A7D7B"/>
                </a:solidFill>
                <a:latin typeface="Cambria"/>
              </a:rPr>
              <a:t>YES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2514600"/>
            <a:ext cx="5303520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Use to design validation questions</a:t>
            </a:r>
          </a:p>
        </p:txBody>
      </p:sp>
      <p:cxnSp>
        <p:nvCxnSpPr>
          <p:cNvPr id="12" name="Connector 11"/>
          <p:cNvCxnSpPr/>
          <p:nvPr/>
        </p:nvCxnSpPr>
        <p:spPr>
          <a:xfrm flipV="1">
            <a:off x="4983480" y="2651760"/>
            <a:ext cx="594360" cy="1097280"/>
          </a:xfrm>
          <a:prstGeom prst="line">
            <a:avLst/>
          </a:prstGeom>
          <a:ln w="25400">
            <a:solidFill>
              <a:srgbClr val="3A7D7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577840" y="3977639"/>
            <a:ext cx="5806440" cy="1371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577840" y="3977639"/>
            <a:ext cx="100584" cy="1371600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52160" y="4123943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C88A2E"/>
                </a:solidFill>
                <a:latin typeface="Cambria"/>
              </a:rPr>
              <a:t>NO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4526279"/>
            <a:ext cx="5303520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Treat as untested hypothesis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983480" y="3749040"/>
            <a:ext cx="594360" cy="914399"/>
          </a:xfrm>
          <a:prstGeom prst="line">
            <a:avLst/>
          </a:prstGeom>
          <a:ln w="25400">
            <a:solidFill>
              <a:srgbClr val="C88A2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777240" y="5623560"/>
            <a:ext cx="10634472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5742432"/>
            <a:ext cx="10149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B6862"/>
                </a:solidFill>
                <a:latin typeface="Calibri"/>
              </a:rPr>
              <a:t>This is an authored research decision rule. It does not grant product permissions or replace human review.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75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LO3 · ACTIVITY 05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Segments and Customer Value · Claim-Evidence Ledger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Claim layer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Evidence required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Permitted wording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Observation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segment: Working professionals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Working margin/customer = (24000-12000)/40 = $300. Simple one-period retained margin estimate = $300 × 0.7 =…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Inference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Synthetic contribution margin per customer. Team leads have higher unit margin but only ten…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Is the segment supported by observed variables?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Recommendation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Use to design validation questions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persona-hypotheses.md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398264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4398264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Unknown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The agent invents an age range and income for each segment. Neither field exists; the persona must remain…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Treat as untested hypothesis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5312664"/>
            <a:ext cx="10634472" cy="8412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" y="5312664"/>
            <a:ext cx="100584" cy="8412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1560" y="5422392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WHEN IT MATTERS  </a:t>
            </a:r>
            <a:r>
              <a:rPr sz="1200" b="0">
                <a:solidFill>
                  <a:srgbClr val="21201C"/>
                </a:solidFill>
                <a:latin typeface="Calibri"/>
              </a:rPr>
              <a:t>Preserve the distinction between observed data, model output and human decision throughout Cowork and Code handoffs.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76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C88A2E"/>
                </a:solidFill>
                <a:latin typeface="Cambria"/>
              </a:rPr>
              <a:t>LO3 · ACTIVITY 05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Segments and Customer Value · Failure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3447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B6862"/>
                </a:solidFill>
                <a:latin typeface="Calibri"/>
              </a:rPr>
              <a:t>A plausible report can be wrong even when its numbers look polished.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86000"/>
            <a:ext cx="5943600" cy="3794760"/>
          </a:xfrm>
          <a:prstGeom prst="rect">
            <a:avLst/>
          </a:prstGeom>
          <a:solidFill>
            <a:srgbClr val="212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2395728"/>
            <a:ext cx="5541264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300">
                <a:solidFill>
                  <a:srgbClr val="F0B89E"/>
                </a:solidFill>
                <a:latin typeface="Consolas"/>
              </a:rPr>
              <a:t>The agent invents an age range and income for each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F0B89E"/>
                </a:solidFill>
                <a:latin typeface="Consolas"/>
              </a:rPr>
              <a:t>segment. Neither field exists; the persona must remain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F0B89E"/>
                </a:solidFill>
                <a:latin typeface="Consolas"/>
              </a:rPr>
              <a:t>evidence-constrained.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95160" y="228600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95160" y="2286000"/>
            <a:ext cx="82296" cy="9144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32904" y="237744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Trigger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32904" y="267004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The agent promotes a claim beyond its evidence.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95160" y="324612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995160" y="3246120"/>
            <a:ext cx="82296" cy="91440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32904" y="333756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3A7D7B"/>
                </a:solidFill>
                <a:latin typeface="Calibri"/>
              </a:rPr>
              <a:t>Diagnostic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32904" y="363016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Inspect the underlying rows,scope and denominator.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95160" y="420624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95160" y="4206240"/>
            <a:ext cx="82296" cy="914400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32904" y="429768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2603F"/>
                </a:solidFill>
                <a:latin typeface="Calibri"/>
              </a:rPr>
              <a:t>Recovery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32904" y="459028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Revise the claim and retain the rejected reasoning.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95160" y="516636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995160" y="5166360"/>
            <a:ext cx="82296" cy="914400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32904" y="525780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88A2E"/>
                </a:solidFill>
                <a:latin typeface="Calibri"/>
              </a:rPr>
              <a:t>Recheck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32904" y="555040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Margins/customer 300,200,500; total customers 80; no invented demographic traits…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77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LO3 · ACTIVITY 05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Segments and Customer Value · Control and Recovery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Control point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Risk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Required evidence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segment identity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Working professionals omitted or changed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Reconcile raw identifiers in segments.csv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Metric contract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Working margin/customer = (24000-12000)/40 = $300. Simple one-period retained margin estimate = $300 × 0.7 =…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Independent calculation and named denominator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Inference check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The agent invents an age range and income for each segment. Neither field exists; the persona must remain…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Treat as untested hypothesis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398264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4398264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Decision output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segment-value.csv and persona-hypotheses.md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Use behavioural attributes and minimum group size for reporting; label retention as an assumption; suppress…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5312664"/>
            <a:ext cx="10634472" cy="8412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" y="5312664"/>
            <a:ext cx="100584" cy="8412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1560" y="5422392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WHEN IT MATTERS  </a:t>
            </a:r>
            <a:r>
              <a:rPr sz="1200" b="0">
                <a:solidFill>
                  <a:srgbClr val="21201C"/>
                </a:solidFill>
                <a:latin typeface="Calibri"/>
              </a:rPr>
              <a:t>Use behavioural attributes and minimum group size for reporting; label retention as an assumption; suppress identifying small-group combinations.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78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LO3 · ACTIVITY 05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Segments and Customer Value · Output Handoff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48840"/>
            <a:ext cx="2370582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79067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7906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segments.csv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Raw 3 records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202686" y="3223260"/>
            <a:ext cx="274320" cy="0"/>
          </a:xfrm>
          <a:prstGeom prst="line">
            <a:avLst/>
          </a:prstGeom>
          <a:ln w="25400">
            <a:solidFill>
              <a:srgbClr val="D977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353187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31870" y="2148840"/>
            <a:ext cx="2370582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433697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369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988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segment audit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2331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Preserve identifiers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957316" y="3223260"/>
            <a:ext cx="274320" cy="0"/>
          </a:xfrm>
          <a:prstGeom prst="line">
            <a:avLst/>
          </a:prstGeom>
          <a:ln w="25400">
            <a:solidFill>
              <a:srgbClr val="D977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628650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86500" y="2148840"/>
            <a:ext cx="2370582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188327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8832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451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segment-value.csv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794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Computed evidence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711946" y="3223260"/>
            <a:ext cx="274320" cy="0"/>
          </a:xfrm>
          <a:prstGeom prst="line">
            <a:avLst/>
          </a:prstGeom>
          <a:ln w="25400">
            <a:solidFill>
              <a:srgbClr val="D977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904113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041130" y="2148840"/>
            <a:ext cx="2370582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942957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94295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914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Human decision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3257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Reviewer decision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77240" y="4608576"/>
            <a:ext cx="10634472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77240" y="4608576"/>
            <a:ext cx="100584" cy="105156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51560" y="4718304"/>
            <a:ext cx="10149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OUTPUT CONTRACT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1560" y="5029200"/>
            <a:ext cx="1014984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21201C"/>
                </a:solidFill>
                <a:latin typeface="Calibri"/>
              </a:rPr>
              <a:t>Working margin/customer = (24000-12000)/40 = $300. Simple one-period retained margin estimate = $300 × 0.7 = $210; not lifetime value. Output: segment-value.csv and persona-hypotheses.md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79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transition spd="fast" advClick="1">
    <p:fade/>
  </p:transition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LO3 · ACTIVITY 05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Segments and Customer Value · Acceptance Evidence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10634472" cy="1965960"/>
          </a:xfrm>
          <a:prstGeom prst="rect">
            <a:avLst/>
          </a:prstGeom>
          <a:solidFill>
            <a:srgbClr val="EA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100584" cy="1965960"/>
          </a:xfrm>
          <a:prstGeom prst="rect">
            <a:avLst/>
          </a:prstGeom>
          <a:solidFill>
            <a:srgbClr val="4A8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38528"/>
            <a:ext cx="1005840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4A8F5F"/>
                </a:solidFill>
                <a:latin typeface="Cambria"/>
              </a:rPr>
              <a:t>✅  Expected result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395728"/>
            <a:ext cx="10058400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21201C"/>
                </a:solidFill>
                <a:latin typeface="Calibri"/>
              </a:rPr>
              <a:t>Margins/customer 300,200,500; total customers 80; no invented demographic traits; retained-margin assumptions explicit.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950208"/>
            <a:ext cx="1063447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C88A2E"/>
                </a:solidFill>
                <a:latin typeface="Calibri"/>
              </a:rPr>
              <a:t>IF IT DOESN'T WORK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4297680"/>
            <a:ext cx="3392424" cy="15727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4297680"/>
            <a:ext cx="3392424" cy="82296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6696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21201C"/>
                </a:solidFill>
                <a:latin typeface="Calibri"/>
              </a:rPr>
              <a:t>Numbers disagree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6696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6862"/>
                </a:solidFill>
                <a:latin typeface="Calibri"/>
              </a:rPr>
              <a:t>Check header parsing,units,denominator and duplicate records.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98264" y="4297680"/>
            <a:ext cx="3392424" cy="15727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98264" y="4297680"/>
            <a:ext cx="3392424" cy="82296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17720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21201C"/>
                </a:solidFill>
                <a:latin typeface="Calibri"/>
              </a:rPr>
              <a:t>Claim lacks a source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6862"/>
                </a:solidFill>
                <a:latin typeface="Calibri"/>
              </a:rPr>
              <a:t>Add row IDs and scope; downgrade or remove unsupported inference.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19288" y="4297680"/>
            <a:ext cx="3392424" cy="15727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19288" y="4297680"/>
            <a:ext cx="3392424" cy="82296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38744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21201C"/>
                </a:solidFill>
                <a:latin typeface="Calibri"/>
              </a:rPr>
              <a:t>Tool unavailable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38744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6862"/>
                </a:solidFill>
                <a:latin typeface="Calibri"/>
              </a:rPr>
              <a:t>Use the documented CSV fallback and state the unexecuted product boundary.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80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LO3 · ACTIVITY 06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Journey and Funnel Diagnostics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19072"/>
            <a:ext cx="1554480" cy="420624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5544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mbria"/>
              </a:rPr>
              <a:t>ACTIVITY 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87168" y="1719072"/>
            <a:ext cx="88696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B6862"/>
                </a:solidFill>
                <a:latin typeface="Calibri"/>
              </a:rPr>
              <a:t>ICT-SNM-3007-1.1 · LO3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86000"/>
            <a:ext cx="10634472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21201C"/>
                </a:solidFill>
                <a:latin typeface="Calibri"/>
              </a:rPr>
              <a:t>A synthetic monthly journey moves from landing sessions to enquiry, qualified lead and enrolment. The decision is where to investigate friction, using stage counts with consistent cohort and window definitions.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474720"/>
            <a:ext cx="3392424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3474720"/>
            <a:ext cx="3392424" cy="9144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6696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YOU'LL BUILD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6696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funnel-analysis.csv and friction-hypotheses.md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98264" y="3474720"/>
            <a:ext cx="3392424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98264" y="3474720"/>
            <a:ext cx="3392424" cy="9144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17720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TOOLCHAIN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Claude Cowork · Claude Code · CSV / Markdown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19288" y="3474720"/>
            <a:ext cx="3392424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19288" y="3474720"/>
            <a:ext cx="3392424" cy="91440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8744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C2603F"/>
                </a:solidFill>
                <a:latin typeface="Calibri"/>
              </a:rPr>
              <a:t>DONE WHEN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38744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Row-level journey-events.csv confirms2400 unique sessions,96 enquiries,48 qualified and12 enrolments;ordered stages share the same session IDs;rates 4%,50%,25%,0.5%;two alternate friction explanations.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81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LO3 · ACTIVITY 06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21201C"/>
                </a:solidFill>
                <a:latin typeface="Calibri"/>
              </a:rPr>
              <a:t>Journey and Funnel Diagnostics · Data and Trust Boundaries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48840"/>
            <a:ext cx="2370582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79067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7906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Raw inputs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funnel.csv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202686" y="3223260"/>
            <a:ext cx="274320" cy="0"/>
          </a:xfrm>
          <a:prstGeom prst="line">
            <a:avLst/>
          </a:prstGeom>
          <a:ln w="25400">
            <a:solidFill>
              <a:srgbClr val="D977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353187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31870" y="2148840"/>
            <a:ext cx="2370582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433697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369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988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Evidence checks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2331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IDs,date,units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957316" y="3223260"/>
            <a:ext cx="274320" cy="0"/>
          </a:xfrm>
          <a:prstGeom prst="line">
            <a:avLst/>
          </a:prstGeom>
          <a:ln w="25400">
            <a:solidFill>
              <a:srgbClr val="D977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628650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86500" y="2148840"/>
            <a:ext cx="2370582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188327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8832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451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Deterministic analysis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794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Schema and formulas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711946" y="3223260"/>
            <a:ext cx="274320" cy="0"/>
          </a:xfrm>
          <a:prstGeom prst="line">
            <a:avLst/>
          </a:prstGeom>
          <a:ln w="25400">
            <a:solidFill>
              <a:srgbClr val="D977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904113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041130" y="2148840"/>
            <a:ext cx="2370582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942957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94295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914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Human decision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3257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Review before action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77240" y="4608576"/>
            <a:ext cx="10634472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77240" y="4608576"/>
            <a:ext cx="100584" cy="105156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51560" y="4718304"/>
            <a:ext cx="10149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CONTRACT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1560" y="5029200"/>
            <a:ext cx="1014984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21201C"/>
                </a:solidFill>
                <a:latin typeface="Calibri"/>
              </a:rPr>
              <a:t>Use journey-events.csv to validate session-level ordered events in one synthetic cohort and30-day window;derive the aggregate stage counts,then compute conditional and overall rates. Raw aggregate counts alone do not establish a funnel.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82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transition spd="fast" advClick="1">
    <p:fade/>
  </p:transition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LO3 · ACTIVITY 06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Journey and Funnel Diagnostics · Input Schema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Field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Contract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Quality control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stage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str; example: landing_session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Preserve stage;check units/identity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count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int; example: 2400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Preserve count;check units/identity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cohort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str; example: August visitors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Preserve cohort;check units/identity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398264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4398264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window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str; example: 30 days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Preserve window;check units/identity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5312664"/>
            <a:ext cx="10634472" cy="8412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" y="5312664"/>
            <a:ext cx="100584" cy="8412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1560" y="5422392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WHEN IT MATTERS  </a:t>
            </a:r>
            <a:r>
              <a:rPr sz="1200" b="0">
                <a:solidFill>
                  <a:srgbClr val="21201C"/>
                </a:solidFill>
                <a:latin typeface="Calibri"/>
              </a:rPr>
              <a:t>Source rows remain immutable. New computed fields belong in outputs; ambiguous data is qualified rather than invented.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83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LO3 · ACTIVITY 06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Journey and Funnel Diagnostics · Evidence Exhibit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stage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2623170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2367138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count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65372" y="1783080"/>
            <a:ext cx="2623170" cy="47548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93388" y="1783080"/>
            <a:ext cx="2367138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cohort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788542" y="1783080"/>
            <a:ext cx="2623170" cy="475488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16558" y="1783080"/>
            <a:ext cx="2367138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window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landing_session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542202" y="2258568"/>
            <a:ext cx="262317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70218" y="2258568"/>
            <a:ext cx="2367138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2400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65372" y="2258568"/>
            <a:ext cx="262317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93388" y="2258568"/>
            <a:ext cx="2367138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August visitors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788542" y="2258568"/>
            <a:ext cx="262317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16558" y="2258568"/>
            <a:ext cx="2367138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30 days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enquiry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542202" y="2971800"/>
            <a:ext cx="262317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70218" y="2971800"/>
            <a:ext cx="2367138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96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65372" y="2971800"/>
            <a:ext cx="262317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93388" y="2971800"/>
            <a:ext cx="2367138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August visitors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788542" y="2971800"/>
            <a:ext cx="262317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916558" y="2971800"/>
            <a:ext cx="2367138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30 days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qualified_lead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3685032"/>
            <a:ext cx="262317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3685032"/>
            <a:ext cx="2367138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48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165372" y="3685032"/>
            <a:ext cx="262317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293388" y="3685032"/>
            <a:ext cx="2367138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August visitors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788542" y="3685032"/>
            <a:ext cx="262317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916558" y="3685032"/>
            <a:ext cx="2367138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30 days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7240" y="4398264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05256" y="4398264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enrolment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542202" y="4398264"/>
            <a:ext cx="262317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670218" y="4398264"/>
            <a:ext cx="2367138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12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165372" y="4398264"/>
            <a:ext cx="262317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293388" y="4398264"/>
            <a:ext cx="2367138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August visitors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788542" y="4398264"/>
            <a:ext cx="262317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916558" y="4398264"/>
            <a:ext cx="2367138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30 days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77240" y="5312664"/>
            <a:ext cx="10634472" cy="8412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77240" y="5312664"/>
            <a:ext cx="100584" cy="8412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51560" y="5422392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WHEN IT MATTERS  </a:t>
            </a:r>
            <a:r>
              <a:rPr sz="1200" b="0">
                <a:solidFill>
                  <a:srgbClr val="21201C"/>
                </a:solidFill>
                <a:latin typeface="Calibri"/>
              </a:rPr>
              <a:t>This exhibit is an authored synthetic dataset. Read exact units and identifiers before interpreting values.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84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LO3 · ACTIVITY 06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Journey and Funnel Diagnostics · Worked Calculation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3447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B6862"/>
                </a:solidFill>
                <a:latin typeface="Calibri"/>
              </a:rPr>
              <a:t>Interpret the denominator,units and decision boundary.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86000"/>
            <a:ext cx="5943600" cy="3794760"/>
          </a:xfrm>
          <a:prstGeom prst="rect">
            <a:avLst/>
          </a:prstGeom>
          <a:solidFill>
            <a:srgbClr val="212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2395728"/>
            <a:ext cx="5541264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300">
                <a:solidFill>
                  <a:srgbClr val="B9B4A9"/>
                </a:solidFill>
                <a:latin typeface="Consolas"/>
              </a:rPr>
              <a:t>Session-&gt;enquiry = 96/2400 = 4%; enquiry-&gt;qualified =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B9B4A9"/>
                </a:solidFill>
                <a:latin typeface="Consolas"/>
              </a:rPr>
              <a:t>50%; qualified-&gt;enrolment = 25%; full funnel = 0.5%.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95160" y="228600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95160" y="2286000"/>
            <a:ext cx="82296" cy="9144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32904" y="237744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Inputs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32904" y="267004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funnel.csv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95160" y="324612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995160" y="3246120"/>
            <a:ext cx="82296" cy="91440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32904" y="333756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3A7D7B"/>
                </a:solidFill>
                <a:latin typeface="Calibri"/>
              </a:rPr>
              <a:t>Calculation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32904" y="363016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Recompute exact values independently.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95160" y="420624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95160" y="4206240"/>
            <a:ext cx="82296" cy="914400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32904" y="429768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2603F"/>
                </a:solidFill>
                <a:latin typeface="Calibri"/>
              </a:rPr>
              <a:t>Interpretation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32904" y="459028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Synthetic counts show a large session-to-enquiry drop. It could reflect intent or…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95160" y="516636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995160" y="5166360"/>
            <a:ext cx="82296" cy="914400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32904" y="525780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88A2E"/>
                </a:solidFill>
                <a:latin typeface="Calibri"/>
              </a:rPr>
              <a:t>Boundary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32904" y="555040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Synthetic descriptive evidence;live/causal result not established.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85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LO3 · ACTIVITY 06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Journey and Funnel Diagnostics · Editable Chart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777240" y="1783080"/>
          <a:ext cx="10634472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ectangle 7"/>
          <p:cNvSpPr/>
          <p:nvPr/>
        </p:nvSpPr>
        <p:spPr>
          <a:xfrm>
            <a:off x="777240" y="5230368"/>
            <a:ext cx="10634472" cy="1005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5230368"/>
            <a:ext cx="100584" cy="100584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5340096"/>
            <a:ext cx="10149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WHAT THE DATA SHOWS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5632704"/>
            <a:ext cx="10149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Synthetic counts show a large session-to-enquiry drop. It could reflect intent or tracking; the chart alone cannot identify the cause.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86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1636776"/>
            <a:ext cx="9144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6B6862"/>
                </a:solidFill>
                <a:latin typeface="Calibri"/>
              </a:rPr>
              <a:t>Unique synthetic sessions per journey stage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LO3 · ACTIVITY 06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21201C"/>
                </a:solidFill>
                <a:latin typeface="Calibri"/>
              </a:rPr>
              <a:t>Journey and Funnel Diagnostics · Reproducible Contract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3447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B6862"/>
                </a:solidFill>
                <a:latin typeface="Calibri"/>
              </a:rPr>
              <a:t>Readable excerpt; complete procedure and runnable practice remain in the guide.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86000"/>
            <a:ext cx="5943600" cy="3794760"/>
          </a:xfrm>
          <a:prstGeom prst="rect">
            <a:avLst/>
          </a:prstGeom>
          <a:solidFill>
            <a:srgbClr val="212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2395728"/>
            <a:ext cx="5541264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300">
                <a:solidFill>
                  <a:srgbClr val="B9B4A9"/>
                </a:solidFill>
                <a:latin typeface="Consolas"/>
              </a:rPr>
              <a:t>counts = [2400, 96, 48, 12]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B9B4A9"/>
                </a:solidFill>
                <a:latin typeface="Consolas"/>
              </a:rPr>
              <a:t>rates = [b/a for a,b in zip(counts, counts[1:])]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B9B4A9"/>
                </a:solidFill>
                <a:latin typeface="Consolas"/>
              </a:rPr>
              <a:t>assert rates == [0.04, 0.5, 0.25]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B9B4A9"/>
                </a:solidFill>
                <a:latin typeface="Consolas"/>
              </a:rPr>
              <a:t>overall = counts[-1]/counts[0]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B9B4A9"/>
                </a:solidFill>
                <a:latin typeface="Consolas"/>
              </a:rPr>
              <a:t>assert overall == 0.005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95160" y="228600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95160" y="2286000"/>
            <a:ext cx="82296" cy="9144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32904" y="237744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Data contract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32904" y="267004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funnel.csv; exact field names matter.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95160" y="324612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995160" y="3246120"/>
            <a:ext cx="82296" cy="91440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32904" y="333756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3A7D7B"/>
                </a:solidFill>
                <a:latin typeface="Calibri"/>
              </a:rPr>
              <a:t>Identity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32904" y="363016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Preserve row IDs or segment labels.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95160" y="420624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95160" y="4206240"/>
            <a:ext cx="82296" cy="914400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32904" y="429768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2603F"/>
                </a:solidFill>
                <a:latin typeface="Calibri"/>
              </a:rPr>
              <a:t>Calculation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32904" y="459028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Deterministic code checks the agent narrative.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95160" y="516636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995160" y="5166360"/>
            <a:ext cx="82296" cy="914400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32904" y="525780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88A2E"/>
                </a:solidFill>
                <a:latin typeface="Calibri"/>
              </a:rPr>
              <a:t>Verification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32904" y="555040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Row-level journey-events.csv confirms2400 unique sessions,96 enquiries,48 qualified…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87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C2603F"/>
                </a:solidFill>
                <a:latin typeface="Cambria"/>
              </a:rPr>
              <a:t>LO3 · ACTIVITY 06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Journey and Funnel Diagnostics · Decision Rule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Diamond 6"/>
          <p:cNvSpPr/>
          <p:nvPr/>
        </p:nvSpPr>
        <p:spPr>
          <a:xfrm>
            <a:off x="777240" y="2514600"/>
            <a:ext cx="4206240" cy="2468880"/>
          </a:xfrm>
          <a:prstGeom prst="diamond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Do all stages use the same cohort and window?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577840" y="1965960"/>
            <a:ext cx="5806440" cy="1371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577840" y="1965960"/>
            <a:ext cx="100584" cy="137160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52160" y="2112264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3A7D7B"/>
                </a:solidFill>
                <a:latin typeface="Cambria"/>
              </a:rPr>
              <a:t>YES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2514600"/>
            <a:ext cx="5303520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Interpret conditional drop-off</a:t>
            </a:r>
          </a:p>
        </p:txBody>
      </p:sp>
      <p:cxnSp>
        <p:nvCxnSpPr>
          <p:cNvPr id="12" name="Connector 11"/>
          <p:cNvCxnSpPr/>
          <p:nvPr/>
        </p:nvCxnSpPr>
        <p:spPr>
          <a:xfrm flipV="1">
            <a:off x="4983480" y="2651760"/>
            <a:ext cx="594360" cy="1097280"/>
          </a:xfrm>
          <a:prstGeom prst="line">
            <a:avLst/>
          </a:prstGeom>
          <a:ln w="25400">
            <a:solidFill>
              <a:srgbClr val="3A7D7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577840" y="3977639"/>
            <a:ext cx="5806440" cy="1371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577840" y="3977639"/>
            <a:ext cx="100584" cy="1371600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52160" y="4123943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C88A2E"/>
                </a:solidFill>
                <a:latin typeface="Cambria"/>
              </a:rPr>
              <a:t>NO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4526279"/>
            <a:ext cx="5303520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Rebuild aligned funnel first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983480" y="3749040"/>
            <a:ext cx="594360" cy="914399"/>
          </a:xfrm>
          <a:prstGeom prst="line">
            <a:avLst/>
          </a:prstGeom>
          <a:ln w="25400">
            <a:solidFill>
              <a:srgbClr val="C88A2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777240" y="5623560"/>
            <a:ext cx="10634472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5742432"/>
            <a:ext cx="10149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B6862"/>
                </a:solidFill>
                <a:latin typeface="Calibri"/>
              </a:rPr>
              <a:t>This is an authored research decision rule. It does not grant product permissions or replace human review.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88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LO3 · ACTIVITY 06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21201C"/>
                </a:solidFill>
                <a:latin typeface="Calibri"/>
              </a:rPr>
              <a:t>Journey and Funnel Diagnostics · Claim-Evidence Ledger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Claim layer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Evidence required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Permitted wording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Observation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stage: landing_session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Session-&gt;enquiry = 96/2400 = 4%; enquiry-&gt;qualified = 50%; qualified-&gt;enrolment = 25%; full funnel = 0.5%.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Inference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Synthetic counts show a large session-to-enquiry drop. It could reflect intent or tracking; the…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Do all stages use the same cohort and window?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Recommendation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Interpret conditional drop-off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friction-hypotheses.md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398264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4398264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Unknown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A month-end enrolment count is divided by a different month’s enquiries. Time-window mismatch invalidates the…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Rebuild aligned funnel first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5312664"/>
            <a:ext cx="10634472" cy="8412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" y="5312664"/>
            <a:ext cx="100584" cy="8412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1560" y="5422392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WHEN IT MATTERS  </a:t>
            </a:r>
            <a:r>
              <a:rPr sz="1200" b="0">
                <a:solidFill>
                  <a:srgbClr val="21201C"/>
                </a:solidFill>
                <a:latin typeface="Calibri"/>
              </a:rPr>
              <a:t>Preserve the distinction between observed data, model output and human decision throughout Cowork and Code handoffs.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89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C88A2E"/>
                </a:solidFill>
                <a:latin typeface="Cambria"/>
              </a:rPr>
              <a:t>LO3 · ACTIVITY 06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Journey and Funnel Diagnostics · Failure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3447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B6862"/>
                </a:solidFill>
                <a:latin typeface="Calibri"/>
              </a:rPr>
              <a:t>A plausible report can be wrong even when its numbers look polished.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86000"/>
            <a:ext cx="5943600" cy="3794760"/>
          </a:xfrm>
          <a:prstGeom prst="rect">
            <a:avLst/>
          </a:prstGeom>
          <a:solidFill>
            <a:srgbClr val="212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2395728"/>
            <a:ext cx="5541264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300">
                <a:solidFill>
                  <a:srgbClr val="F0B89E"/>
                </a:solidFill>
                <a:latin typeface="Consolas"/>
              </a:rPr>
              <a:t>A month-end enrolment count is divided by a different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F0B89E"/>
                </a:solidFill>
                <a:latin typeface="Consolas"/>
              </a:rPr>
              <a:t>month’s enquiries. Time-window mismatch invalidates the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F0B89E"/>
                </a:solidFill>
                <a:latin typeface="Consolas"/>
              </a:rPr>
              <a:t>conversion rate.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95160" y="228600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95160" y="2286000"/>
            <a:ext cx="82296" cy="9144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32904" y="237744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Trigger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32904" y="267004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The agent promotes a claim beyond its evidence.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95160" y="324612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995160" y="3246120"/>
            <a:ext cx="82296" cy="91440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32904" y="333756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3A7D7B"/>
                </a:solidFill>
                <a:latin typeface="Calibri"/>
              </a:rPr>
              <a:t>Diagnostic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32904" y="363016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Inspect the underlying rows,scope and denominator.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95160" y="420624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95160" y="4206240"/>
            <a:ext cx="82296" cy="914400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32904" y="429768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2603F"/>
                </a:solidFill>
                <a:latin typeface="Calibri"/>
              </a:rPr>
              <a:t>Recovery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32904" y="459028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Revise the claim and retain the rejected reasoning.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95160" y="516636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995160" y="5166360"/>
            <a:ext cx="82296" cy="914400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32904" y="525780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88A2E"/>
                </a:solidFill>
                <a:latin typeface="Calibri"/>
              </a:rPr>
              <a:t>Recheck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32904" y="555040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Row-level journey-events.csv confirms2400 unique sessions,96 enquiries,48 qualified…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90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LO3 · ACTIVITY 06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21201C"/>
                </a:solidFill>
                <a:latin typeface="Calibri"/>
              </a:rPr>
              <a:t>Journey and Funnel Diagnostics · Control and Recovery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Control point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Risk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Required evidence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stage identity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landing_session omitted or changed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Reconcile raw identifiers in funnel.csv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Metric contract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Session-&gt;enquiry = 96/2400 = 4%; enquiry-&gt;qualified = 50%; qualified-&gt;enrolment = 25%; full funnel = 0.5%.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Independent calculation and named denominator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Inference check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A month-end enrolment count is divided by a different month’s enquiries. Time-window mismatch invalidates the…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Rebuild aligned funnel first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398264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4398264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Decision output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funnel-analysis.csv and friction-hypotheses.md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State entity, cohort, order and window. Investigate consent and event completeness before changing creative…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5312664"/>
            <a:ext cx="10634472" cy="8412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" y="5312664"/>
            <a:ext cx="100584" cy="8412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1560" y="5422392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WHEN IT MATTERS  </a:t>
            </a:r>
            <a:r>
              <a:rPr sz="1200" b="0">
                <a:solidFill>
                  <a:srgbClr val="21201C"/>
                </a:solidFill>
                <a:latin typeface="Calibri"/>
              </a:rPr>
              <a:t>State entity, cohort, order and window. Investigate consent and event completeness before changing creative. Distinguish correlation from causal diagnosis.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91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LO3 · ACTIVITY 06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Journey and Funnel Diagnostics · Output Handoff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48840"/>
            <a:ext cx="2370582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79067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7906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funnel.csv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Raw 4 records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202686" y="3223260"/>
            <a:ext cx="274320" cy="0"/>
          </a:xfrm>
          <a:prstGeom prst="line">
            <a:avLst/>
          </a:prstGeom>
          <a:ln w="25400">
            <a:solidFill>
              <a:srgbClr val="D977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353187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31870" y="2148840"/>
            <a:ext cx="2370582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433697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369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988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stage audit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2331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Preserve identifiers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957316" y="3223260"/>
            <a:ext cx="274320" cy="0"/>
          </a:xfrm>
          <a:prstGeom prst="line">
            <a:avLst/>
          </a:prstGeom>
          <a:ln w="25400">
            <a:solidFill>
              <a:srgbClr val="D977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628650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86500" y="2148840"/>
            <a:ext cx="2370582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188327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8832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451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funnel-analysis.csv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794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Computed evidence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711946" y="3223260"/>
            <a:ext cx="274320" cy="0"/>
          </a:xfrm>
          <a:prstGeom prst="line">
            <a:avLst/>
          </a:prstGeom>
          <a:ln w="25400">
            <a:solidFill>
              <a:srgbClr val="D977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904113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041130" y="2148840"/>
            <a:ext cx="2370582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942957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94295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914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Human decision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3257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Reviewer decision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77240" y="4608576"/>
            <a:ext cx="10634472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77240" y="4608576"/>
            <a:ext cx="100584" cy="105156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51560" y="4718304"/>
            <a:ext cx="10149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OUTPUT CONTRACT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1560" y="5029200"/>
            <a:ext cx="1014984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21201C"/>
                </a:solidFill>
                <a:latin typeface="Calibri"/>
              </a:rPr>
              <a:t>Session-&gt;enquiry = 96/2400 = 4%; enquiry-&gt;qualified = 50%; qualified-&gt;enrolment = 25%; full funnel = 0.5%. Output: funnel-analysis.csv and friction-hypotheses.md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92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transition spd="fast" advClick="1">
    <p:fade/>
  </p:transition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LO3 · ACTIVITY 06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Journey and Funnel Diagnostics · Acceptance Evidence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10634472" cy="1965960"/>
          </a:xfrm>
          <a:prstGeom prst="rect">
            <a:avLst/>
          </a:prstGeom>
          <a:solidFill>
            <a:srgbClr val="EA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100584" cy="1965960"/>
          </a:xfrm>
          <a:prstGeom prst="rect">
            <a:avLst/>
          </a:prstGeom>
          <a:solidFill>
            <a:srgbClr val="4A8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38528"/>
            <a:ext cx="1005840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4A8F5F"/>
                </a:solidFill>
                <a:latin typeface="Cambria"/>
              </a:rPr>
              <a:t>✅  Expected result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395728"/>
            <a:ext cx="10058400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21201C"/>
                </a:solidFill>
                <a:latin typeface="Calibri"/>
              </a:rPr>
              <a:t>Row-level journey-events.csv confirms2400 unique sessions,96 enquiries,48 qualified and12 enrolments;ordered stages share the same session IDs;rates 4%,50%,25%,0.5%;two alternate friction explanations.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950208"/>
            <a:ext cx="1063447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C88A2E"/>
                </a:solidFill>
                <a:latin typeface="Calibri"/>
              </a:rPr>
              <a:t>IF IT DOESN'T WORK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4297680"/>
            <a:ext cx="3392424" cy="15727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4297680"/>
            <a:ext cx="3392424" cy="82296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6696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21201C"/>
                </a:solidFill>
                <a:latin typeface="Calibri"/>
              </a:rPr>
              <a:t>Numbers disagree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6696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6862"/>
                </a:solidFill>
                <a:latin typeface="Calibri"/>
              </a:rPr>
              <a:t>Check header parsing,units,denominator and duplicate records.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98264" y="4297680"/>
            <a:ext cx="3392424" cy="15727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98264" y="4297680"/>
            <a:ext cx="3392424" cy="82296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17720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21201C"/>
                </a:solidFill>
                <a:latin typeface="Calibri"/>
              </a:rPr>
              <a:t>Claim lacks a source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6862"/>
                </a:solidFill>
                <a:latin typeface="Calibri"/>
              </a:rPr>
              <a:t>Add row IDs and scope; downgrade or remove unsupported inference.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19288" y="4297680"/>
            <a:ext cx="3392424" cy="15727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19288" y="4297680"/>
            <a:ext cx="3392424" cy="82296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38744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21201C"/>
                </a:solidFill>
                <a:latin typeface="Calibri"/>
              </a:rPr>
              <a:t>Tool unavailable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38744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6862"/>
                </a:solidFill>
                <a:latin typeface="Calibri"/>
              </a:rPr>
              <a:t>Use the documented CSV fallback and state the unexecuted product boundary.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93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D97757"/>
                </a:solidFill>
                <a:latin typeface="Cambria"/>
              </a:rPr>
              <a:t>LEARNING OUTCOME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21201C"/>
                </a:solidFill>
                <a:latin typeface="Cambria"/>
              </a:rPr>
              <a:t>Marketing Effectiveness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6052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6B6862"/>
                </a:solidFill>
                <a:latin typeface="Calibri"/>
              </a:rPr>
              <a:t>Cowork evidence synthesis · Claude Code reproducible analysis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8E5DE"/>
                </a:solidFill>
                <a:latin typeface="Cambria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94</a:t>
            </a:r>
          </a:p>
        </p:txBody>
      </p:sp>
    </p:spTree>
  </p:cSld>
  <p:clrMapOvr>
    <a:masterClrMapping/>
  </p:clrMapOvr>
  <p:transition spd="med" advClick="1">
    <p:push dir="l"/>
  </p:transition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LO4 · ACTIVITY 07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GA4 Measurement Contract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19072"/>
            <a:ext cx="1554480" cy="420624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5544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mbria"/>
              </a:rPr>
              <a:t>ACTIVITY 07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87168" y="1719072"/>
            <a:ext cx="88696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B6862"/>
                </a:solidFill>
                <a:latin typeface="Calibri"/>
              </a:rPr>
              <a:t>ICT-SNM-3007-1.1 · LO4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86000"/>
            <a:ext cx="10634472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21201C"/>
                </a:solidFill>
                <a:latin typeface="Calibri"/>
              </a:rPr>
              <a:t>A marketing team needs GA4-compatible event definitions for course discovery, lead submission and purchase. Cowork can draft the measurement contract, but event collection and consent remain implementation responsibilities.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474720"/>
            <a:ext cx="3392424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3474720"/>
            <a:ext cx="3392424" cy="9144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6696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YOU'LL BUILD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6696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measurement-contract.csv and consent-notes.md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98264" y="3474720"/>
            <a:ext cx="3392424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98264" y="3474720"/>
            <a:ext cx="3392424" cy="9144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17720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TOOLCHAIN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Claude Cowork · Claude Code · CSV / Markdown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19288" y="3474720"/>
            <a:ext cx="3392424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19288" y="3474720"/>
            <a:ext cx="3392424" cy="91440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8744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C2603F"/>
                </a:solidFill>
                <a:latin typeface="Calibri"/>
              </a:rPr>
              <a:t>DONE WHEN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38744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Four events with unambiguous success triggers; purchase transaction_id,currency,value,items; no personal-data parameters.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95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LO4 · ACTIVITY 07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GA4 Measurement Contract · Data and Trust Boundaries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48840"/>
            <a:ext cx="2370582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79067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7906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Raw inputs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measurement-plan.csv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202686" y="3223260"/>
            <a:ext cx="274320" cy="0"/>
          </a:xfrm>
          <a:prstGeom prst="line">
            <a:avLst/>
          </a:prstGeom>
          <a:ln w="25400">
            <a:solidFill>
              <a:srgbClr val="D977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353187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31870" y="2148840"/>
            <a:ext cx="2370582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433697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369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988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Evidence checks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2331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IDs,date,units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957316" y="3223260"/>
            <a:ext cx="274320" cy="0"/>
          </a:xfrm>
          <a:prstGeom prst="line">
            <a:avLst/>
          </a:prstGeom>
          <a:ln w="25400">
            <a:solidFill>
              <a:srgbClr val="D977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628650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86500" y="2148840"/>
            <a:ext cx="2370582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188327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8832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451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Deterministic analysis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794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Schema and formulas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711946" y="3223260"/>
            <a:ext cx="274320" cy="0"/>
          </a:xfrm>
          <a:prstGeom prst="line">
            <a:avLst/>
          </a:prstGeom>
          <a:ln w="25400">
            <a:solidFill>
              <a:srgbClr val="D977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904113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041130" y="2148840"/>
            <a:ext cx="2370582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942957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94295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914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Human decision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3257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Review before action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77240" y="4608576"/>
            <a:ext cx="10634472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77240" y="4608576"/>
            <a:ext cx="100584" cy="105156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51560" y="4718304"/>
            <a:ext cx="10149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CONTRACT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1560" y="5029200"/>
            <a:ext cx="1014984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21201C"/>
                </a:solidFill>
                <a:latin typeface="Calibri"/>
              </a:rPr>
              <a:t>Business question -&gt; event trigger -&gt; recommended event -&gt; parameter schema -&gt; consent -&gt; validation evidence -&gt; key-event designation. Avoid treating button clicks as successful submissions.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96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transition spd="fast" advClick="1">
    <p:fade/>
  </p:transition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LO4 · ACTIVITY 07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GA4 Measurement Contract · Input Schema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Field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Contract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Quality control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event_name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str; example: page_view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Preserve event_name;check units/identity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838297"/>
            <a:ext cx="2764962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838297"/>
            <a:ext cx="2508930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trigger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838297"/>
            <a:ext cx="3934755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838297"/>
            <a:ext cx="3678723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str; example: page loads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838297"/>
            <a:ext cx="3934755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838297"/>
            <a:ext cx="3678723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Preserve trigger;check units/identity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418026"/>
            <a:ext cx="2764962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418026"/>
            <a:ext cx="2508930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required_parameter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418026"/>
            <a:ext cx="3934755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418026"/>
            <a:ext cx="3678723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str; example: page_location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418026"/>
            <a:ext cx="3934755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418026"/>
            <a:ext cx="3678723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Preserve required_parameter;check units/identity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3997755"/>
            <a:ext cx="2764962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3997755"/>
            <a:ext cx="2508930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purpose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3997755"/>
            <a:ext cx="3934755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3997755"/>
            <a:ext cx="3678723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str; example: discovery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3997755"/>
            <a:ext cx="3934755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3997755"/>
            <a:ext cx="3678723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Preserve purpose;check units/identity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4577484"/>
            <a:ext cx="2764962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05256" y="4577484"/>
            <a:ext cx="2508930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key_event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542202" y="4577484"/>
            <a:ext cx="3934755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70218" y="4577484"/>
            <a:ext cx="3678723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str; example: no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476957" y="4577484"/>
            <a:ext cx="3934755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604973" y="4577484"/>
            <a:ext cx="3678723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Preserve key_event;check units/identity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77240" y="5358381"/>
            <a:ext cx="10634472" cy="8412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77240" y="5358381"/>
            <a:ext cx="100584" cy="8412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51560" y="5468109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WHEN IT MATTERS  </a:t>
            </a:r>
            <a:r>
              <a:rPr sz="1200" b="0">
                <a:solidFill>
                  <a:srgbClr val="21201C"/>
                </a:solidFill>
                <a:latin typeface="Calibri"/>
              </a:rPr>
              <a:t>Source rows remain immutable. New computed fields belong in outputs; ambiguous data is qualified rather than invented.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97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LO4 · ACTIVITY 07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GA4 Measurement Contract · Evidence Exhibit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event_name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trigger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required_parameter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page_view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page loads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page_location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generate_lead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successful enquiry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value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purchase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confirmed payment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transaction_id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398264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4398264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view_item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course detail viewed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items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5312664"/>
            <a:ext cx="10634472" cy="8412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" y="5312664"/>
            <a:ext cx="100584" cy="8412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1560" y="5422392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WHEN IT MATTERS  </a:t>
            </a:r>
            <a:r>
              <a:rPr sz="1200" b="0">
                <a:solidFill>
                  <a:srgbClr val="21201C"/>
                </a:solidFill>
                <a:latin typeface="Calibri"/>
              </a:rPr>
              <a:t>This exhibit is an authored synthetic dataset. Read exact units and identifiers before interpreting values.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98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LO4 · ACTIVITY 07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GA4 Measurement Contract · Worked Calculation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3447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B6862"/>
                </a:solidFill>
                <a:latin typeface="Calibri"/>
              </a:rPr>
              <a:t>Interpret the denominator,units and decision boundary.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86000"/>
            <a:ext cx="5943600" cy="3794760"/>
          </a:xfrm>
          <a:prstGeom prst="rect">
            <a:avLst/>
          </a:prstGeom>
          <a:solidFill>
            <a:srgbClr val="212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2395728"/>
            <a:ext cx="5541264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300">
                <a:solidFill>
                  <a:srgbClr val="B9B4A9"/>
                </a:solidFill>
                <a:latin typeface="Consolas"/>
              </a:rPr>
              <a:t>Contract completeness = 4 defined triggers / 4 events =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F0B89E"/>
                </a:solidFill>
                <a:latin typeface="Consolas"/>
              </a:rPr>
              <a:t>100%; it does not establish live tracking coverage.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95160" y="228600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95160" y="2286000"/>
            <a:ext cx="82296" cy="9144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32904" y="237744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Inputs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32904" y="267004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measurement-plan.csv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95160" y="324612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995160" y="3246120"/>
            <a:ext cx="82296" cy="91440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32904" y="333756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3A7D7B"/>
                </a:solidFill>
                <a:latin typeface="Calibri"/>
              </a:rPr>
              <a:t>Calculation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32904" y="363016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Recompute exact values independently.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95160" y="420624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95160" y="4206240"/>
            <a:ext cx="82296" cy="914400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32904" y="429768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2603F"/>
                </a:solidFill>
                <a:latin typeface="Calibri"/>
              </a:rPr>
              <a:t>Interpretation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32904" y="459028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Synthetic plan covers four journey stages. These counts describe contract coverage…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95160" y="516636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995160" y="5166360"/>
            <a:ext cx="82296" cy="914400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32904" y="525780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88A2E"/>
                </a:solidFill>
                <a:latin typeface="Calibri"/>
              </a:rPr>
              <a:t>Boundary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32904" y="555040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Synthetic descriptive evidence;live/causal result not established.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99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LO4 · ACTIVITY 07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GA4 Measurement Contract · Editable Chart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777240" y="1783080"/>
          <a:ext cx="10634472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ectangle 7"/>
          <p:cNvSpPr/>
          <p:nvPr/>
        </p:nvSpPr>
        <p:spPr>
          <a:xfrm>
            <a:off x="777240" y="5230368"/>
            <a:ext cx="10634472" cy="1005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5230368"/>
            <a:ext cx="100584" cy="100584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5340096"/>
            <a:ext cx="10149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WHAT THE DATA SHOWS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5632704"/>
            <a:ext cx="10149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Synthetic plan covers four journey stages. These counts describe contract coverage, not received GA4 traffic.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1636776"/>
            <a:ext cx="9144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6B6862"/>
                </a:solidFill>
                <a:latin typeface="Calibri"/>
              </a:rPr>
              <a:t>Count of planned stage events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LO4 · ACTIVITY 07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GA4 Measurement Contract · Reproducible Contract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3447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B6862"/>
                </a:solidFill>
                <a:latin typeface="Calibri"/>
              </a:rPr>
              <a:t>Readable excerpt; complete procedure and runnable practice remain in the guide.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86000"/>
            <a:ext cx="5943600" cy="3794760"/>
          </a:xfrm>
          <a:prstGeom prst="rect">
            <a:avLst/>
          </a:prstGeom>
          <a:solidFill>
            <a:srgbClr val="212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2395728"/>
            <a:ext cx="5541264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300">
                <a:solidFill>
                  <a:srgbClr val="6B6862"/>
                </a:solidFill>
                <a:latin typeface="Consolas"/>
              </a:rPr>
              <a:t># GA4 recommended purchase teaching payload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B9B4A9"/>
                </a:solidFill>
                <a:latin typeface="Consolas"/>
              </a:rPr>
              <a:t>event = {"name": "purchase", "params": {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F0B89E"/>
                </a:solidFill>
                <a:latin typeface="Consolas"/>
              </a:rPr>
              <a:t>    "transaction_id": "SYN-T001",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F0B89E"/>
                </a:solidFill>
                <a:latin typeface="Consolas"/>
              </a:rPr>
              <a:t>    "currency": "SGD", "value": 600,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F0B89E"/>
                </a:solidFill>
                <a:latin typeface="Consolas"/>
              </a:rPr>
              <a:t>    "items": [{"item_id": "COURSE01",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F0B89E"/>
                </a:solidFill>
                <a:latin typeface="Consolas"/>
              </a:rPr>
              <a:t>               "item_name": "Synthetic programme"}]}}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95160" y="228600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95160" y="2286000"/>
            <a:ext cx="82296" cy="9144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32904" y="237744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Data contract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32904" y="267004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measurement-plan.csv; exact field names matter.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95160" y="324612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995160" y="3246120"/>
            <a:ext cx="82296" cy="91440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32904" y="333756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3A7D7B"/>
                </a:solidFill>
                <a:latin typeface="Calibri"/>
              </a:rPr>
              <a:t>Identity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32904" y="363016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Preserve row IDs or segment labels.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95160" y="420624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95160" y="4206240"/>
            <a:ext cx="82296" cy="914400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32904" y="429768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2603F"/>
                </a:solidFill>
                <a:latin typeface="Calibri"/>
              </a:rPr>
              <a:t>Calculation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32904" y="459028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Deterministic code checks the agent narrative.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95160" y="516636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995160" y="5166360"/>
            <a:ext cx="82296" cy="914400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32904" y="525780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88A2E"/>
                </a:solidFill>
                <a:latin typeface="Calibri"/>
              </a:rPr>
              <a:t>Verification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32904" y="555040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Four events with unambiguous success triggers; purchase…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101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C2603F"/>
                </a:solidFill>
                <a:latin typeface="Cambria"/>
              </a:rPr>
              <a:t>LO4 · ACTIVITY 07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GA4 Measurement Contract · Decision Rule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Diamond 6"/>
          <p:cNvSpPr/>
          <p:nvPr/>
        </p:nvSpPr>
        <p:spPr>
          <a:xfrm>
            <a:off x="777240" y="2514600"/>
            <a:ext cx="4206240" cy="2468880"/>
          </a:xfrm>
          <a:prstGeom prst="diamond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Does the trigger prove the business outcome?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577840" y="1965960"/>
            <a:ext cx="5806440" cy="1371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577840" y="1965960"/>
            <a:ext cx="100584" cy="137160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52160" y="2112264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3A7D7B"/>
                </a:solidFill>
                <a:latin typeface="Cambria"/>
              </a:rPr>
              <a:t>YES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2514600"/>
            <a:ext cx="5303520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Use named event with contract</a:t>
            </a:r>
          </a:p>
        </p:txBody>
      </p:sp>
      <p:cxnSp>
        <p:nvCxnSpPr>
          <p:cNvPr id="12" name="Connector 11"/>
          <p:cNvCxnSpPr/>
          <p:nvPr/>
        </p:nvCxnSpPr>
        <p:spPr>
          <a:xfrm flipV="1">
            <a:off x="4983480" y="2651760"/>
            <a:ext cx="594360" cy="1097280"/>
          </a:xfrm>
          <a:prstGeom prst="line">
            <a:avLst/>
          </a:prstGeom>
          <a:ln w="25400">
            <a:solidFill>
              <a:srgbClr val="3A7D7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577840" y="3977639"/>
            <a:ext cx="5806440" cy="1371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577840" y="3977639"/>
            <a:ext cx="100584" cy="1371600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52160" y="4123943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C88A2E"/>
                </a:solidFill>
                <a:latin typeface="Cambria"/>
              </a:rPr>
              <a:t>NO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4526279"/>
            <a:ext cx="5303520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Change trigger or rename metric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983480" y="3749040"/>
            <a:ext cx="594360" cy="914399"/>
          </a:xfrm>
          <a:prstGeom prst="line">
            <a:avLst/>
          </a:prstGeom>
          <a:ln w="25400">
            <a:solidFill>
              <a:srgbClr val="C88A2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777240" y="5623560"/>
            <a:ext cx="10634472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5742432"/>
            <a:ext cx="10149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B6862"/>
                </a:solidFill>
                <a:latin typeface="Calibri"/>
              </a:rPr>
              <a:t>This is an authored research decision rule. It does not grant product permissions or replace human review.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102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LO4 · ACTIVITY 07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GA4 Measurement Contract · Claim-Evidence Ledger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Claim layer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Evidence required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Permitted wording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Observation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event_name: page_view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Contract completeness = 4 defined triggers / 4 events = 100%; it does not establish live tracking coverage.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Inference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Synthetic plan covers four journey stages. These counts describe contract coverage, not received…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Does the trigger prove the business outcome?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Recommendation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Use named event with contract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consent-notes.md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398264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4398264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Unknown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generate_lead fires when a form button is pressed even if validation fails. The event trigger must be…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Change trigger or rename metric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5312664"/>
            <a:ext cx="10634472" cy="8412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" y="5312664"/>
            <a:ext cx="100584" cy="8412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1560" y="5422392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WHEN IT MATTERS  </a:t>
            </a:r>
            <a:r>
              <a:rPr sz="1200" b="0">
                <a:solidFill>
                  <a:srgbClr val="21201C"/>
                </a:solidFill>
                <a:latin typeface="Calibri"/>
              </a:rPr>
              <a:t>Preserve the distinction between observed data, model output and human decision throughout Cowork and Code handoffs.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103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C88A2E"/>
                </a:solidFill>
                <a:latin typeface="Cambria"/>
              </a:rPr>
              <a:t>LO4 · ACTIVITY 07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GA4 Measurement Contract · Failure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3447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B6862"/>
                </a:solidFill>
                <a:latin typeface="Calibri"/>
              </a:rPr>
              <a:t>A plausible report can be wrong even when its numbers look polished.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86000"/>
            <a:ext cx="5943600" cy="3794760"/>
          </a:xfrm>
          <a:prstGeom prst="rect">
            <a:avLst/>
          </a:prstGeom>
          <a:solidFill>
            <a:srgbClr val="212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2395728"/>
            <a:ext cx="5541264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300">
                <a:solidFill>
                  <a:srgbClr val="F0B89E"/>
                </a:solidFill>
                <a:latin typeface="Consolas"/>
              </a:rPr>
              <a:t>generate_lead fires when a form button is pressed even if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F0B89E"/>
                </a:solidFill>
                <a:latin typeface="Consolas"/>
              </a:rPr>
              <a:t>validation fails. The event trigger must be confirmed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F0B89E"/>
                </a:solidFill>
                <a:latin typeface="Consolas"/>
              </a:rPr>
              <a:t>successful submission.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95160" y="228600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95160" y="2286000"/>
            <a:ext cx="82296" cy="9144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32904" y="237744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Trigger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32904" y="267004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The agent promotes a claim beyond its evidence.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95160" y="324612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995160" y="3246120"/>
            <a:ext cx="82296" cy="91440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32904" y="333756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3A7D7B"/>
                </a:solidFill>
                <a:latin typeface="Calibri"/>
              </a:rPr>
              <a:t>Diagnostic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32904" y="363016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Inspect the underlying rows,scope and denominator.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95160" y="420624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95160" y="4206240"/>
            <a:ext cx="82296" cy="914400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32904" y="429768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2603F"/>
                </a:solidFill>
                <a:latin typeface="Calibri"/>
              </a:rPr>
              <a:t>Recovery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32904" y="459028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Revise the claim and retain the rejected reasoning.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95160" y="516636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995160" y="5166360"/>
            <a:ext cx="82296" cy="914400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32904" y="525780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88A2E"/>
                </a:solidFill>
                <a:latin typeface="Calibri"/>
              </a:rPr>
              <a:t>Recheck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32904" y="555040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Four events with unambiguous success triggers; purchase…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104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LO4 · ACTIVITY 07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GA4 Measurement Contract · Control and Recovery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Control point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Risk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Required evidence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event_name identity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page_view omitted or changed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Reconcile raw identifiers in measurement-plan.csv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Metric contract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Contract completeness = 4 defined triggers / 4 events = 100%; it does not establish live tracking coverage.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Independent calculation and named denominator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Inference check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generate_lead fires when a form button is pressed even if validation fails. The event trigger must be…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Change trigger or rename metric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398264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4398264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Decision output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measurement-contract.csv and consent-notes.md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Use recommended event semantics and current official documentation. Never send names, emails or phone numbers…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5312664"/>
            <a:ext cx="10634472" cy="8412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" y="5312664"/>
            <a:ext cx="100584" cy="8412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1560" y="5422392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WHEN IT MATTERS  </a:t>
            </a:r>
            <a:r>
              <a:rPr sz="1200" b="0">
                <a:solidFill>
                  <a:srgbClr val="21201C"/>
                </a:solidFill>
                <a:latin typeface="Calibri"/>
              </a:rPr>
              <a:t>Use recommended event semantics and current official documentation. Never send names, emails or phone numbers as analytics parameters. Collection is gated by the organisation’s consent policy.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105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LO4 · ACTIVITY 07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GA4 Measurement Contract · Output Handoff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48840"/>
            <a:ext cx="2370582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79067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7906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measurement-plan.csv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Raw 4 records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202686" y="3223260"/>
            <a:ext cx="274320" cy="0"/>
          </a:xfrm>
          <a:prstGeom prst="line">
            <a:avLst/>
          </a:prstGeom>
          <a:ln w="25400">
            <a:solidFill>
              <a:srgbClr val="D977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353187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31870" y="2148840"/>
            <a:ext cx="2370582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433697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369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988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event_name audit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2331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Preserve identifiers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957316" y="3223260"/>
            <a:ext cx="274320" cy="0"/>
          </a:xfrm>
          <a:prstGeom prst="line">
            <a:avLst/>
          </a:prstGeom>
          <a:ln w="25400">
            <a:solidFill>
              <a:srgbClr val="D977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628650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86500" y="2148840"/>
            <a:ext cx="2370582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188327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8832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451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measurement-contract.csv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794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Computed evidence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711946" y="3223260"/>
            <a:ext cx="274320" cy="0"/>
          </a:xfrm>
          <a:prstGeom prst="line">
            <a:avLst/>
          </a:prstGeom>
          <a:ln w="25400">
            <a:solidFill>
              <a:srgbClr val="D977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904113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041130" y="2148840"/>
            <a:ext cx="2370582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942957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94295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914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Human decision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3257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Reviewer decision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77240" y="4608576"/>
            <a:ext cx="10634472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77240" y="4608576"/>
            <a:ext cx="100584" cy="105156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51560" y="4718304"/>
            <a:ext cx="10149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OUTPUT CONTRACT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1560" y="5029200"/>
            <a:ext cx="1014984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21201C"/>
                </a:solidFill>
                <a:latin typeface="Calibri"/>
              </a:rPr>
              <a:t>Contract completeness = 4 defined triggers / 4 events = 100%; it does not establish live tracking coverage. Output: measurement-contract.csv and consent-notes.md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106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transition spd="fast" advClick="1">
    <p:fade/>
  </p:transition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LO4 · ACTIVITY 07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GA4 Measurement Contract · Acceptance Evidence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10634472" cy="1965960"/>
          </a:xfrm>
          <a:prstGeom prst="rect">
            <a:avLst/>
          </a:prstGeom>
          <a:solidFill>
            <a:srgbClr val="EA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100584" cy="1965960"/>
          </a:xfrm>
          <a:prstGeom prst="rect">
            <a:avLst/>
          </a:prstGeom>
          <a:solidFill>
            <a:srgbClr val="4A8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38528"/>
            <a:ext cx="1005840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4A8F5F"/>
                </a:solidFill>
                <a:latin typeface="Cambria"/>
              </a:rPr>
              <a:t>✅  Expected result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395728"/>
            <a:ext cx="10058400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21201C"/>
                </a:solidFill>
                <a:latin typeface="Calibri"/>
              </a:rPr>
              <a:t>Four events with unambiguous success triggers; purchase transaction_id,currency,value,items; no personal-data parameters.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950208"/>
            <a:ext cx="1063447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C88A2E"/>
                </a:solidFill>
                <a:latin typeface="Calibri"/>
              </a:rPr>
              <a:t>IF IT DOESN'T WORK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4297680"/>
            <a:ext cx="3392424" cy="15727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4297680"/>
            <a:ext cx="3392424" cy="82296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6696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21201C"/>
                </a:solidFill>
                <a:latin typeface="Calibri"/>
              </a:rPr>
              <a:t>Numbers disagree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6696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6862"/>
                </a:solidFill>
                <a:latin typeface="Calibri"/>
              </a:rPr>
              <a:t>Check header parsing,units,denominator and duplicate records.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98264" y="4297680"/>
            <a:ext cx="3392424" cy="15727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98264" y="4297680"/>
            <a:ext cx="3392424" cy="82296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17720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21201C"/>
                </a:solidFill>
                <a:latin typeface="Calibri"/>
              </a:rPr>
              <a:t>Claim lacks a source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6862"/>
                </a:solidFill>
                <a:latin typeface="Calibri"/>
              </a:rPr>
              <a:t>Add row IDs and scope; downgrade or remove unsupported inference.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19288" y="4297680"/>
            <a:ext cx="3392424" cy="15727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19288" y="4297680"/>
            <a:ext cx="3392424" cy="82296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38744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21201C"/>
                </a:solidFill>
                <a:latin typeface="Calibri"/>
              </a:rPr>
              <a:t>Tool unavailable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38744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6862"/>
                </a:solidFill>
                <a:latin typeface="Calibri"/>
              </a:rPr>
              <a:t>Use the documented CSV fallback and state the unexecuted product boundary.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107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LO4 · ACTIVITY 08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Event Quality and Deduplication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19072"/>
            <a:ext cx="1554480" cy="420624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5544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mbria"/>
              </a:rPr>
              <a:t>ACTIVITY 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87168" y="1719072"/>
            <a:ext cx="88696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B6862"/>
                </a:solidFill>
                <a:latin typeface="Calibri"/>
              </a:rPr>
              <a:t>ICT-SNM-3007-1.1 · LO4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86000"/>
            <a:ext cx="10634472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21201C"/>
                </a:solidFill>
                <a:latin typeface="Calibri"/>
              </a:rPr>
              <a:t>A synthetic event export contains duplicate purchases and a missing transaction ID. Claude Code should create a reproducible audit without silently removing evidence or treating a CSV as a live GA4 test.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474720"/>
            <a:ext cx="3392424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3474720"/>
            <a:ext cx="3392424" cy="9144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6696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YOU'LL BUILD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6696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event-audit.csv and reconciliation.md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98264" y="3474720"/>
            <a:ext cx="3392424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98264" y="3474720"/>
            <a:ext cx="3392424" cy="9144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17720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TOOLCHAIN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Claude Cowork · Claude Code · CSV / Markdown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19288" y="3474720"/>
            <a:ext cx="3392424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19288" y="3474720"/>
            <a:ext cx="3392424" cy="91440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8744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C2603F"/>
                </a:solidFill>
                <a:latin typeface="Calibri"/>
              </a:rPr>
              <a:t>DONE WHEN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38744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Five raw rows retained in audit; T001 counted once; T002 once; E04 missing-ID; accepted value $1100.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108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LO4 · ACTIVITY 08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21201C"/>
                </a:solidFill>
                <a:latin typeface="Calibri"/>
              </a:rPr>
              <a:t>Event Quality and Deduplication · Data and Trust Boundaries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48840"/>
            <a:ext cx="2370582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79067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7906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Raw inputs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events.csv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202686" y="3223260"/>
            <a:ext cx="274320" cy="0"/>
          </a:xfrm>
          <a:prstGeom prst="line">
            <a:avLst/>
          </a:prstGeom>
          <a:ln w="25400">
            <a:solidFill>
              <a:srgbClr val="D977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353187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31870" y="2148840"/>
            <a:ext cx="2370582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433697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369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988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Evidence checks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2331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IDs,date,units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957316" y="3223260"/>
            <a:ext cx="274320" cy="0"/>
          </a:xfrm>
          <a:prstGeom prst="line">
            <a:avLst/>
          </a:prstGeom>
          <a:ln w="25400">
            <a:solidFill>
              <a:srgbClr val="D977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628650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86500" y="2148840"/>
            <a:ext cx="2370582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188327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8832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451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Deterministic analysis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794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Schema and formulas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711946" y="3223260"/>
            <a:ext cx="274320" cy="0"/>
          </a:xfrm>
          <a:prstGeom prst="line">
            <a:avLst/>
          </a:prstGeom>
          <a:ln w="25400">
            <a:solidFill>
              <a:srgbClr val="D977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904113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041130" y="2148840"/>
            <a:ext cx="2370582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942957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94295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914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Human decision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3257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Review before action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77240" y="4608576"/>
            <a:ext cx="10634472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77240" y="4608576"/>
            <a:ext cx="100584" cy="105156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51560" y="4718304"/>
            <a:ext cx="10149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CONTRACT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1560" y="5029200"/>
            <a:ext cx="1014984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21201C"/>
                </a:solidFill>
                <a:latin typeface="Calibri"/>
              </a:rPr>
              <a:t>Parse schema -&gt; isolate purchases -&gt; validate transaction IDs -&gt; group duplicates -&gt; reconcile value -&gt; emit accepted and quarantined rows -&gt; human review.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109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transition spd="fast" advClick="1">
    <p:fade/>
  </p:transition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LO4 · ACTIVITY 08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Event Quality and Deduplication · Input Schema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Field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Contract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Quality control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event_id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str; example: E01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Preserve event_id;check units/identity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838297"/>
            <a:ext cx="2764962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838297"/>
            <a:ext cx="2508930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event_name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838297"/>
            <a:ext cx="3934755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838297"/>
            <a:ext cx="3678723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str; example: purchase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838297"/>
            <a:ext cx="3934755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838297"/>
            <a:ext cx="3678723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Preserve event_name;check units/identity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418026"/>
            <a:ext cx="2764962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418026"/>
            <a:ext cx="2508930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transaction_id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418026"/>
            <a:ext cx="3934755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418026"/>
            <a:ext cx="3678723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str; example: T001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418026"/>
            <a:ext cx="3934755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418026"/>
            <a:ext cx="3678723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Preserve transaction_id;check units/identity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3997755"/>
            <a:ext cx="2764962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3997755"/>
            <a:ext cx="2508930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value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3997755"/>
            <a:ext cx="3934755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3997755"/>
            <a:ext cx="3678723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int; example: 600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3997755"/>
            <a:ext cx="3934755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3997755"/>
            <a:ext cx="3678723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Preserve value;check units/identity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4577484"/>
            <a:ext cx="2764962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05256" y="4577484"/>
            <a:ext cx="2508930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currency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542202" y="4577484"/>
            <a:ext cx="3934755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70218" y="4577484"/>
            <a:ext cx="3678723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str; example: SGD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476957" y="4577484"/>
            <a:ext cx="3934755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604973" y="4577484"/>
            <a:ext cx="3678723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Preserve currency;check units/identity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77240" y="5358381"/>
            <a:ext cx="10634472" cy="8412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77240" y="5358381"/>
            <a:ext cx="100584" cy="8412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51560" y="5468109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WHEN IT MATTERS  </a:t>
            </a:r>
            <a:r>
              <a:rPr sz="1200" b="0">
                <a:solidFill>
                  <a:srgbClr val="21201C"/>
                </a:solidFill>
                <a:latin typeface="Calibri"/>
              </a:rPr>
              <a:t>Source rows remain immutable. New computed fields belong in outputs; ambiguous data is qualified rather than invented.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110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LO4 · ACTIVITY 08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Event Quality and Deduplication · Evidence Exhibit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event_id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2623170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2367138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transaction_id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65372" y="1783080"/>
            <a:ext cx="2623170" cy="47548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93388" y="1783080"/>
            <a:ext cx="2367138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value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788542" y="1783080"/>
            <a:ext cx="2623170" cy="475488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16558" y="1783080"/>
            <a:ext cx="2367138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currency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2258568"/>
            <a:ext cx="2764962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5256" y="2258568"/>
            <a:ext cx="2508930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E01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542202" y="2258568"/>
            <a:ext cx="2623170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70218" y="2258568"/>
            <a:ext cx="2367138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T001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65372" y="2258568"/>
            <a:ext cx="2623170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93388" y="2258568"/>
            <a:ext cx="2367138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600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788542" y="2258568"/>
            <a:ext cx="2623170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16558" y="2258568"/>
            <a:ext cx="2367138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SGD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2838297"/>
            <a:ext cx="2764962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5256" y="2838297"/>
            <a:ext cx="2508930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E02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542202" y="2838297"/>
            <a:ext cx="2623170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70218" y="2838297"/>
            <a:ext cx="2367138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T001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65372" y="2838297"/>
            <a:ext cx="2623170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93388" y="2838297"/>
            <a:ext cx="2367138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600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788542" y="2838297"/>
            <a:ext cx="2623170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916558" y="2838297"/>
            <a:ext cx="2367138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SGD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3418026"/>
            <a:ext cx="2764962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3418026"/>
            <a:ext cx="2508930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E03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3418026"/>
            <a:ext cx="2623170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3418026"/>
            <a:ext cx="2367138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T002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165372" y="3418026"/>
            <a:ext cx="2623170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293388" y="3418026"/>
            <a:ext cx="2367138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500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788542" y="3418026"/>
            <a:ext cx="2623170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916558" y="3418026"/>
            <a:ext cx="2367138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SGD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7240" y="3997755"/>
            <a:ext cx="2764962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05256" y="3997755"/>
            <a:ext cx="2508930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E04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542202" y="3997755"/>
            <a:ext cx="2623170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670218" y="3997755"/>
            <a:ext cx="2367138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/>
            </a:r>
          </a:p>
        </p:txBody>
      </p:sp>
      <p:sp>
        <p:nvSpPr>
          <p:cNvPr id="43" name="Rectangle 42"/>
          <p:cNvSpPr/>
          <p:nvPr/>
        </p:nvSpPr>
        <p:spPr>
          <a:xfrm>
            <a:off x="6165372" y="3997755"/>
            <a:ext cx="2623170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293388" y="3997755"/>
            <a:ext cx="2367138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400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788542" y="3997755"/>
            <a:ext cx="2623170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916558" y="3997755"/>
            <a:ext cx="2367138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SGD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77240" y="4577484"/>
            <a:ext cx="2764962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05256" y="4577484"/>
            <a:ext cx="2508930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E05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542202" y="4577484"/>
            <a:ext cx="2623170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670218" y="4577484"/>
            <a:ext cx="2367138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/>
            </a:r>
          </a:p>
        </p:txBody>
      </p:sp>
      <p:sp>
        <p:nvSpPr>
          <p:cNvPr id="51" name="Rectangle 50"/>
          <p:cNvSpPr/>
          <p:nvPr/>
        </p:nvSpPr>
        <p:spPr>
          <a:xfrm>
            <a:off x="6165372" y="4577484"/>
            <a:ext cx="2623170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293388" y="4577484"/>
            <a:ext cx="2367138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0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788542" y="4577484"/>
            <a:ext cx="2623170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916558" y="4577484"/>
            <a:ext cx="2367138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SGD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77240" y="5358381"/>
            <a:ext cx="10634472" cy="8412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77240" y="5358381"/>
            <a:ext cx="100584" cy="8412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51560" y="5468109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WHEN IT MATTERS  </a:t>
            </a:r>
            <a:r>
              <a:rPr sz="1200" b="0">
                <a:solidFill>
                  <a:srgbClr val="21201C"/>
                </a:solidFill>
                <a:latin typeface="Calibri"/>
              </a:rPr>
              <a:t>This exhibit is an authored synthetic dataset. Read exact units and identifiers before interpreting values.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111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LO4 · ACTIVITY 08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Event Quality and Deduplication · Worked Calculation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3447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B6862"/>
                </a:solidFill>
                <a:latin typeface="Calibri"/>
              </a:rPr>
              <a:t>Interpret the denominator,units and decision boundary.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86000"/>
            <a:ext cx="5943600" cy="3794760"/>
          </a:xfrm>
          <a:prstGeom prst="rect">
            <a:avLst/>
          </a:prstGeom>
          <a:solidFill>
            <a:srgbClr val="212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2395728"/>
            <a:ext cx="5541264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300">
                <a:solidFill>
                  <a:srgbClr val="B9B4A9"/>
                </a:solidFill>
                <a:latin typeface="Consolas"/>
              </a:rPr>
              <a:t>Raw purchase value = 600+600+500+400 = $2100. Valid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B9B4A9"/>
                </a:solidFill>
                <a:latin typeface="Consolas"/>
              </a:rPr>
              <a:t>distinct transaction value = $1100; duplicate $600 and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F0B89E"/>
                </a:solidFill>
                <a:latin typeface="Consolas"/>
              </a:rPr>
              <a:t>missing-ID $400 are quarantined.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95160" y="228600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95160" y="2286000"/>
            <a:ext cx="82296" cy="9144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32904" y="237744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Inputs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32904" y="267004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events.csv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95160" y="324612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995160" y="3246120"/>
            <a:ext cx="82296" cy="91440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32904" y="333756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3A7D7B"/>
                </a:solidFill>
                <a:latin typeface="Calibri"/>
              </a:rPr>
              <a:t>Calculation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32904" y="363016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Recompute exact values independently.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95160" y="420624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95160" y="4206240"/>
            <a:ext cx="82296" cy="914400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32904" y="429768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2603F"/>
                </a:solidFill>
                <a:latin typeface="Calibri"/>
              </a:rPr>
              <a:t>Interpretation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32904" y="459028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Synthetic reconciliation. Raw revenue is overstated by $1000; the audit must…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95160" y="516636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995160" y="5166360"/>
            <a:ext cx="82296" cy="914400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32904" y="525780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88A2E"/>
                </a:solidFill>
                <a:latin typeface="Calibri"/>
              </a:rPr>
              <a:t>Boundary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32904" y="555040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Synthetic descriptive evidence;live/causal result not established.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112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LO4 · ACTIVITY 08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Event Quality and Deduplication · Editable Chart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777240" y="1783080"/>
          <a:ext cx="10634472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ectangle 7"/>
          <p:cNvSpPr/>
          <p:nvPr/>
        </p:nvSpPr>
        <p:spPr>
          <a:xfrm>
            <a:off x="777240" y="5230368"/>
            <a:ext cx="10634472" cy="1005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5230368"/>
            <a:ext cx="100584" cy="100584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5340096"/>
            <a:ext cx="10149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WHAT THE DATA SHOWS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5632704"/>
            <a:ext cx="10149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Synthetic reconciliation. Raw revenue is overstated by $1000; the audit must preserve excluded event IDs and reasons.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113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1636776"/>
            <a:ext cx="9144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6B6862"/>
                </a:solidFill>
                <a:latin typeface="Calibri"/>
              </a:rPr>
              <a:t>Synthetic purchase value (SGD)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LO4 · ACTIVITY 08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21201C"/>
                </a:solidFill>
                <a:latin typeface="Calibri"/>
              </a:rPr>
              <a:t>Event Quality and Deduplication · Reproducible Contract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3447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B6862"/>
                </a:solidFill>
                <a:latin typeface="Calibri"/>
              </a:rPr>
              <a:t>Readable excerpt; complete procedure and runnable practice remain in the guide.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86000"/>
            <a:ext cx="5943600" cy="3794760"/>
          </a:xfrm>
          <a:prstGeom prst="rect">
            <a:avLst/>
          </a:prstGeom>
          <a:solidFill>
            <a:srgbClr val="212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2395728"/>
            <a:ext cx="5541264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300">
                <a:solidFill>
                  <a:srgbClr val="B9B4A9"/>
                </a:solidFill>
                <a:latin typeface="Consolas"/>
              </a:rPr>
              <a:t>purchases = [r for r in rows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B9B4A9"/>
                </a:solidFill>
                <a:latin typeface="Consolas"/>
              </a:rPr>
              <a:t>             if r["event_name"] == "purchase"]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B9B4A9"/>
                </a:solidFill>
                <a:latin typeface="Consolas"/>
              </a:rPr>
              <a:t>seen = set(); valid = []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F0B89E"/>
                </a:solidFill>
                <a:latin typeface="Consolas"/>
              </a:rPr>
              <a:t>for r in purchases: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B9B4A9"/>
                </a:solidFill>
                <a:latin typeface="Consolas"/>
              </a:rPr>
              <a:t>    tid = r["transaction_id"]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F0B89E"/>
                </a:solidFill>
                <a:latin typeface="Consolas"/>
              </a:rPr>
              <a:t>    if tid and tid not in seen: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F0B89E"/>
                </a:solidFill>
                <a:latin typeface="Consolas"/>
              </a:rPr>
              <a:t>        valid.append(r); seen.add(tid)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95160" y="228600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95160" y="2286000"/>
            <a:ext cx="82296" cy="9144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32904" y="237744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Data contract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32904" y="267004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events.csv; exact field names matter.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95160" y="324612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995160" y="3246120"/>
            <a:ext cx="82296" cy="91440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32904" y="333756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3A7D7B"/>
                </a:solidFill>
                <a:latin typeface="Calibri"/>
              </a:rPr>
              <a:t>Identity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32904" y="363016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Preserve row IDs or segment labels.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95160" y="420624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95160" y="4206240"/>
            <a:ext cx="82296" cy="914400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32904" y="429768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2603F"/>
                </a:solidFill>
                <a:latin typeface="Calibri"/>
              </a:rPr>
              <a:t>Calculation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32904" y="459028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Deterministic code checks the agent narrative.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95160" y="516636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995160" y="5166360"/>
            <a:ext cx="82296" cy="914400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32904" y="525780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88A2E"/>
                </a:solidFill>
                <a:latin typeface="Calibri"/>
              </a:rPr>
              <a:t>Verification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32904" y="555040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Five raw rows retained in audit; T001 counted once; T002 once; E04 missing-ID…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114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C2603F"/>
                </a:solidFill>
                <a:latin typeface="Cambria"/>
              </a:rPr>
              <a:t>LO4 · ACTIVITY 08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Event Quality and Deduplication · Decision Rule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Diamond 6"/>
          <p:cNvSpPr/>
          <p:nvPr/>
        </p:nvSpPr>
        <p:spPr>
          <a:xfrm>
            <a:off x="777240" y="2514600"/>
            <a:ext cx="4206240" cy="2468880"/>
          </a:xfrm>
          <a:prstGeom prst="diamond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Is the purchase transaction ID valid and unique?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577840" y="1965960"/>
            <a:ext cx="5806440" cy="1371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577840" y="1965960"/>
            <a:ext cx="100584" cy="137160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52160" y="2112264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3A7D7B"/>
                </a:solidFill>
                <a:latin typeface="Cambria"/>
              </a:rPr>
              <a:t>YES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2514600"/>
            <a:ext cx="5303520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Accept for transaction-value total</a:t>
            </a:r>
          </a:p>
        </p:txBody>
      </p:sp>
      <p:cxnSp>
        <p:nvCxnSpPr>
          <p:cNvPr id="12" name="Connector 11"/>
          <p:cNvCxnSpPr/>
          <p:nvPr/>
        </p:nvCxnSpPr>
        <p:spPr>
          <a:xfrm flipV="1">
            <a:off x="4983480" y="2651760"/>
            <a:ext cx="594360" cy="1097280"/>
          </a:xfrm>
          <a:prstGeom prst="line">
            <a:avLst/>
          </a:prstGeom>
          <a:ln w="25400">
            <a:solidFill>
              <a:srgbClr val="3A7D7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577840" y="3977639"/>
            <a:ext cx="5806440" cy="1371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577840" y="3977639"/>
            <a:ext cx="100584" cy="1371600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52160" y="4123943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C88A2E"/>
                </a:solidFill>
                <a:latin typeface="Cambria"/>
              </a:rPr>
              <a:t>NO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4526279"/>
            <a:ext cx="5303520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Quarantine with event_id reason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983480" y="3749040"/>
            <a:ext cx="594360" cy="914399"/>
          </a:xfrm>
          <a:prstGeom prst="line">
            <a:avLst/>
          </a:prstGeom>
          <a:ln w="25400">
            <a:solidFill>
              <a:srgbClr val="C88A2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777240" y="5623560"/>
            <a:ext cx="10634472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5742432"/>
            <a:ext cx="10149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B6862"/>
                </a:solidFill>
                <a:latin typeface="Calibri"/>
              </a:rPr>
              <a:t>This is an authored research decision rule. It does not grant product permissions or replace human review.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115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LO4 · ACTIVITY 08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21201C"/>
                </a:solidFill>
                <a:latin typeface="Calibri"/>
              </a:rPr>
              <a:t>Event Quality and Deduplication · Claim-Evidence Ledger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Claim layer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Evidence required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Permitted wording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Observation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event_id: E01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Raw purchase value = 600+600+500+400 = $2100. Valid distinct transaction value = $1100; duplicate $600 and…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Inference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Synthetic reconciliation. Raw revenue is overstated by $1000; the audit must preserve excluded…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Is the purchase transaction ID valid and unique?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Recommendation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Accept for transaction-value total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reconciliation.md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398264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4398264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Unknown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Deduplicating by value removes two different $600 orders. Transaction identity, not price equality…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Quarantine with event_id reason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5312664"/>
            <a:ext cx="10634472" cy="8412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" y="5312664"/>
            <a:ext cx="100584" cy="8412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1560" y="5422392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WHEN IT MATTERS  </a:t>
            </a:r>
            <a:r>
              <a:rPr sz="1200" b="0">
                <a:solidFill>
                  <a:srgbClr val="21201C"/>
                </a:solidFill>
                <a:latin typeface="Calibri"/>
              </a:rPr>
              <a:t>Preserve the distinction between observed data, model output and human decision throughout Cowork and Code handoffs.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116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C88A2E"/>
                </a:solidFill>
                <a:latin typeface="Cambria"/>
              </a:rPr>
              <a:t>LO4 · ACTIVITY 08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Event Quality and Deduplication · Failure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3447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B6862"/>
                </a:solidFill>
                <a:latin typeface="Calibri"/>
              </a:rPr>
              <a:t>A plausible report can be wrong even when its numbers look polished.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86000"/>
            <a:ext cx="5943600" cy="3794760"/>
          </a:xfrm>
          <a:prstGeom prst="rect">
            <a:avLst/>
          </a:prstGeom>
          <a:solidFill>
            <a:srgbClr val="212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2395728"/>
            <a:ext cx="5541264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300">
                <a:solidFill>
                  <a:srgbClr val="F0B89E"/>
                </a:solidFill>
                <a:latin typeface="Consolas"/>
              </a:rPr>
              <a:t>Deduplicating by value removes two different $600 orders.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F0B89E"/>
                </a:solidFill>
                <a:latin typeface="Consolas"/>
              </a:rPr>
              <a:t>Transaction identity, not price equality, determines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F0B89E"/>
                </a:solidFill>
                <a:latin typeface="Consolas"/>
              </a:rPr>
              <a:t>duplication.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95160" y="228600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95160" y="2286000"/>
            <a:ext cx="82296" cy="9144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32904" y="237744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Trigger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32904" y="267004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The agent promotes a claim beyond its evidence.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95160" y="324612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995160" y="3246120"/>
            <a:ext cx="82296" cy="91440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32904" y="333756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3A7D7B"/>
                </a:solidFill>
                <a:latin typeface="Calibri"/>
              </a:rPr>
              <a:t>Diagnostic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32904" y="363016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Inspect the underlying rows,scope and denominator.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95160" y="420624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95160" y="4206240"/>
            <a:ext cx="82296" cy="914400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32904" y="429768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2603F"/>
                </a:solidFill>
                <a:latin typeface="Calibri"/>
              </a:rPr>
              <a:t>Recovery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32904" y="459028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Revise the claim and retain the rejected reasoning.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95160" y="516636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995160" y="5166360"/>
            <a:ext cx="82296" cy="914400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32904" y="525780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88A2E"/>
                </a:solidFill>
                <a:latin typeface="Calibri"/>
              </a:rPr>
              <a:t>Recheck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32904" y="555040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Five raw rows retained in audit; T001 counted once; T002 once; E04 missing-ID…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117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LO4 · ACTIVITY 08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21201C"/>
                </a:solidFill>
                <a:latin typeface="Calibri"/>
              </a:rPr>
              <a:t>Event Quality and Deduplication · Control and Recovery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Control point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Risk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Required evidence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event_id identity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E01 omitted or changed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Reconcile raw identifiers in events.csv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Metric contract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Raw purchase value = 600+600+500+400 = $2100. Valid distinct transaction value = $1100; duplicate $600 and…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Independent calculation and named denominator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Inference check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Deduplicating by value removes two different $600 orders. Transaction identity, not price equality…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Quarantine with event_id reason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398264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4398264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Decision output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event-audit.csv and reconciliation.md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Keep raw exports immutable, log rejection reasons, validate currency before summing, and make deduplication…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5312664"/>
            <a:ext cx="10634472" cy="8412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" y="5312664"/>
            <a:ext cx="100584" cy="8412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1560" y="5422392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WHEN IT MATTERS  </a:t>
            </a:r>
            <a:r>
              <a:rPr sz="1200" b="0">
                <a:solidFill>
                  <a:srgbClr val="21201C"/>
                </a:solidFill>
                <a:latin typeface="Calibri"/>
              </a:rPr>
              <a:t>Keep raw exports immutable, log rejection reasons, validate currency before summing, and make deduplication rules explicit. This dataset does not test actual GA4 deduplication.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118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LO4 · ACTIVITY 08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Event Quality and Deduplication · Output Handoff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48840"/>
            <a:ext cx="2370582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79067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7906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events.csv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Raw 5 records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202686" y="3223260"/>
            <a:ext cx="274320" cy="0"/>
          </a:xfrm>
          <a:prstGeom prst="line">
            <a:avLst/>
          </a:prstGeom>
          <a:ln w="25400">
            <a:solidFill>
              <a:srgbClr val="D977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353187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31870" y="2148840"/>
            <a:ext cx="2370582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433697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369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988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event_id audit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2331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Preserve identifiers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957316" y="3223260"/>
            <a:ext cx="274320" cy="0"/>
          </a:xfrm>
          <a:prstGeom prst="line">
            <a:avLst/>
          </a:prstGeom>
          <a:ln w="25400">
            <a:solidFill>
              <a:srgbClr val="D977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628650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86500" y="2148840"/>
            <a:ext cx="2370582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188327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8832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451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event-audit.csv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794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Computed evidence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711946" y="3223260"/>
            <a:ext cx="274320" cy="0"/>
          </a:xfrm>
          <a:prstGeom prst="line">
            <a:avLst/>
          </a:prstGeom>
          <a:ln w="25400">
            <a:solidFill>
              <a:srgbClr val="D977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904113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041130" y="2148840"/>
            <a:ext cx="2370582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942957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94295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914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Human decision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3257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Reviewer decision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77240" y="4608576"/>
            <a:ext cx="10634472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77240" y="4608576"/>
            <a:ext cx="100584" cy="105156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51560" y="4718304"/>
            <a:ext cx="10149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OUTPUT CONTRACT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1560" y="5029200"/>
            <a:ext cx="1014984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21201C"/>
                </a:solidFill>
                <a:latin typeface="Calibri"/>
              </a:rPr>
              <a:t>Raw purchase value = 600+600+500+400 = $2100. Valid distinct transaction value = $1100; duplicate $600 and missing-ID $400 are quarantined. Output: event-audit.csv and reconciliation.md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119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transition spd="fast" advClick="1">
    <p:fade/>
  </p:transition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LO4 · ACTIVITY 08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21201C"/>
                </a:solidFill>
                <a:latin typeface="Calibri"/>
              </a:rPr>
              <a:t>Event Quality and Deduplication · Acceptance Evidence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10634472" cy="1965960"/>
          </a:xfrm>
          <a:prstGeom prst="rect">
            <a:avLst/>
          </a:prstGeom>
          <a:solidFill>
            <a:srgbClr val="EA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100584" cy="1965960"/>
          </a:xfrm>
          <a:prstGeom prst="rect">
            <a:avLst/>
          </a:prstGeom>
          <a:solidFill>
            <a:srgbClr val="4A8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38528"/>
            <a:ext cx="1005840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4A8F5F"/>
                </a:solidFill>
                <a:latin typeface="Cambria"/>
              </a:rPr>
              <a:t>✅  Expected result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395728"/>
            <a:ext cx="10058400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21201C"/>
                </a:solidFill>
                <a:latin typeface="Calibri"/>
              </a:rPr>
              <a:t>Five raw rows retained in audit; T001 counted once; T002 once; E04 missing-ID; accepted value $1100.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950208"/>
            <a:ext cx="1063447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C88A2E"/>
                </a:solidFill>
                <a:latin typeface="Calibri"/>
              </a:rPr>
              <a:t>IF IT DOESN'T WORK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4297680"/>
            <a:ext cx="3392424" cy="15727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4297680"/>
            <a:ext cx="3392424" cy="82296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6696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21201C"/>
                </a:solidFill>
                <a:latin typeface="Calibri"/>
              </a:rPr>
              <a:t>Numbers disagree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6696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6862"/>
                </a:solidFill>
                <a:latin typeface="Calibri"/>
              </a:rPr>
              <a:t>Check header parsing,units,denominator and duplicate records.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98264" y="4297680"/>
            <a:ext cx="3392424" cy="15727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98264" y="4297680"/>
            <a:ext cx="3392424" cy="82296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17720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21201C"/>
                </a:solidFill>
                <a:latin typeface="Calibri"/>
              </a:rPr>
              <a:t>Claim lacks a source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6862"/>
                </a:solidFill>
                <a:latin typeface="Calibri"/>
              </a:rPr>
              <a:t>Add row IDs and scope; downgrade or remove unsupported inference.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19288" y="4297680"/>
            <a:ext cx="3392424" cy="15727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19288" y="4297680"/>
            <a:ext cx="3392424" cy="82296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38744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21201C"/>
                </a:solidFill>
                <a:latin typeface="Calibri"/>
              </a:rPr>
              <a:t>Tool unavailable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38744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6862"/>
                </a:solidFill>
                <a:latin typeface="Calibri"/>
              </a:rPr>
              <a:t>Use the documented CSV fallback and state the unexecuted product boundary.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120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LO4 · ACTIVITY 09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Conversions and Attribution Limits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19072"/>
            <a:ext cx="1554480" cy="420624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5544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mbria"/>
              </a:rPr>
              <a:t>ACTIVITY 09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87168" y="1719072"/>
            <a:ext cx="88696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B6862"/>
                </a:solidFill>
                <a:latin typeface="Calibri"/>
              </a:rPr>
              <a:t>ICT-SNM-3007-1.1 · LO4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86000"/>
            <a:ext cx="10634472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21201C"/>
                </a:solidFill>
                <a:latin typeface="Calibri"/>
              </a:rPr>
              <a:t>Four synthetic conversion journeys include paid search, organic search, email and direct visits. Comparing first and last touch illustrates attribution sensitivity without pretending to reproduce GA4 data-driven attribution.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474720"/>
            <a:ext cx="3392424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3474720"/>
            <a:ext cx="3392424" cy="9144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6696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YOU'LL BUILD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6696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attribution-comparison.csv and model-limitations.md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98264" y="3474720"/>
            <a:ext cx="3392424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98264" y="3474720"/>
            <a:ext cx="3392424" cy="9144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17720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TOOLCHAIN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Claude Cowork · Claude Code · CSV / Markdown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19288" y="3474720"/>
            <a:ext cx="3392424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19288" y="3474720"/>
            <a:ext cx="3392424" cy="91440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8744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C2603F"/>
                </a:solidFill>
                <a:latin typeface="Calibri"/>
              </a:rPr>
              <a:t>DONE WHEN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38744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Both models reconcile to $2400; paid first-touch $1200; email last-touch $1300; no causal ROI claim.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121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LO4 · ACTIVITY 09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21201C"/>
                </a:solidFill>
                <a:latin typeface="Calibri"/>
              </a:rPr>
              <a:t>Conversions and Attribution Limits · Data and Trust Boundaries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48840"/>
            <a:ext cx="2370582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79067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7906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Raw inputs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touchpoints.csv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202686" y="3223260"/>
            <a:ext cx="274320" cy="0"/>
          </a:xfrm>
          <a:prstGeom prst="line">
            <a:avLst/>
          </a:prstGeom>
          <a:ln w="25400">
            <a:solidFill>
              <a:srgbClr val="D977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353187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31870" y="2148840"/>
            <a:ext cx="2370582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433697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369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988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Evidence checks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2331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IDs,date,units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957316" y="3223260"/>
            <a:ext cx="274320" cy="0"/>
          </a:xfrm>
          <a:prstGeom prst="line">
            <a:avLst/>
          </a:prstGeom>
          <a:ln w="25400">
            <a:solidFill>
              <a:srgbClr val="D977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628650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86500" y="2148840"/>
            <a:ext cx="2370582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188327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8832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451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Deterministic analysis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794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Schema and formulas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711946" y="3223260"/>
            <a:ext cx="274320" cy="0"/>
          </a:xfrm>
          <a:prstGeom prst="line">
            <a:avLst/>
          </a:prstGeom>
          <a:ln w="25400">
            <a:solidFill>
              <a:srgbClr val="D977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904113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041130" y="2148840"/>
            <a:ext cx="2370582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942957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94295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914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Human decision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3257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Review before action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77240" y="4608576"/>
            <a:ext cx="10634472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77240" y="4608576"/>
            <a:ext cx="100584" cy="105156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51560" y="4718304"/>
            <a:ext cx="10149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CONTRACT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1560" y="5029200"/>
            <a:ext cx="1014984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21201C"/>
                </a:solidFill>
                <a:latin typeface="Calibri"/>
              </a:rPr>
              <a:t>Define eligible channels and lookback -&gt; order touches -&gt; choose allocation model -&gt; reconcile totals -&gt; compare sensitivity -&gt; distinguish attribution from lift.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122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transition spd="fast" advClick="1">
    <p:fade/>
  </p:transition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LO4 · ACTIVITY 09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Conversions and Attribution Limits · Input Schema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Field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Contract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Quality control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journey_id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str; example: J01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Preserve journey_id;check units/identity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first_channel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str; example: Paid search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Preserve first_channel;check units/identity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last_channel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str; example: Email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Preserve last_channel;check units/identity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398264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4398264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revenue_sgd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int; example: 600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Preserve revenue_sgd;check units/identity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5312664"/>
            <a:ext cx="10634472" cy="8412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" y="5312664"/>
            <a:ext cx="100584" cy="8412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1560" y="5422392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WHEN IT MATTERS  </a:t>
            </a:r>
            <a:r>
              <a:rPr sz="1200" b="0">
                <a:solidFill>
                  <a:srgbClr val="21201C"/>
                </a:solidFill>
                <a:latin typeface="Calibri"/>
              </a:rPr>
              <a:t>Source rows remain immutable. New computed fields belong in outputs; ambiguous data is qualified rather than invented.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123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LO4 · ACTIVITY 09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21201C"/>
                </a:solidFill>
                <a:latin typeface="Calibri"/>
              </a:rPr>
              <a:t>Conversions and Attribution Limits · Evidence Exhibit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journey_id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2623170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2367138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first_channel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65372" y="1783080"/>
            <a:ext cx="2623170" cy="47548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93388" y="1783080"/>
            <a:ext cx="2367138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last_channel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788542" y="1783080"/>
            <a:ext cx="2623170" cy="475488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16558" y="1783080"/>
            <a:ext cx="2367138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revenue_sgd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J01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542202" y="2258568"/>
            <a:ext cx="262317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70218" y="2258568"/>
            <a:ext cx="2367138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Paid search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65372" y="2258568"/>
            <a:ext cx="262317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93388" y="2258568"/>
            <a:ext cx="2367138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Email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788542" y="2258568"/>
            <a:ext cx="262317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16558" y="2258568"/>
            <a:ext cx="2367138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600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J02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542202" y="2971800"/>
            <a:ext cx="262317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70218" y="2971800"/>
            <a:ext cx="2367138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Organic search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65372" y="2971800"/>
            <a:ext cx="262317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93388" y="2971800"/>
            <a:ext cx="2367138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Direct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788542" y="2971800"/>
            <a:ext cx="262317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916558" y="2971800"/>
            <a:ext cx="2367138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500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J03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3685032"/>
            <a:ext cx="262317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3685032"/>
            <a:ext cx="2367138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Paid search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165372" y="3685032"/>
            <a:ext cx="262317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293388" y="3685032"/>
            <a:ext cx="2367138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Direct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788542" y="3685032"/>
            <a:ext cx="262317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916558" y="3685032"/>
            <a:ext cx="2367138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600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7240" y="4398264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05256" y="4398264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J04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542202" y="4398264"/>
            <a:ext cx="262317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670218" y="4398264"/>
            <a:ext cx="2367138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Email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165372" y="4398264"/>
            <a:ext cx="262317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293388" y="4398264"/>
            <a:ext cx="2367138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Email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788542" y="4398264"/>
            <a:ext cx="262317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916558" y="4398264"/>
            <a:ext cx="2367138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700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77240" y="5312664"/>
            <a:ext cx="10634472" cy="8412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77240" y="5312664"/>
            <a:ext cx="100584" cy="8412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51560" y="5422392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WHEN IT MATTERS  </a:t>
            </a:r>
            <a:r>
              <a:rPr sz="1200" b="0">
                <a:solidFill>
                  <a:srgbClr val="21201C"/>
                </a:solidFill>
                <a:latin typeface="Calibri"/>
              </a:rPr>
              <a:t>This exhibit is an authored synthetic dataset. Read exact units and identifiers before interpreting values.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124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LO4 · ACTIVITY 09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21201C"/>
                </a:solidFill>
                <a:latin typeface="Calibri"/>
              </a:rPr>
              <a:t>Conversions and Attribution Limits · Worked Calculation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3447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B6862"/>
                </a:solidFill>
                <a:latin typeface="Calibri"/>
              </a:rPr>
              <a:t>Interpret the denominator,units and decision boundary.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86000"/>
            <a:ext cx="5943600" cy="3794760"/>
          </a:xfrm>
          <a:prstGeom prst="rect">
            <a:avLst/>
          </a:prstGeom>
          <a:solidFill>
            <a:srgbClr val="212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2395728"/>
            <a:ext cx="5541264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300">
                <a:solidFill>
                  <a:srgbClr val="B9B4A9"/>
                </a:solidFill>
                <a:latin typeface="Consolas"/>
              </a:rPr>
              <a:t>First-touch paid search revenue = $1200; last-touch = $0.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F0B89E"/>
                </a:solidFill>
                <a:latin typeface="Consolas"/>
              </a:rPr>
              <a:t>Email receives $700 first-touch and $1300 last-touch.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F0B89E"/>
                </a:solidFill>
                <a:latin typeface="Consolas"/>
              </a:rPr>
              <a:t>Model choice changes assigned credit.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95160" y="228600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95160" y="2286000"/>
            <a:ext cx="82296" cy="9144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32904" y="237744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Inputs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32904" y="267004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touchpoints.csv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95160" y="324612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995160" y="3246120"/>
            <a:ext cx="82296" cy="91440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32904" y="333756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3A7D7B"/>
                </a:solidFill>
                <a:latin typeface="Calibri"/>
              </a:rPr>
              <a:t>Calculation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32904" y="363016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Recompute exact values independently.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95160" y="420624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95160" y="4206240"/>
            <a:ext cx="82296" cy="914400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32904" y="429768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2603F"/>
                </a:solidFill>
                <a:latin typeface="Calibri"/>
              </a:rPr>
              <a:t>Interpretation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32904" y="459028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Synthetic first/last-touch allocation, both total $2400. Neither is an estimate of…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95160" y="516636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995160" y="5166360"/>
            <a:ext cx="82296" cy="914400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32904" y="525780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88A2E"/>
                </a:solidFill>
                <a:latin typeface="Calibri"/>
              </a:rPr>
              <a:t>Boundary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32904" y="555040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Synthetic descriptive evidence;live/causal result not established.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125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LO4 · ACTIVITY 09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Conversions and Attribution Limits · Editable Chart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777240" y="1783080"/>
          <a:ext cx="10634472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ectangle 7"/>
          <p:cNvSpPr/>
          <p:nvPr/>
        </p:nvSpPr>
        <p:spPr>
          <a:xfrm>
            <a:off x="777240" y="5230368"/>
            <a:ext cx="10634472" cy="1005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5230368"/>
            <a:ext cx="100584" cy="100584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5340096"/>
            <a:ext cx="10149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WHAT THE DATA SHOWS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5632704"/>
            <a:ext cx="10149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Synthetic first/last-touch allocation, both total $2400. Neither is an estimate of incremental causal impact or GA4 data-driven credit.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1636776"/>
            <a:ext cx="9144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6B6862"/>
                </a:solidFill>
                <a:latin typeface="Calibri"/>
              </a:rPr>
              <a:t>Allocated synthetic revenue (SGD)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LO4 · ACTIVITY 09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21201C"/>
                </a:solidFill>
                <a:latin typeface="Calibri"/>
              </a:rPr>
              <a:t>Conversions and Attribution Limits · Reproducible Contract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3447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B6862"/>
                </a:solidFill>
                <a:latin typeface="Calibri"/>
              </a:rPr>
              <a:t>Readable excerpt; complete procedure and runnable practice remain in the guide.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86000"/>
            <a:ext cx="5943600" cy="3794760"/>
          </a:xfrm>
          <a:prstGeom prst="rect">
            <a:avLst/>
          </a:prstGeom>
          <a:solidFill>
            <a:srgbClr val="212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2395728"/>
            <a:ext cx="5541264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300">
                <a:solidFill>
                  <a:srgbClr val="C2603F"/>
                </a:solidFill>
                <a:latin typeface="Consolas"/>
              </a:rPr>
              <a:t>from collections import defaultdict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B9B4A9"/>
                </a:solidFill>
                <a:latin typeface="Consolas"/>
              </a:rPr>
              <a:t>first = defaultdict(float); last = defaultdict(float)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F0B89E"/>
                </a:solidFill>
                <a:latin typeface="Consolas"/>
              </a:rPr>
              <a:t>for r in rows: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B9B4A9"/>
                </a:solidFill>
                <a:latin typeface="Consolas"/>
              </a:rPr>
              <a:t>    v = float(r["revenue_sgd"])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B9B4A9"/>
                </a:solidFill>
                <a:latin typeface="Consolas"/>
              </a:rPr>
              <a:t>    first[r["first_channel"]] += v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B9B4A9"/>
                </a:solidFill>
                <a:latin typeface="Consolas"/>
              </a:rPr>
              <a:t>    last[r["last_channel"]] += v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95160" y="228600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95160" y="2286000"/>
            <a:ext cx="82296" cy="9144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32904" y="237744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Data contract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32904" y="267004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touchpoints.csv; exact field names matter.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95160" y="324612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995160" y="3246120"/>
            <a:ext cx="82296" cy="91440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32904" y="333756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3A7D7B"/>
                </a:solidFill>
                <a:latin typeface="Calibri"/>
              </a:rPr>
              <a:t>Identity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32904" y="363016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Preserve row IDs or segment labels.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95160" y="420624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95160" y="4206240"/>
            <a:ext cx="82296" cy="914400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32904" y="429768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2603F"/>
                </a:solidFill>
                <a:latin typeface="Calibri"/>
              </a:rPr>
              <a:t>Calculation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32904" y="459028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Deterministic code checks the agent narrative.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95160" y="516636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995160" y="5166360"/>
            <a:ext cx="82296" cy="914400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32904" y="525780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88A2E"/>
                </a:solidFill>
                <a:latin typeface="Calibri"/>
              </a:rPr>
              <a:t>Verification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32904" y="555040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Both models reconcile to $2400; paid first-touch $1200; email last-touch $1300; no…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127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C2603F"/>
                </a:solidFill>
                <a:latin typeface="Cambria"/>
              </a:rPr>
              <a:t>LO4 · ACTIVITY 09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Conversions and Attribution Limits · Decision Rule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Diamond 6"/>
          <p:cNvSpPr/>
          <p:nvPr/>
        </p:nvSpPr>
        <p:spPr>
          <a:xfrm>
            <a:off x="777240" y="2514600"/>
            <a:ext cx="4206240" cy="2468880"/>
          </a:xfrm>
          <a:prstGeom prst="diamond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Is the decision about assigning descriptive channel credit?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577840" y="1965960"/>
            <a:ext cx="5806440" cy="1371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577840" y="1965960"/>
            <a:ext cx="100584" cy="137160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52160" y="2112264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3A7D7B"/>
                </a:solidFill>
                <a:latin typeface="Cambria"/>
              </a:rPr>
              <a:t>YES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2514600"/>
            <a:ext cx="5303520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Credit: compare allocation models</a:t>
            </a:r>
          </a:p>
        </p:txBody>
      </p:sp>
      <p:cxnSp>
        <p:nvCxnSpPr>
          <p:cNvPr id="12" name="Connector 11"/>
          <p:cNvCxnSpPr/>
          <p:nvPr/>
        </p:nvCxnSpPr>
        <p:spPr>
          <a:xfrm flipV="1">
            <a:off x="4983480" y="2651760"/>
            <a:ext cx="594360" cy="1097280"/>
          </a:xfrm>
          <a:prstGeom prst="line">
            <a:avLst/>
          </a:prstGeom>
          <a:ln w="25400">
            <a:solidFill>
              <a:srgbClr val="3A7D7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577840" y="3977639"/>
            <a:ext cx="5806440" cy="1371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577840" y="3977639"/>
            <a:ext cx="100584" cy="1371600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52160" y="4123943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C88A2E"/>
                </a:solidFill>
                <a:latin typeface="Cambria"/>
              </a:rPr>
              <a:t>NO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4526279"/>
            <a:ext cx="5303520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Lift: design causal evaluation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983480" y="3749040"/>
            <a:ext cx="594360" cy="914399"/>
          </a:xfrm>
          <a:prstGeom prst="line">
            <a:avLst/>
          </a:prstGeom>
          <a:ln w="25400">
            <a:solidFill>
              <a:srgbClr val="C88A2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777240" y="5623560"/>
            <a:ext cx="10634472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5742432"/>
            <a:ext cx="10149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B6862"/>
                </a:solidFill>
                <a:latin typeface="Calibri"/>
              </a:rPr>
              <a:t>This is an authored research decision rule. It does not grant product permissions or replace human review.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128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LO4 · ACTIVITY 09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21201C"/>
                </a:solidFill>
                <a:latin typeface="Calibri"/>
              </a:rPr>
              <a:t>Conversions and Attribution Limits · Claim-Evidence Ledger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Claim layer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Evidence required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Permitted wording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Observation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journey_id: J01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First-touch paid search revenue = $1200; last-touch = $0. Email receives $700 first-touch and $1300…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Inference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Synthetic first/last-touch allocation, both total $2400. Neither is an estimate of incremental…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Is the decision about assigning descriptive channel credit?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Recommendation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Credit: compare allocation models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model-limitations.md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398264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4398264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Unknown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The agent cuts paid search because last-touch credit is zero. Assisted demand and incremental impact require…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Lift: design causal evaluation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5312664"/>
            <a:ext cx="10634472" cy="8412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" y="5312664"/>
            <a:ext cx="100584" cy="8412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1560" y="5422392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WHEN IT MATTERS  </a:t>
            </a:r>
            <a:r>
              <a:rPr sz="1200" b="0">
                <a:solidFill>
                  <a:srgbClr val="21201C"/>
                </a:solidFill>
                <a:latin typeface="Calibri"/>
              </a:rPr>
              <a:t>Preserve the distinction between observed data, model output and human decision throughout Cowork and Code handoffs.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129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C88A2E"/>
                </a:solidFill>
                <a:latin typeface="Cambria"/>
              </a:rPr>
              <a:t>LO4 · ACTIVITY 09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Conversions and Attribution Limits · Failure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3447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B6862"/>
                </a:solidFill>
                <a:latin typeface="Calibri"/>
              </a:rPr>
              <a:t>A plausible report can be wrong even when its numbers look polished.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86000"/>
            <a:ext cx="5943600" cy="3794760"/>
          </a:xfrm>
          <a:prstGeom prst="rect">
            <a:avLst/>
          </a:prstGeom>
          <a:solidFill>
            <a:srgbClr val="212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2395728"/>
            <a:ext cx="5541264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300">
                <a:solidFill>
                  <a:srgbClr val="F0B89E"/>
                </a:solidFill>
                <a:latin typeface="Consolas"/>
              </a:rPr>
              <a:t>The agent cuts paid search because last-touch credit is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F0B89E"/>
                </a:solidFill>
                <a:latin typeface="Consolas"/>
              </a:rPr>
              <a:t>zero. Assisted demand and incremental impact require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F0B89E"/>
                </a:solidFill>
                <a:latin typeface="Consolas"/>
              </a:rPr>
              <a:t>separate investigation.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95160" y="228600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95160" y="2286000"/>
            <a:ext cx="82296" cy="9144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32904" y="237744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Trigger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32904" y="267004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The agent promotes a claim beyond its evidence.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95160" y="324612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995160" y="3246120"/>
            <a:ext cx="82296" cy="91440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32904" y="333756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3A7D7B"/>
                </a:solidFill>
                <a:latin typeface="Calibri"/>
              </a:rPr>
              <a:t>Diagnostic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32904" y="363016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Inspect the underlying rows,scope and denominator.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95160" y="420624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95160" y="4206240"/>
            <a:ext cx="82296" cy="914400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32904" y="429768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2603F"/>
                </a:solidFill>
                <a:latin typeface="Calibri"/>
              </a:rPr>
              <a:t>Recovery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32904" y="459028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Revise the claim and retain the rejected reasoning.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95160" y="516636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995160" y="5166360"/>
            <a:ext cx="82296" cy="914400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32904" y="525780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88A2E"/>
                </a:solidFill>
                <a:latin typeface="Calibri"/>
              </a:rPr>
              <a:t>Recheck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32904" y="555040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Both models reconcile to $2400; paid first-touch $1200; email last-touch $1300; no…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130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LO4 · ACTIVITY 09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21201C"/>
                </a:solidFill>
                <a:latin typeface="Calibri"/>
              </a:rPr>
              <a:t>Conversions and Attribution Limits · Control and Recovery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Control point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Risk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Required evidence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journey_id identity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J01 omitted or changed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Reconcile raw identifiers in touchpoints.csv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Metric contract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First-touch paid search revenue = $1200; last-touch = $0. Email receives $700 first-touch and $1300…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Independent calculation and named denominator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Inference check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The agent cuts paid search because last-touch credit is zero. Assisted demand and incremental impact require…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Lift: design causal evaluation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398264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4398264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Decision output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attribution-comparison.csv and model-limitations.md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Use attribution for descriptive allocation; use controlled experiments or credible causal designs for…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5312664"/>
            <a:ext cx="10634472" cy="8412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" y="5312664"/>
            <a:ext cx="100584" cy="8412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1560" y="5422392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WHEN IT MATTERS  </a:t>
            </a:r>
            <a:r>
              <a:rPr sz="1200" b="0">
                <a:solidFill>
                  <a:srgbClr val="21201C"/>
                </a:solidFill>
                <a:latin typeface="Calibri"/>
              </a:rPr>
              <a:t>Use attribution for descriptive allocation; use controlled experiments or credible causal designs for incremental effects. Explicitly state identity, consent and lookback limitations.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131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LO4 · ACTIVITY 09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Conversions and Attribution Limits · Output Handoff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48840"/>
            <a:ext cx="2370582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79067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7906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touchpoints.csv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Raw 4 records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202686" y="3223260"/>
            <a:ext cx="274320" cy="0"/>
          </a:xfrm>
          <a:prstGeom prst="line">
            <a:avLst/>
          </a:prstGeom>
          <a:ln w="25400">
            <a:solidFill>
              <a:srgbClr val="D977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353187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31870" y="2148840"/>
            <a:ext cx="2370582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433697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369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988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journey_id audit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2331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Preserve identifiers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957316" y="3223260"/>
            <a:ext cx="274320" cy="0"/>
          </a:xfrm>
          <a:prstGeom prst="line">
            <a:avLst/>
          </a:prstGeom>
          <a:ln w="25400">
            <a:solidFill>
              <a:srgbClr val="D977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628650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86500" y="2148840"/>
            <a:ext cx="2370582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188327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8832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451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attribution-comparison.csv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794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Computed evidence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711946" y="3223260"/>
            <a:ext cx="274320" cy="0"/>
          </a:xfrm>
          <a:prstGeom prst="line">
            <a:avLst/>
          </a:prstGeom>
          <a:ln w="25400">
            <a:solidFill>
              <a:srgbClr val="D977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904113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041130" y="2148840"/>
            <a:ext cx="2370582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942957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94295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914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Human decision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3257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Reviewer decision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77240" y="4608576"/>
            <a:ext cx="10634472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77240" y="4608576"/>
            <a:ext cx="100584" cy="105156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51560" y="4718304"/>
            <a:ext cx="10149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OUTPUT CONTRACT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1560" y="5029200"/>
            <a:ext cx="1014984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21201C"/>
                </a:solidFill>
                <a:latin typeface="Calibri"/>
              </a:rPr>
              <a:t>First-touch paid search revenue = $1200; last-touch = $0. Email receives $700 first-touch and $1300 last-touch. Model choice changes assigned credit. Output: attribution-comparison.csv and model-limitations.md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132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transition spd="fast" advClick="1">
    <p:fade/>
  </p:transition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LO4 · ACTIVITY 09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21201C"/>
                </a:solidFill>
                <a:latin typeface="Calibri"/>
              </a:rPr>
              <a:t>Conversions and Attribution Limits · Acceptance Evidence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10634472" cy="1965960"/>
          </a:xfrm>
          <a:prstGeom prst="rect">
            <a:avLst/>
          </a:prstGeom>
          <a:solidFill>
            <a:srgbClr val="EA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100584" cy="1965960"/>
          </a:xfrm>
          <a:prstGeom prst="rect">
            <a:avLst/>
          </a:prstGeom>
          <a:solidFill>
            <a:srgbClr val="4A8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38528"/>
            <a:ext cx="1005840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4A8F5F"/>
                </a:solidFill>
                <a:latin typeface="Cambria"/>
              </a:rPr>
              <a:t>✅  Expected result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395728"/>
            <a:ext cx="10058400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21201C"/>
                </a:solidFill>
                <a:latin typeface="Calibri"/>
              </a:rPr>
              <a:t>Both models reconcile to $2400; paid first-touch $1200; email last-touch $1300; no causal ROI claim.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950208"/>
            <a:ext cx="1063447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C88A2E"/>
                </a:solidFill>
                <a:latin typeface="Calibri"/>
              </a:rPr>
              <a:t>IF IT DOESN'T WORK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4297680"/>
            <a:ext cx="3392424" cy="15727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4297680"/>
            <a:ext cx="3392424" cy="82296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6696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21201C"/>
                </a:solidFill>
                <a:latin typeface="Calibri"/>
              </a:rPr>
              <a:t>Numbers disagree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6696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6862"/>
                </a:solidFill>
                <a:latin typeface="Calibri"/>
              </a:rPr>
              <a:t>Check header parsing,units,denominator and duplicate records.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98264" y="4297680"/>
            <a:ext cx="3392424" cy="15727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98264" y="4297680"/>
            <a:ext cx="3392424" cy="82296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17720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21201C"/>
                </a:solidFill>
                <a:latin typeface="Calibri"/>
              </a:rPr>
              <a:t>Claim lacks a source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6862"/>
                </a:solidFill>
                <a:latin typeface="Calibri"/>
              </a:rPr>
              <a:t>Add row IDs and scope; downgrade or remove unsupported inference.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19288" y="4297680"/>
            <a:ext cx="3392424" cy="15727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19288" y="4297680"/>
            <a:ext cx="3392424" cy="82296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38744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21201C"/>
                </a:solidFill>
                <a:latin typeface="Calibri"/>
              </a:rPr>
              <a:t>Tool unavailable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38744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6862"/>
                </a:solidFill>
                <a:latin typeface="Calibri"/>
              </a:rPr>
              <a:t>Use the documented CSV fallback and state the unexecuted product boundary.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133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D97757"/>
                </a:solidFill>
                <a:latin typeface="Cambria"/>
              </a:rPr>
              <a:t>LEARNING OUTCOME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21201C"/>
                </a:solidFill>
                <a:latin typeface="Cambria"/>
              </a:rPr>
              <a:t>Behaviour and Demand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6052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6B6862"/>
                </a:solidFill>
                <a:latin typeface="Calibri"/>
              </a:rPr>
              <a:t>Cowork evidence synthesis · Claude Code reproducible analysis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8E5DE"/>
                </a:solidFill>
                <a:latin typeface="Cambria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134</a:t>
            </a:r>
          </a:p>
        </p:txBody>
      </p:sp>
    </p:spTree>
  </p:cSld>
  <p:clrMapOvr>
    <a:masterClrMapping/>
  </p:clrMapOvr>
  <p:transition spd="med" advClick="1">
    <p:push dir="l"/>
  </p:transition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LO3 · ACTIVITY 10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Lifecycle Creative from Evidence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19072"/>
            <a:ext cx="1554480" cy="420624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5544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mbria"/>
              </a:rPr>
              <a:t>ACTIVITY 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87168" y="1719072"/>
            <a:ext cx="88696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B6862"/>
                </a:solidFill>
                <a:latin typeface="Calibri"/>
              </a:rPr>
              <a:t>ICT-SNM-3007-1.1 · LO3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86000"/>
            <a:ext cx="10634472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21201C"/>
                </a:solidFill>
                <a:latin typeface="Calibri"/>
              </a:rPr>
              <a:t>A fictional email campaign targets enquiry and enrolled segments. Cowork must adapt evidence-backed messages to a brand brief while preserving consent rules, avoiding fabricated urgency and producing drafts for human review.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474720"/>
            <a:ext cx="3392424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3474720"/>
            <a:ext cx="3392424" cy="9144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6696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YOU'LL BUILD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6696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message-variants.md and review-checklist.csv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98264" y="3474720"/>
            <a:ext cx="3392424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98264" y="3474720"/>
            <a:ext cx="3392424" cy="9144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17720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TOOLCHAIN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Claude Cowork · Claude Code · CSV / Markdown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19288" y="3474720"/>
            <a:ext cx="3392424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19288" y="3474720"/>
            <a:ext cx="3392424" cy="91440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8744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C2603F"/>
                </a:solidFill>
                <a:latin typeface="Calibri"/>
              </a:rPr>
              <a:t>DONE WHEN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38744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Three segment drafts; claim IDs and CTA; no invented scarcity; send_authorised false; rates use sent.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135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LO3 · ACTIVITY 10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21201C"/>
                </a:solidFill>
                <a:latin typeface="Calibri"/>
              </a:rPr>
              <a:t>Lifecycle Creative from Evidence · Data and Trust Boundaries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48840"/>
            <a:ext cx="2370582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79067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7906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Raw inputs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lifecycle.csv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202686" y="3223260"/>
            <a:ext cx="274320" cy="0"/>
          </a:xfrm>
          <a:prstGeom prst="line">
            <a:avLst/>
          </a:prstGeom>
          <a:ln w="25400">
            <a:solidFill>
              <a:srgbClr val="D977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353187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31870" y="2148840"/>
            <a:ext cx="2370582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433697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369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988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Evidence checks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2331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IDs,date,units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957316" y="3223260"/>
            <a:ext cx="274320" cy="0"/>
          </a:xfrm>
          <a:prstGeom prst="line">
            <a:avLst/>
          </a:prstGeom>
          <a:ln w="25400">
            <a:solidFill>
              <a:srgbClr val="D977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628650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86500" y="2148840"/>
            <a:ext cx="2370582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188327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8832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451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Deterministic analysis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794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Schema and formulas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711946" y="3223260"/>
            <a:ext cx="274320" cy="0"/>
          </a:xfrm>
          <a:prstGeom prst="line">
            <a:avLst/>
          </a:prstGeom>
          <a:ln w="25400">
            <a:solidFill>
              <a:srgbClr val="D977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904113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041130" y="2148840"/>
            <a:ext cx="2370582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942957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94295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914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Human decision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3257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Review before action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77240" y="4608576"/>
            <a:ext cx="10634472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77240" y="4608576"/>
            <a:ext cx="100584" cy="105156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51560" y="4718304"/>
            <a:ext cx="10149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CONTRACT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1560" y="5029200"/>
            <a:ext cx="1014984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21201C"/>
                </a:solidFill>
                <a:latin typeface="Calibri"/>
              </a:rPr>
              <a:t>Evidence brief -&gt; segment need -&gt; approved claim -&gt; channel/consent constraint -&gt; draft variant -&gt; human brand review -&gt; measurement hypothesis.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136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transition spd="fast" advClick="1">
    <p:fade/>
  </p:transition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LO3 · ACTIVITY 10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Lifecycle Creative from Evidence · Input Schema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Field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Contract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Quality control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segment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str; example: New enquiry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Preserve segment;check units/identity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838297"/>
            <a:ext cx="2764962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838297"/>
            <a:ext cx="2508930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eligible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838297"/>
            <a:ext cx="3934755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838297"/>
            <a:ext cx="3678723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int; example: 100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838297"/>
            <a:ext cx="3934755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838297"/>
            <a:ext cx="3678723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Preserve eligible;check units/identity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418026"/>
            <a:ext cx="2764962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418026"/>
            <a:ext cx="2508930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sent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418026"/>
            <a:ext cx="3934755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418026"/>
            <a:ext cx="3678723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int; example: 80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418026"/>
            <a:ext cx="3934755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418026"/>
            <a:ext cx="3678723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Preserve sent;check units/identity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3997755"/>
            <a:ext cx="2764962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3997755"/>
            <a:ext cx="2508930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clicked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3997755"/>
            <a:ext cx="3934755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3997755"/>
            <a:ext cx="3678723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int; example: 16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3997755"/>
            <a:ext cx="3934755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3997755"/>
            <a:ext cx="3678723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Preserve clicked;check units/identity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4577484"/>
            <a:ext cx="2764962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05256" y="4577484"/>
            <a:ext cx="2508930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enrolled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542202" y="4577484"/>
            <a:ext cx="3934755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70218" y="4577484"/>
            <a:ext cx="3678723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int; example: 4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476957" y="4577484"/>
            <a:ext cx="3934755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604973" y="4577484"/>
            <a:ext cx="3678723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Preserve enrolled;check units/identity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77240" y="5358381"/>
            <a:ext cx="10634472" cy="8412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77240" y="5358381"/>
            <a:ext cx="100584" cy="8412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51560" y="5468109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WHEN IT MATTERS  </a:t>
            </a:r>
            <a:r>
              <a:rPr sz="1200" b="0">
                <a:solidFill>
                  <a:srgbClr val="21201C"/>
                </a:solidFill>
                <a:latin typeface="Calibri"/>
              </a:rPr>
              <a:t>Source rows remain immutable. New computed fields belong in outputs; ambiguous data is qualified rather than invented.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137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LO3 · ACTIVITY 10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Lifecycle Creative from Evidence · Evidence Exhibit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segment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2623170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2367138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sent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65372" y="1783080"/>
            <a:ext cx="2623170" cy="47548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93388" y="1783080"/>
            <a:ext cx="2367138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clicked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788542" y="1783080"/>
            <a:ext cx="2623170" cy="475488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16558" y="1783080"/>
            <a:ext cx="2367138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enrolled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New enquiry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542202" y="2258568"/>
            <a:ext cx="262317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70218" y="2258568"/>
            <a:ext cx="2367138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80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65372" y="2258568"/>
            <a:ext cx="262317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93388" y="2258568"/>
            <a:ext cx="2367138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16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788542" y="2258568"/>
            <a:ext cx="262317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16558" y="2258568"/>
            <a:ext cx="2367138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Qualified lead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542202" y="2971800"/>
            <a:ext cx="262317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70218" y="2971800"/>
            <a:ext cx="2367138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40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65372" y="2971800"/>
            <a:ext cx="262317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93388" y="2971800"/>
            <a:ext cx="2367138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12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788542" y="2971800"/>
            <a:ext cx="262317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916558" y="2971800"/>
            <a:ext cx="2367138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6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Past learner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3685032"/>
            <a:ext cx="262317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3685032"/>
            <a:ext cx="2367138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90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165372" y="3685032"/>
            <a:ext cx="262317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293388" y="3685032"/>
            <a:ext cx="2367138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18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788542" y="3685032"/>
            <a:ext cx="262317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916558" y="3685032"/>
            <a:ext cx="2367138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9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7240" y="4599432"/>
            <a:ext cx="10634472" cy="8412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77240" y="4599432"/>
            <a:ext cx="100584" cy="8412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51560" y="4709160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WHEN IT MATTERS  </a:t>
            </a:r>
            <a:r>
              <a:rPr sz="1200" b="0">
                <a:solidFill>
                  <a:srgbClr val="21201C"/>
                </a:solidFill>
                <a:latin typeface="Calibri"/>
              </a:rPr>
              <a:t>This exhibit is an authored synthetic dataset. Read exact units and identifiers before interpreting values.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138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LO3 · ACTIVITY 10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21201C"/>
                </a:solidFill>
                <a:latin typeface="Calibri"/>
              </a:rPr>
              <a:t>Lifecycle Creative from Evidence · Worked Calculation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3447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B6862"/>
                </a:solidFill>
                <a:latin typeface="Calibri"/>
              </a:rPr>
              <a:t>Interpret the denominator,units and decision boundary.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86000"/>
            <a:ext cx="5943600" cy="3794760"/>
          </a:xfrm>
          <a:prstGeom prst="rect">
            <a:avLst/>
          </a:prstGeom>
          <a:solidFill>
            <a:srgbClr val="212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2395728"/>
            <a:ext cx="5541264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300">
                <a:solidFill>
                  <a:srgbClr val="B9B4A9"/>
                </a:solidFill>
                <a:latin typeface="Consolas"/>
              </a:rPr>
              <a:t>Click rate uses sent: 16/80=20%,12/40=30%,18/90=20%.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F0B89E"/>
                </a:solidFill>
                <a:latin typeface="Consolas"/>
              </a:rPr>
              <a:t>Enrolment per sent: 5%,15%,10%; no claim of incremental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F0B89E"/>
                </a:solidFill>
                <a:latin typeface="Consolas"/>
              </a:rPr>
              <a:t>email impact.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95160" y="228600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95160" y="2286000"/>
            <a:ext cx="82296" cy="9144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32904" y="237744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Inputs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32904" y="267004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lifecycle.csv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95160" y="324612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995160" y="3246120"/>
            <a:ext cx="82296" cy="91440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32904" y="333756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3A7D7B"/>
                </a:solidFill>
                <a:latin typeface="Calibri"/>
              </a:rPr>
              <a:t>Calculation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32904" y="363016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Recompute exact values independently.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95160" y="420624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95160" y="4206240"/>
            <a:ext cx="82296" cy="914400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32904" y="429768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2603F"/>
                </a:solidFill>
                <a:latin typeface="Calibri"/>
              </a:rPr>
              <a:t>Interpretation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32904" y="459028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Synthetic click rates by sent denominator. Qualified leads respond more, but…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95160" y="516636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995160" y="5166360"/>
            <a:ext cx="82296" cy="914400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32904" y="525780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88A2E"/>
                </a:solidFill>
                <a:latin typeface="Calibri"/>
              </a:rPr>
              <a:t>Boundary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32904" y="555040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Synthetic descriptive evidence;live/causal result not established.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139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LO3 · ACTIVITY 10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Lifecycle Creative from Evidence · Editable Chart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777240" y="1783080"/>
          <a:ext cx="10634472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ectangle 7"/>
          <p:cNvSpPr/>
          <p:nvPr/>
        </p:nvSpPr>
        <p:spPr>
          <a:xfrm>
            <a:off x="777240" y="5230368"/>
            <a:ext cx="10634472" cy="1005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5230368"/>
            <a:ext cx="100584" cy="100584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5340096"/>
            <a:ext cx="10149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WHAT THE DATA SHOWS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5632704"/>
            <a:ext cx="10149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Synthetic click rates by sent denominator. Qualified leads respond more, but eligibility and existing intent differ across segments.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140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1636776"/>
            <a:ext cx="9144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6B6862"/>
                </a:solidFill>
                <a:latin typeface="Calibri"/>
              </a:rPr>
              <a:t>Clicks per sent email (%)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LO3 · ACTIVITY 10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21201C"/>
                </a:solidFill>
                <a:latin typeface="Calibri"/>
              </a:rPr>
              <a:t>Lifecycle Creative from Evidence · Reproducible Contract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3447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B6862"/>
                </a:solidFill>
                <a:latin typeface="Calibri"/>
              </a:rPr>
              <a:t>Readable excerpt; complete procedure and runnable practice remain in the guide.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86000"/>
            <a:ext cx="5943600" cy="3794760"/>
          </a:xfrm>
          <a:prstGeom prst="rect">
            <a:avLst/>
          </a:prstGeom>
          <a:solidFill>
            <a:srgbClr val="212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2395728"/>
            <a:ext cx="5541264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300">
                <a:solidFill>
                  <a:srgbClr val="6B6862"/>
                </a:solidFill>
                <a:latin typeface="Consolas"/>
              </a:rPr>
              <a:t># Authored lifecycle output contract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B9B4A9"/>
                </a:solidFill>
                <a:latin typeface="Consolas"/>
              </a:rPr>
              <a:t>draft = {"segment": "Qualified lead",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F0B89E"/>
                </a:solidFill>
                <a:latin typeface="Consolas"/>
              </a:rPr>
              <a:t> "claim_ids": ["CL01"], "status": "human_review",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F0B89E"/>
                </a:solidFill>
                <a:latin typeface="Consolas"/>
              </a:rPr>
              <a:t> "subject": "Compare evening learning options",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F0B89E"/>
                </a:solidFill>
                <a:latin typeface="Consolas"/>
              </a:rPr>
              <a:t> "cta": "View verified course details",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F0B89E"/>
                </a:solidFill>
                <a:latin typeface="Consolas"/>
              </a:rPr>
              <a:t> "send_authorised": False}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95160" y="228600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95160" y="2286000"/>
            <a:ext cx="82296" cy="9144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32904" y="237744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Data contract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32904" y="267004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lifecycle.csv; exact field names matter.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95160" y="324612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995160" y="3246120"/>
            <a:ext cx="82296" cy="91440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32904" y="333756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3A7D7B"/>
                </a:solidFill>
                <a:latin typeface="Calibri"/>
              </a:rPr>
              <a:t>Identity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32904" y="363016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Preserve row IDs or segment labels.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95160" y="420624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95160" y="4206240"/>
            <a:ext cx="82296" cy="914400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32904" y="429768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2603F"/>
                </a:solidFill>
                <a:latin typeface="Calibri"/>
              </a:rPr>
              <a:t>Calculation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32904" y="459028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Deterministic code checks the agent narrative.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95160" y="516636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995160" y="5166360"/>
            <a:ext cx="82296" cy="914400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32904" y="525780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88A2E"/>
                </a:solidFill>
                <a:latin typeface="Calibri"/>
              </a:rPr>
              <a:t>Verification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32904" y="555040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Three segment drafts; claim IDs and CTA; no invented scarcity; send_authorised…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141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C2603F"/>
                </a:solidFill>
                <a:latin typeface="Cambria"/>
              </a:rPr>
              <a:t>LO3 · ACTIVITY 10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Lifecycle Creative from Evidence · Decision Rule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Diamond 6"/>
          <p:cNvSpPr/>
          <p:nvPr/>
        </p:nvSpPr>
        <p:spPr>
          <a:xfrm>
            <a:off x="777240" y="2514600"/>
            <a:ext cx="4206240" cy="2468880"/>
          </a:xfrm>
          <a:prstGeom prst="diamond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Is every promotional claim evidence-approved?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577840" y="1965960"/>
            <a:ext cx="5806440" cy="1371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577840" y="1965960"/>
            <a:ext cx="100584" cy="137160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52160" y="2112264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3A7D7B"/>
                </a:solidFill>
                <a:latin typeface="Cambria"/>
              </a:rPr>
              <a:t>YES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2514600"/>
            <a:ext cx="5303520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Prepare human-reviewed draft</a:t>
            </a:r>
          </a:p>
        </p:txBody>
      </p:sp>
      <p:cxnSp>
        <p:nvCxnSpPr>
          <p:cNvPr id="12" name="Connector 11"/>
          <p:cNvCxnSpPr/>
          <p:nvPr/>
        </p:nvCxnSpPr>
        <p:spPr>
          <a:xfrm flipV="1">
            <a:off x="4983480" y="2651760"/>
            <a:ext cx="594360" cy="1097280"/>
          </a:xfrm>
          <a:prstGeom prst="line">
            <a:avLst/>
          </a:prstGeom>
          <a:ln w="25400">
            <a:solidFill>
              <a:srgbClr val="3A7D7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577840" y="3977639"/>
            <a:ext cx="5806440" cy="1371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577840" y="3977639"/>
            <a:ext cx="100584" cy="1371600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52160" y="4123943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C88A2E"/>
                </a:solidFill>
                <a:latin typeface="Cambria"/>
              </a:rPr>
              <a:t>NO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4526279"/>
            <a:ext cx="5303520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Remove or request proof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983480" y="3749040"/>
            <a:ext cx="594360" cy="914399"/>
          </a:xfrm>
          <a:prstGeom prst="line">
            <a:avLst/>
          </a:prstGeom>
          <a:ln w="25400">
            <a:solidFill>
              <a:srgbClr val="C88A2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777240" y="5623560"/>
            <a:ext cx="10634472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5742432"/>
            <a:ext cx="10149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B6862"/>
                </a:solidFill>
                <a:latin typeface="Calibri"/>
              </a:rPr>
              <a:t>This is an authored research decision rule. It does not grant product permissions or replace human review.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142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LO3 · ACTIVITY 10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21201C"/>
                </a:solidFill>
                <a:latin typeface="Calibri"/>
              </a:rPr>
              <a:t>Lifecycle Creative from Evidence · Claim-Evidence Ledger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Claim layer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Evidence required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Permitted wording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Observation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segment: New enquiry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Click rate uses sent: 16/80=20%,12/40=30%,18/90=20%. Enrolment per sent: 5%,15%,10%; no claim of incremental…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Inference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Synthetic click rates by sent denominator. Qualified leads respond more, but eligibility and…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Is every promotional claim evidence-approved?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Recommendation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Prepare human-reviewed draft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review-checklist.csv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398264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4398264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Unknown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A draft says only two seats remain without inventory evidence. The urgency claim must be removed or verified…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Remove or request proof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5312664"/>
            <a:ext cx="10634472" cy="8412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" y="5312664"/>
            <a:ext cx="100584" cy="8412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1560" y="5422392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WHEN IT MATTERS  </a:t>
            </a:r>
            <a:r>
              <a:rPr sz="1200" b="0">
                <a:solidFill>
                  <a:srgbClr val="21201C"/>
                </a:solidFill>
                <a:latin typeface="Calibri"/>
              </a:rPr>
              <a:t>Preserve the distinction between observed data, model output and human decision throughout Cowork and Code handoffs.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143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C88A2E"/>
                </a:solidFill>
                <a:latin typeface="Cambria"/>
              </a:rPr>
              <a:t>LO3 · ACTIVITY 10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Lifecycle Creative from Evidence · Failure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3447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B6862"/>
                </a:solidFill>
                <a:latin typeface="Calibri"/>
              </a:rPr>
              <a:t>A plausible report can be wrong even when its numbers look polished.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86000"/>
            <a:ext cx="5943600" cy="3794760"/>
          </a:xfrm>
          <a:prstGeom prst="rect">
            <a:avLst/>
          </a:prstGeom>
          <a:solidFill>
            <a:srgbClr val="212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2395728"/>
            <a:ext cx="5541264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300">
                <a:solidFill>
                  <a:srgbClr val="F0B89E"/>
                </a:solidFill>
                <a:latin typeface="Consolas"/>
              </a:rPr>
              <a:t>A draft says only two seats remain without inventory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F0B89E"/>
                </a:solidFill>
                <a:latin typeface="Consolas"/>
              </a:rPr>
              <a:t>evidence. The urgency claim must be removed or verified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F0B89E"/>
                </a:solidFill>
                <a:latin typeface="Consolas"/>
              </a:rPr>
              <a:t>by an authorised source.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95160" y="228600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95160" y="2286000"/>
            <a:ext cx="82296" cy="9144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32904" y="237744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Trigger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32904" y="267004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The agent promotes a claim beyond its evidence.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95160" y="324612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995160" y="3246120"/>
            <a:ext cx="82296" cy="91440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32904" y="333756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3A7D7B"/>
                </a:solidFill>
                <a:latin typeface="Calibri"/>
              </a:rPr>
              <a:t>Diagnostic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32904" y="363016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Inspect the underlying rows,scope and denominator.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95160" y="420624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95160" y="4206240"/>
            <a:ext cx="82296" cy="914400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32904" y="429768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2603F"/>
                </a:solidFill>
                <a:latin typeface="Calibri"/>
              </a:rPr>
              <a:t>Recovery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32904" y="459028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Revise the claim and retain the rejected reasoning.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95160" y="516636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995160" y="5166360"/>
            <a:ext cx="82296" cy="914400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32904" y="525780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88A2E"/>
                </a:solidFill>
                <a:latin typeface="Calibri"/>
              </a:rPr>
              <a:t>Recheck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32904" y="555040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Three segment drafts; claim IDs and CTA; no invented scarcity; send_authorised…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144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LO3 · ACTIVITY 10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21201C"/>
                </a:solidFill>
                <a:latin typeface="Calibri"/>
              </a:rPr>
              <a:t>Lifecycle Creative from Evidence · Control and Recovery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Control point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Risk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Required evidence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segment identity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New enquiry omitted or changed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Reconcile raw identifiers in lifecycle.csv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Metric contract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Click rate uses sent: 16/80=20%,12/40=30%,18/90=20%. Enrolment per sent: 5%,15%,10%; no claim of incremental…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Independent calculation and named denominator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Inference check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A draft says only two seats remain without inventory evidence. The urgency claim must be removed or verified…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Remove or request proof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398264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4398264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Decision output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message-variants.md and review-checklist.csv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Draft only; no send authorisation. Use approved factual claims, consented audiences, clear opt-out and…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5312664"/>
            <a:ext cx="10634472" cy="8412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" y="5312664"/>
            <a:ext cx="100584" cy="8412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1560" y="5422392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WHEN IT MATTERS  </a:t>
            </a:r>
            <a:r>
              <a:rPr sz="1200" b="0">
                <a:solidFill>
                  <a:srgbClr val="21201C"/>
                </a:solidFill>
                <a:latin typeface="Calibri"/>
              </a:rPr>
              <a:t>Draft only; no send authorisation. Use approved factual claims, consented audiences, clear opt-out and reviewer sign-off. Avoid interpreting synthetic clicks as causal lift.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145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LO3 · ACTIVITY 10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Lifecycle Creative from Evidence · Output Handoff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48840"/>
            <a:ext cx="2370582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79067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7906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lifecycle.csv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Raw 3 records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202686" y="3223260"/>
            <a:ext cx="274320" cy="0"/>
          </a:xfrm>
          <a:prstGeom prst="line">
            <a:avLst/>
          </a:prstGeom>
          <a:ln w="25400">
            <a:solidFill>
              <a:srgbClr val="D977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353187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31870" y="2148840"/>
            <a:ext cx="2370582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433697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369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988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segment audit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2331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Preserve identifiers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957316" y="3223260"/>
            <a:ext cx="274320" cy="0"/>
          </a:xfrm>
          <a:prstGeom prst="line">
            <a:avLst/>
          </a:prstGeom>
          <a:ln w="25400">
            <a:solidFill>
              <a:srgbClr val="D977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628650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86500" y="2148840"/>
            <a:ext cx="2370582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188327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8832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451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message-variants.md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794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Computed evidence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711946" y="3223260"/>
            <a:ext cx="274320" cy="0"/>
          </a:xfrm>
          <a:prstGeom prst="line">
            <a:avLst/>
          </a:prstGeom>
          <a:ln w="25400">
            <a:solidFill>
              <a:srgbClr val="D977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904113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041130" y="2148840"/>
            <a:ext cx="2370582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942957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94295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914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Human decision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3257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Reviewer decision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77240" y="4608576"/>
            <a:ext cx="10634472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77240" y="4608576"/>
            <a:ext cx="100584" cy="105156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51560" y="4718304"/>
            <a:ext cx="10149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OUTPUT CONTRACT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1560" y="5029200"/>
            <a:ext cx="1014984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21201C"/>
                </a:solidFill>
                <a:latin typeface="Calibri"/>
              </a:rPr>
              <a:t>Click rate uses sent: 16/80=20%,12/40=30%,18/90=20%. Enrolment per sent: 5%,15%,10%; no claim of incremental email impact. Output: message-variants.md and review-checklist.csv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146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transition spd="fast" advClick="1">
    <p:fade/>
  </p:transition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LO3 · ACTIVITY 10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21201C"/>
                </a:solidFill>
                <a:latin typeface="Calibri"/>
              </a:rPr>
              <a:t>Lifecycle Creative from Evidence · Acceptance Evidence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10634472" cy="1965960"/>
          </a:xfrm>
          <a:prstGeom prst="rect">
            <a:avLst/>
          </a:prstGeom>
          <a:solidFill>
            <a:srgbClr val="EA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100584" cy="1965960"/>
          </a:xfrm>
          <a:prstGeom prst="rect">
            <a:avLst/>
          </a:prstGeom>
          <a:solidFill>
            <a:srgbClr val="4A8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38528"/>
            <a:ext cx="1005840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4A8F5F"/>
                </a:solidFill>
                <a:latin typeface="Cambria"/>
              </a:rPr>
              <a:t>✅  Expected result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395728"/>
            <a:ext cx="10058400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21201C"/>
                </a:solidFill>
                <a:latin typeface="Calibri"/>
              </a:rPr>
              <a:t>Three segment drafts; claim IDs and CTA; no invented scarcity; send_authorised false; rates use sent.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950208"/>
            <a:ext cx="1063447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C88A2E"/>
                </a:solidFill>
                <a:latin typeface="Calibri"/>
              </a:rPr>
              <a:t>IF IT DOESN'T WORK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4297680"/>
            <a:ext cx="3392424" cy="15727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4297680"/>
            <a:ext cx="3392424" cy="82296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6696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21201C"/>
                </a:solidFill>
                <a:latin typeface="Calibri"/>
              </a:rPr>
              <a:t>Numbers disagree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6696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6862"/>
                </a:solidFill>
                <a:latin typeface="Calibri"/>
              </a:rPr>
              <a:t>Check header parsing,units,denominator and duplicate records.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98264" y="4297680"/>
            <a:ext cx="3392424" cy="15727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98264" y="4297680"/>
            <a:ext cx="3392424" cy="82296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17720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21201C"/>
                </a:solidFill>
                <a:latin typeface="Calibri"/>
              </a:rPr>
              <a:t>Claim lacks a source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6862"/>
                </a:solidFill>
                <a:latin typeface="Calibri"/>
              </a:rPr>
              <a:t>Add row IDs and scope; downgrade or remove unsupported inference.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19288" y="4297680"/>
            <a:ext cx="3392424" cy="15727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19288" y="4297680"/>
            <a:ext cx="3392424" cy="82296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38744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21201C"/>
                </a:solidFill>
                <a:latin typeface="Calibri"/>
              </a:rPr>
              <a:t>Tool unavailable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38744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6862"/>
                </a:solidFill>
                <a:latin typeface="Calibri"/>
              </a:rPr>
              <a:t>Use the documented CSV fallback and state the unexecuted product boundary.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147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D97757"/>
                </a:solidFill>
                <a:latin typeface="Cambria"/>
              </a:rPr>
              <a:t>LEARNING OUTCOME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21201C"/>
                </a:solidFill>
                <a:latin typeface="Cambria"/>
              </a:rPr>
              <a:t>Trends and Variables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6052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6B6862"/>
                </a:solidFill>
                <a:latin typeface="Calibri"/>
              </a:rPr>
              <a:t>Cowork evidence synthesis · Claude Code reproducible analysis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8E5DE"/>
                </a:solidFill>
                <a:latin typeface="Cambria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148</a:t>
            </a:r>
          </a:p>
        </p:txBody>
      </p:sp>
    </p:spTree>
  </p:cSld>
  <p:clrMapOvr>
    <a:masterClrMapping/>
  </p:clrMapOvr>
  <p:transition spd="med" advClick="1">
    <p:push dir="l"/>
  </p:transition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LO2 · ACTIVITY 11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SEO Content Experiment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19072"/>
            <a:ext cx="1554480" cy="420624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5544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mbria"/>
              </a:rPr>
              <a:t>ACTIVITY 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87168" y="1719072"/>
            <a:ext cx="88696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B6862"/>
                </a:solidFill>
                <a:latin typeface="Calibri"/>
              </a:rPr>
              <a:t>ICT-SNM-3007-1.1 · LO2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86000"/>
            <a:ext cx="10634472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21201C"/>
                </a:solidFill>
                <a:latin typeface="Calibri"/>
              </a:rPr>
              <a:t>A synthetic search-content export tracks impressions, clicks and enquiries. Cowork should cluster intent and propose an experiment, using observed rate information without claiming an invented search ranking or guaranteed AI visibility.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474720"/>
            <a:ext cx="3392424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3474720"/>
            <a:ext cx="3392424" cy="9144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6696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YOU'LL BUILD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6696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intent-map.csv and experiment-brief.md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98264" y="3474720"/>
            <a:ext cx="3392424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98264" y="3474720"/>
            <a:ext cx="3392424" cy="9144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17720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TOOLCHAIN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Claude Cowork · Claude Code · CSV / Markdown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19288" y="3474720"/>
            <a:ext cx="3392424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19288" y="3474720"/>
            <a:ext cx="3392424" cy="91440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8744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C2603F"/>
                </a:solidFill>
                <a:latin typeface="Calibri"/>
              </a:rPr>
              <a:t>DONE WHEN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38744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CTRs 4%,3%,6%,3%; training enquiry/click 12.5%; one isolated change and explicit confounder.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149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LO2 · ACTIVITY 11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SEO Content Experiment · Data and Trust Boundaries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48840"/>
            <a:ext cx="2370582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79067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7906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Raw inputs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search-content.csv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202686" y="3223260"/>
            <a:ext cx="274320" cy="0"/>
          </a:xfrm>
          <a:prstGeom prst="line">
            <a:avLst/>
          </a:prstGeom>
          <a:ln w="25400">
            <a:solidFill>
              <a:srgbClr val="D977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353187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31870" y="2148840"/>
            <a:ext cx="2370582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433697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369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988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Evidence checks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2331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IDs,date,units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957316" y="3223260"/>
            <a:ext cx="274320" cy="0"/>
          </a:xfrm>
          <a:prstGeom prst="line">
            <a:avLst/>
          </a:prstGeom>
          <a:ln w="25400">
            <a:solidFill>
              <a:srgbClr val="D977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628650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86500" y="2148840"/>
            <a:ext cx="2370582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188327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8832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451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Deterministic analysis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794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Schema and formulas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711946" y="3223260"/>
            <a:ext cx="274320" cy="0"/>
          </a:xfrm>
          <a:prstGeom prst="line">
            <a:avLst/>
          </a:prstGeom>
          <a:ln w="25400">
            <a:solidFill>
              <a:srgbClr val="D977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904113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041130" y="2148840"/>
            <a:ext cx="2370582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942957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94295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914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Human decision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3257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Review before action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77240" y="4608576"/>
            <a:ext cx="10634472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77240" y="4608576"/>
            <a:ext cx="100584" cy="105156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51560" y="4718304"/>
            <a:ext cx="10149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CONTRACT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1560" y="5029200"/>
            <a:ext cx="1014984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21201C"/>
                </a:solidFill>
                <a:latin typeface="Calibri"/>
              </a:rPr>
              <a:t>Normalise query -&gt; classify intent -&gt; map page/claim -&gt; calculate CTR and enquiry rates -&gt; isolate one content change -&gt; define control/window -&gt; assess uncertainty.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150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transition spd="fast" advClick="1">
    <p:fade/>
  </p:transition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LO2 · ACTIVITY 11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SEO Content Experiment · Input Schema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Field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Contract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Quality control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query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str; example: ai marketing course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Preserve query;check units/identity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838297"/>
            <a:ext cx="2764962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838297"/>
            <a:ext cx="2508930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impressions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838297"/>
            <a:ext cx="3934755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838297"/>
            <a:ext cx="3678723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int; example: 1000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838297"/>
            <a:ext cx="3934755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838297"/>
            <a:ext cx="3678723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Preserve impressions;check units/identity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418026"/>
            <a:ext cx="2764962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418026"/>
            <a:ext cx="2508930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clicks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418026"/>
            <a:ext cx="3934755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418026"/>
            <a:ext cx="3678723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int; example: 40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418026"/>
            <a:ext cx="3934755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418026"/>
            <a:ext cx="3678723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Preserve clicks;check units/identity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3997755"/>
            <a:ext cx="2764962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3997755"/>
            <a:ext cx="2508930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enquiries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3997755"/>
            <a:ext cx="3934755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3997755"/>
            <a:ext cx="3678723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int; example: 4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3997755"/>
            <a:ext cx="3934755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3997755"/>
            <a:ext cx="3678723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Preserve enquiries;check units/identity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4577484"/>
            <a:ext cx="2764962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05256" y="4577484"/>
            <a:ext cx="2508930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intent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542202" y="4577484"/>
            <a:ext cx="3934755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70218" y="4577484"/>
            <a:ext cx="3678723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str; example: commercial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476957" y="4577484"/>
            <a:ext cx="3934755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604973" y="4577484"/>
            <a:ext cx="3678723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Preserve intent;check units/identity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77240" y="5358381"/>
            <a:ext cx="10634472" cy="8412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77240" y="5358381"/>
            <a:ext cx="100584" cy="8412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51560" y="5468109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WHEN IT MATTERS  </a:t>
            </a:r>
            <a:r>
              <a:rPr sz="1200" b="0">
                <a:solidFill>
                  <a:srgbClr val="21201C"/>
                </a:solidFill>
                <a:latin typeface="Calibri"/>
              </a:rPr>
              <a:t>Source rows remain immutable. New computed fields belong in outputs; ambiguous data is qualified rather than invented.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151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LO2 · ACTIVITY 11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SEO Content Experiment · Evidence Exhibit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query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2623170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2367138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impressions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65372" y="1783080"/>
            <a:ext cx="2623170" cy="47548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93388" y="1783080"/>
            <a:ext cx="2367138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clicks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788542" y="1783080"/>
            <a:ext cx="2623170" cy="475488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16558" y="1783080"/>
            <a:ext cx="2367138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enquiries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ai marketing course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542202" y="2258568"/>
            <a:ext cx="262317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70218" y="2258568"/>
            <a:ext cx="2367138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1000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65372" y="2258568"/>
            <a:ext cx="262317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93388" y="2258568"/>
            <a:ext cx="2367138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40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788542" y="2258568"/>
            <a:ext cx="262317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16558" y="2258568"/>
            <a:ext cx="2367138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claude cowork guide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542202" y="2971800"/>
            <a:ext cx="262317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70218" y="2971800"/>
            <a:ext cx="2367138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2000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65372" y="2971800"/>
            <a:ext cx="262317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93388" y="2971800"/>
            <a:ext cx="2367138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60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788542" y="2971800"/>
            <a:ext cx="262317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916558" y="2971800"/>
            <a:ext cx="2367138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market research training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3685032"/>
            <a:ext cx="262317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3685032"/>
            <a:ext cx="2367138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800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165372" y="3685032"/>
            <a:ext cx="262317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293388" y="3685032"/>
            <a:ext cx="2367138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48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788542" y="3685032"/>
            <a:ext cx="262317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916558" y="3685032"/>
            <a:ext cx="2367138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6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7240" y="4398264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05256" y="4398264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email segmentation examples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542202" y="4398264"/>
            <a:ext cx="262317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670218" y="4398264"/>
            <a:ext cx="2367138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1200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165372" y="4398264"/>
            <a:ext cx="262317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293388" y="4398264"/>
            <a:ext cx="2367138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36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788542" y="4398264"/>
            <a:ext cx="262317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916558" y="4398264"/>
            <a:ext cx="2367138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77240" y="5312664"/>
            <a:ext cx="10634472" cy="8412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77240" y="5312664"/>
            <a:ext cx="100584" cy="8412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51560" y="5422392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WHEN IT MATTERS  </a:t>
            </a:r>
            <a:r>
              <a:rPr sz="1200" b="0">
                <a:solidFill>
                  <a:srgbClr val="21201C"/>
                </a:solidFill>
                <a:latin typeface="Calibri"/>
              </a:rPr>
              <a:t>This exhibit is an authored synthetic dataset. Read exact units and identifiers before interpreting values.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152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LO2 · ACTIVITY 11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SEO Content Experiment · Worked Calculation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3447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B6862"/>
                </a:solidFill>
                <a:latin typeface="Calibri"/>
              </a:rPr>
              <a:t>Interpret the denominator,units and decision boundary.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86000"/>
            <a:ext cx="5943600" cy="3794760"/>
          </a:xfrm>
          <a:prstGeom prst="rect">
            <a:avLst/>
          </a:prstGeom>
          <a:solidFill>
            <a:srgbClr val="212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2395728"/>
            <a:ext cx="5541264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300">
                <a:solidFill>
                  <a:srgbClr val="B9B4A9"/>
                </a:solidFill>
                <a:latin typeface="Consolas"/>
              </a:rPr>
              <a:t>CTR = clicks/impressions. Training query: 48/800=6%;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B9B4A9"/>
                </a:solidFill>
                <a:latin typeface="Consolas"/>
              </a:rPr>
              <a:t>enquiry/click = 6/48=12.5%. High impression volume alone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F0B89E"/>
                </a:solidFill>
                <a:latin typeface="Consolas"/>
              </a:rPr>
              <a:t>does not establish useful demand.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95160" y="228600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95160" y="2286000"/>
            <a:ext cx="82296" cy="9144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32904" y="237744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Inputs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32904" y="267004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search-content.csv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95160" y="324612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995160" y="3246120"/>
            <a:ext cx="82296" cy="91440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32904" y="333756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3A7D7B"/>
                </a:solidFill>
                <a:latin typeface="Calibri"/>
              </a:rPr>
              <a:t>Calculation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32904" y="363016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Recompute exact values independently.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95160" y="420624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95160" y="4206240"/>
            <a:ext cx="82296" cy="914400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32904" y="429768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2603F"/>
                </a:solidFill>
                <a:latin typeface="Calibri"/>
              </a:rPr>
              <a:t>Interpretation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32904" y="459028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Synthetic CTR percentages. Research training has higher CTR and enquiry rate; intent…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95160" y="516636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995160" y="5166360"/>
            <a:ext cx="82296" cy="914400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32904" y="525780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88A2E"/>
                </a:solidFill>
                <a:latin typeface="Calibri"/>
              </a:rPr>
              <a:t>Boundary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32904" y="555040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Synthetic descriptive evidence;live/causal result not established.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153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LO2 · ACTIVITY 11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SEO Content Experiment · Editable Chart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777240" y="1783080"/>
          <a:ext cx="10634472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ectangle 7"/>
          <p:cNvSpPr/>
          <p:nvPr/>
        </p:nvSpPr>
        <p:spPr>
          <a:xfrm>
            <a:off x="777240" y="5230368"/>
            <a:ext cx="10634472" cy="1005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5230368"/>
            <a:ext cx="100584" cy="100584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5340096"/>
            <a:ext cx="10149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WHAT THE DATA SHOWS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5632704"/>
            <a:ext cx="10149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Synthetic CTR percentages. Research training has higher CTR and enquiry rate; intent and page relevance are hypotheses to validate.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154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1636776"/>
            <a:ext cx="9144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6B6862"/>
                </a:solidFill>
                <a:latin typeface="Calibri"/>
              </a:rPr>
              <a:t>Clicks per search impression (%)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LO2 · ACTIVITY 11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SEO Content Experiment · Reproducible Contract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3447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B6862"/>
                </a:solidFill>
                <a:latin typeface="Calibri"/>
              </a:rPr>
              <a:t>Readable excerpt; complete procedure and runnable practice remain in the guide.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86000"/>
            <a:ext cx="5943600" cy="3794760"/>
          </a:xfrm>
          <a:prstGeom prst="rect">
            <a:avLst/>
          </a:prstGeom>
          <a:solidFill>
            <a:srgbClr val="212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2395728"/>
            <a:ext cx="5541264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300">
                <a:solidFill>
                  <a:srgbClr val="F0B89E"/>
                </a:solidFill>
                <a:latin typeface="Consolas"/>
              </a:rPr>
              <a:t>for r in rows: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B9B4A9"/>
                </a:solidFill>
                <a:latin typeface="Consolas"/>
              </a:rPr>
              <a:t>    impressions = int(r["impressions"])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B9B4A9"/>
                </a:solidFill>
                <a:latin typeface="Consolas"/>
              </a:rPr>
              <a:t>    clicks = int(r["clicks"])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B9B4A9"/>
                </a:solidFill>
                <a:latin typeface="Consolas"/>
              </a:rPr>
              <a:t>    r["ctr"] = clicks/impressions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B9B4A9"/>
                </a:solidFill>
                <a:latin typeface="Consolas"/>
              </a:rPr>
              <a:t>    r["enquiry_per_click"] = (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F0B89E"/>
                </a:solidFill>
                <a:latin typeface="Consolas"/>
              </a:rPr>
              <a:t>        int(r["enquiries"])/clicks if clicks else 0)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95160" y="228600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95160" y="2286000"/>
            <a:ext cx="82296" cy="9144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32904" y="237744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Data contract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32904" y="267004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search-content.csv; exact field names matter.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95160" y="324612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995160" y="3246120"/>
            <a:ext cx="82296" cy="91440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32904" y="333756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3A7D7B"/>
                </a:solidFill>
                <a:latin typeface="Calibri"/>
              </a:rPr>
              <a:t>Identity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32904" y="363016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Preserve row IDs or segment labels.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95160" y="420624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95160" y="4206240"/>
            <a:ext cx="82296" cy="914400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32904" y="429768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2603F"/>
                </a:solidFill>
                <a:latin typeface="Calibri"/>
              </a:rPr>
              <a:t>Calculation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32904" y="459028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Deterministic code checks the agent narrative.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95160" y="516636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995160" y="5166360"/>
            <a:ext cx="82296" cy="914400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32904" y="525780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88A2E"/>
                </a:solidFill>
                <a:latin typeface="Calibri"/>
              </a:rPr>
              <a:t>Verification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32904" y="555040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CTRs 4%,3%,6%,3%; training enquiry/click 12.5%; one isolated change and explicit…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155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C2603F"/>
                </a:solidFill>
                <a:latin typeface="Cambria"/>
              </a:rPr>
              <a:t>LO2 · ACTIVITY 11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SEO Content Experiment · Decision Rule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Diamond 6"/>
          <p:cNvSpPr/>
          <p:nvPr/>
        </p:nvSpPr>
        <p:spPr>
          <a:xfrm>
            <a:off x="777240" y="2514600"/>
            <a:ext cx="4206240" cy="2468880"/>
          </a:xfrm>
          <a:prstGeom prst="diamond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Does the query match a measurable customer need?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577840" y="1965960"/>
            <a:ext cx="5806440" cy="1371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577840" y="1965960"/>
            <a:ext cx="100584" cy="137160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52160" y="2112264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3A7D7B"/>
                </a:solidFill>
                <a:latin typeface="Cambria"/>
              </a:rPr>
              <a:t>YES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2514600"/>
            <a:ext cx="5303520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Test a claim-backed page change</a:t>
            </a:r>
          </a:p>
        </p:txBody>
      </p:sp>
      <p:cxnSp>
        <p:nvCxnSpPr>
          <p:cNvPr id="12" name="Connector 11"/>
          <p:cNvCxnSpPr/>
          <p:nvPr/>
        </p:nvCxnSpPr>
        <p:spPr>
          <a:xfrm flipV="1">
            <a:off x="4983480" y="2651760"/>
            <a:ext cx="594360" cy="1097280"/>
          </a:xfrm>
          <a:prstGeom prst="line">
            <a:avLst/>
          </a:prstGeom>
          <a:ln w="25400">
            <a:solidFill>
              <a:srgbClr val="3A7D7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577840" y="3977639"/>
            <a:ext cx="5806440" cy="1371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577840" y="3977639"/>
            <a:ext cx="100584" cy="1371600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52160" y="4123943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C88A2E"/>
                </a:solidFill>
                <a:latin typeface="Cambria"/>
              </a:rPr>
              <a:t>NO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4526279"/>
            <a:ext cx="5303520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Validate intent before production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983480" y="3749040"/>
            <a:ext cx="594360" cy="914399"/>
          </a:xfrm>
          <a:prstGeom prst="line">
            <a:avLst/>
          </a:prstGeom>
          <a:ln w="25400">
            <a:solidFill>
              <a:srgbClr val="C88A2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777240" y="5623560"/>
            <a:ext cx="10634472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5742432"/>
            <a:ext cx="10149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B6862"/>
                </a:solidFill>
                <a:latin typeface="Calibri"/>
              </a:rPr>
              <a:t>This is an authored research decision rule. It does not grant product permissions or replace human review.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156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LO2 · ACTIVITY 11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SEO Content Experiment · Claim-Evidence Ledger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Claim layer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Evidence required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Permitted wording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Observation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query: ai marketing course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CTR = clicks/impressions. Training query: 48/800=6%; enquiry/click = 6/48=12.5%. High impression volume alone…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Inference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Synthetic CTR percentages. Research training has higher CTR and enquiry rate; intent and page…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Does the query match a measurable customer need?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Recommendation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Test a claim-backed page change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experiment-brief.md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398264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4398264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Unknown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A content plan targets the highest-impression query and ignores enquiry quality. Optimise against the…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Validate intent before production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5312664"/>
            <a:ext cx="10634472" cy="8412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" y="5312664"/>
            <a:ext cx="100584" cy="8412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1560" y="5422392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WHEN IT MATTERS  </a:t>
            </a:r>
            <a:r>
              <a:rPr sz="1200" b="0">
                <a:solidFill>
                  <a:srgbClr val="21201C"/>
                </a:solidFill>
                <a:latin typeface="Calibri"/>
              </a:rPr>
              <a:t>Preserve the distinction between observed data, model output and human decision throughout Cowork and Code handoffs.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157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C88A2E"/>
                </a:solidFill>
                <a:latin typeface="Cambria"/>
              </a:rPr>
              <a:t>LO2 · ACTIVITY 11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SEO Content Experiment · Failure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3447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B6862"/>
                </a:solidFill>
                <a:latin typeface="Calibri"/>
              </a:rPr>
              <a:t>A plausible report can be wrong even when its numbers look polished.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86000"/>
            <a:ext cx="5943600" cy="3794760"/>
          </a:xfrm>
          <a:prstGeom prst="rect">
            <a:avLst/>
          </a:prstGeom>
          <a:solidFill>
            <a:srgbClr val="212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2395728"/>
            <a:ext cx="5541264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300">
                <a:solidFill>
                  <a:srgbClr val="F0B89E"/>
                </a:solidFill>
                <a:latin typeface="Consolas"/>
              </a:rPr>
              <a:t>A content plan targets the highest-impression query and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F0B89E"/>
                </a:solidFill>
                <a:latin typeface="Consolas"/>
              </a:rPr>
              <a:t>ignores enquiry quality. Optimise against the decision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F0B89E"/>
                </a:solidFill>
                <a:latin typeface="Consolas"/>
              </a:rPr>
              <a:t>metric rather than raw reach.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95160" y="228600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95160" y="2286000"/>
            <a:ext cx="82296" cy="9144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32904" y="237744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Trigger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32904" y="267004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The agent promotes a claim beyond its evidence.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95160" y="324612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995160" y="3246120"/>
            <a:ext cx="82296" cy="91440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32904" y="333756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3A7D7B"/>
                </a:solidFill>
                <a:latin typeface="Calibri"/>
              </a:rPr>
              <a:t>Diagnostic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32904" y="363016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Inspect the underlying rows,scope and denominator.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95160" y="420624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95160" y="4206240"/>
            <a:ext cx="82296" cy="914400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32904" y="429768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2603F"/>
                </a:solidFill>
                <a:latin typeface="Calibri"/>
              </a:rPr>
              <a:t>Recovery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32904" y="459028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Revise the claim and retain the rejected reasoning.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95160" y="516636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995160" y="5166360"/>
            <a:ext cx="82296" cy="914400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32904" y="525780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88A2E"/>
                </a:solidFill>
                <a:latin typeface="Calibri"/>
              </a:rPr>
              <a:t>Recheck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32904" y="555040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CTRs 4%,3%,6%,3%; training enquiry/click 12.5%; one isolated change and explicit…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158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LO2 · ACTIVITY 11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SEO Content Experiment · Control and Recovery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Control point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Risk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Required evidence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query identity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ai marketing course omitted or changed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Reconcile raw identifiers in search-content.csv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Metric contract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CTR = clicks/impressions. Training query: 48/800=6%; enquiry/click = 6/48=12.5%. High impression volume alone…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Independent calculation and named denominator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Inference check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A content plan targets the highest-impression query and ignores enquiry quality. Optimise against the…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Validate intent before production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398264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4398264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Decision output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intent-map.csv and experiment-brief.md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Avoid keyword stuffing and unsupported claims. Record source date, search geography and device where…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5312664"/>
            <a:ext cx="10634472" cy="8412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" y="5312664"/>
            <a:ext cx="100584" cy="8412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1560" y="5422392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WHEN IT MATTERS  </a:t>
            </a:r>
            <a:r>
              <a:rPr sz="1200" b="0">
                <a:solidFill>
                  <a:srgbClr val="21201C"/>
                </a:solidFill>
                <a:latin typeface="Calibri"/>
              </a:rPr>
              <a:t>Avoid keyword stuffing and unsupported claims. Record source date, search geography and device where available. Seasonal and ranking changes can confound before/after comparisons.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159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LO2 · ACTIVITY 11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SEO Content Experiment · Output Handoff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48840"/>
            <a:ext cx="2370582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79067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7906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search-content.csv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Raw 4 records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202686" y="3223260"/>
            <a:ext cx="274320" cy="0"/>
          </a:xfrm>
          <a:prstGeom prst="line">
            <a:avLst/>
          </a:prstGeom>
          <a:ln w="25400">
            <a:solidFill>
              <a:srgbClr val="D977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353187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31870" y="2148840"/>
            <a:ext cx="2370582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433697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369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988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query audit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2331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Preserve identifiers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957316" y="3223260"/>
            <a:ext cx="274320" cy="0"/>
          </a:xfrm>
          <a:prstGeom prst="line">
            <a:avLst/>
          </a:prstGeom>
          <a:ln w="25400">
            <a:solidFill>
              <a:srgbClr val="D977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628650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86500" y="2148840"/>
            <a:ext cx="2370582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188327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8832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451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intent-map.csv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794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Computed evidence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711946" y="3223260"/>
            <a:ext cx="274320" cy="0"/>
          </a:xfrm>
          <a:prstGeom prst="line">
            <a:avLst/>
          </a:prstGeom>
          <a:ln w="25400">
            <a:solidFill>
              <a:srgbClr val="D977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904113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041130" y="2148840"/>
            <a:ext cx="2370582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942957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94295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914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Human decision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3257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Reviewer decision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77240" y="4608576"/>
            <a:ext cx="10634472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77240" y="4608576"/>
            <a:ext cx="100584" cy="105156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51560" y="4718304"/>
            <a:ext cx="10149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OUTPUT CONTRACT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1560" y="5029200"/>
            <a:ext cx="1014984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21201C"/>
                </a:solidFill>
                <a:latin typeface="Calibri"/>
              </a:rPr>
              <a:t>CTR = clicks/impressions. Training query: 48/800=6%; enquiry/click = 6/48=12.5%. High impression volume alone does not establish useful demand. Output: intent-map.csv and experiment-brief.md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160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transition spd="fast" advClick="1">
    <p:fade/>
  </p:transition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LO2 · ACTIVITY 11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SEO Content Experiment · Acceptance Evidence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10634472" cy="1965960"/>
          </a:xfrm>
          <a:prstGeom prst="rect">
            <a:avLst/>
          </a:prstGeom>
          <a:solidFill>
            <a:srgbClr val="EA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100584" cy="1965960"/>
          </a:xfrm>
          <a:prstGeom prst="rect">
            <a:avLst/>
          </a:prstGeom>
          <a:solidFill>
            <a:srgbClr val="4A8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38528"/>
            <a:ext cx="1005840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4A8F5F"/>
                </a:solidFill>
                <a:latin typeface="Cambria"/>
              </a:rPr>
              <a:t>✅  Expected result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395728"/>
            <a:ext cx="10058400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21201C"/>
                </a:solidFill>
                <a:latin typeface="Calibri"/>
              </a:rPr>
              <a:t>CTRs 4%,3%,6%,3%; training enquiry/click 12.5%; one isolated change and explicit confounder.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950208"/>
            <a:ext cx="1063447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C88A2E"/>
                </a:solidFill>
                <a:latin typeface="Calibri"/>
              </a:rPr>
              <a:t>IF IT DOESN'T WORK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4297680"/>
            <a:ext cx="3392424" cy="15727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4297680"/>
            <a:ext cx="3392424" cy="82296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6696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21201C"/>
                </a:solidFill>
                <a:latin typeface="Calibri"/>
              </a:rPr>
              <a:t>Numbers disagree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6696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6862"/>
                </a:solidFill>
                <a:latin typeface="Calibri"/>
              </a:rPr>
              <a:t>Check header parsing,units,denominator and duplicate records.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98264" y="4297680"/>
            <a:ext cx="3392424" cy="15727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98264" y="4297680"/>
            <a:ext cx="3392424" cy="82296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17720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21201C"/>
                </a:solidFill>
                <a:latin typeface="Calibri"/>
              </a:rPr>
              <a:t>Claim lacks a source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6862"/>
                </a:solidFill>
                <a:latin typeface="Calibri"/>
              </a:rPr>
              <a:t>Add row IDs and scope; downgrade or remove unsupported inference.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19288" y="4297680"/>
            <a:ext cx="3392424" cy="15727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19288" y="4297680"/>
            <a:ext cx="3392424" cy="82296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38744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21201C"/>
                </a:solidFill>
                <a:latin typeface="Calibri"/>
              </a:rPr>
              <a:t>Tool unavailable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38744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6862"/>
                </a:solidFill>
                <a:latin typeface="Calibri"/>
              </a:rPr>
              <a:t>Use the documented CSV fallback and state the unexecuted product boundary.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161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D97757"/>
                </a:solidFill>
                <a:latin typeface="Cambria"/>
              </a:rPr>
              <a:t>LEARNING OUTCOME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21201C"/>
                </a:solidFill>
                <a:latin typeface="Cambria"/>
              </a:rPr>
              <a:t>Behaviour and Demand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6052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6B6862"/>
                </a:solidFill>
                <a:latin typeface="Calibri"/>
              </a:rPr>
              <a:t>Cowork evidence synthesis · Claude Code reproducible analysis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8E5DE"/>
                </a:solidFill>
                <a:latin typeface="Cambria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162</a:t>
            </a:r>
          </a:p>
        </p:txBody>
      </p:sp>
    </p:spTree>
  </p:cSld>
  <p:clrMapOvr>
    <a:masterClrMapping/>
  </p:clrMapOvr>
  <p:transition spd="med" advClick="1">
    <p:push dir="l"/>
  </p:transition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LO3 · ACTIVITY 12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Bounded Demand Forecast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19072"/>
            <a:ext cx="1554480" cy="420624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5544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mbria"/>
              </a:rPr>
              <a:t>ACTIVITY 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87168" y="1719072"/>
            <a:ext cx="88696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B6862"/>
                </a:solidFill>
                <a:latin typeface="Calibri"/>
              </a:rPr>
              <a:t>ICT-SNM-3007-1.1 · LO3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86000"/>
            <a:ext cx="10634472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21201C"/>
                </a:solidFill>
                <a:latin typeface="Calibri"/>
              </a:rPr>
              <a:t>Six synthetic monthly enquiry counts are used to forecast one month. Claude Code must compare a last-value baseline and three-month moving average, preserving seasonality and short-history uncertainty.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474720"/>
            <a:ext cx="3392424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3474720"/>
            <a:ext cx="3392424" cy="9144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6696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YOU'LL BUILD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6696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forecast.csv and forecast-assumptions.md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98264" y="3474720"/>
            <a:ext cx="3392424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98264" y="3474720"/>
            <a:ext cx="3392424" cy="9144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17720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TOOLCHAIN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Claude Cowork · Claude Code · CSV / Markdown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19288" y="3474720"/>
            <a:ext cx="3392424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19288" y="3474720"/>
            <a:ext cx="3392424" cy="91440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8744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C2603F"/>
                </a:solidFill>
                <a:latin typeface="Calibri"/>
              </a:rPr>
              <a:t>DONE WHEN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38744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Naive 104; moving-average 100; August moving-average error 10.67; campaign shift and seasonality caveats.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163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LO3 · ACTIVITY 12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Bounded Demand Forecast · Data and Trust Boundaries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48840"/>
            <a:ext cx="2370582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79067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7906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Raw inputs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demand.csv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202686" y="3223260"/>
            <a:ext cx="274320" cy="0"/>
          </a:xfrm>
          <a:prstGeom prst="line">
            <a:avLst/>
          </a:prstGeom>
          <a:ln w="25400">
            <a:solidFill>
              <a:srgbClr val="D977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353187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31870" y="2148840"/>
            <a:ext cx="2370582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433697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369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988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Evidence checks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2331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IDs,date,units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957316" y="3223260"/>
            <a:ext cx="274320" cy="0"/>
          </a:xfrm>
          <a:prstGeom prst="line">
            <a:avLst/>
          </a:prstGeom>
          <a:ln w="25400">
            <a:solidFill>
              <a:srgbClr val="D977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628650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86500" y="2148840"/>
            <a:ext cx="2370582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188327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8832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451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Deterministic analysis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794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Schema and formulas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711946" y="3223260"/>
            <a:ext cx="274320" cy="0"/>
          </a:xfrm>
          <a:prstGeom prst="line">
            <a:avLst/>
          </a:prstGeom>
          <a:ln w="25400">
            <a:solidFill>
              <a:srgbClr val="D977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904113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041130" y="2148840"/>
            <a:ext cx="2370582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942957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94295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914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Human decision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3257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Review before action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77240" y="4608576"/>
            <a:ext cx="10634472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77240" y="4608576"/>
            <a:ext cx="100584" cy="105156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51560" y="4718304"/>
            <a:ext cx="10149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CONTRACT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1560" y="5029200"/>
            <a:ext cx="1014984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21201C"/>
                </a:solidFill>
                <a:latin typeface="Calibri"/>
              </a:rPr>
              <a:t>Check regular intervals -&gt; reserve test period -&gt; compute naive baseline -&gt; compare moving average -&gt; record error -&gt; state scenario range -&gt; monitor change.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164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transition spd="fast" advClick="1">
    <p:fade/>
  </p:transition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LO3 · ACTIVITY 12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Bounded Demand Forecast · Input Schema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Field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Contract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Quality control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month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str; example: 2026-03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Preserve month;check units/identity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enquiries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int; example: 80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Preserve enquiries;check units/identity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campaign_change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str; example: no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Preserve campaign_change;check units/identity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599432"/>
            <a:ext cx="10634472" cy="8412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77240" y="4599432"/>
            <a:ext cx="100584" cy="8412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51560" y="4709160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WHEN IT MATTERS  </a:t>
            </a:r>
            <a:r>
              <a:rPr sz="1200" b="0">
                <a:solidFill>
                  <a:srgbClr val="21201C"/>
                </a:solidFill>
                <a:latin typeface="Calibri"/>
              </a:rPr>
              <a:t>Source rows remain immutable. New computed fields belong in outputs; ambiguous data is qualified rather than invented.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165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LO3 · ACTIVITY 12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Bounded Demand Forecast · Evidence Exhibit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month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enquiries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campaign_change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48310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4831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2026-03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48310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4831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80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48310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4831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no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741676"/>
            <a:ext cx="2764962" cy="48310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741676"/>
            <a:ext cx="2508930" cy="4831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2026-04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741676"/>
            <a:ext cx="3934755" cy="48310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741676"/>
            <a:ext cx="3678723" cy="4831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88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741676"/>
            <a:ext cx="3934755" cy="48310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741676"/>
            <a:ext cx="3678723" cy="4831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no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224784"/>
            <a:ext cx="2764962" cy="48310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224784"/>
            <a:ext cx="2508930" cy="4831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2026-05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224784"/>
            <a:ext cx="3934755" cy="48310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224784"/>
            <a:ext cx="3678723" cy="4831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84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224784"/>
            <a:ext cx="3934755" cy="48310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224784"/>
            <a:ext cx="3678723" cy="4831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no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3707892"/>
            <a:ext cx="2764962" cy="48310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3707892"/>
            <a:ext cx="2508930" cy="4831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2026-06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3707892"/>
            <a:ext cx="3934755" cy="48310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3707892"/>
            <a:ext cx="3678723" cy="4831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96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3707892"/>
            <a:ext cx="3934755" cy="48310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3707892"/>
            <a:ext cx="3678723" cy="4831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yes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4191000"/>
            <a:ext cx="2764962" cy="48310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05256" y="4191000"/>
            <a:ext cx="2508930" cy="4831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2026-07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542202" y="4191000"/>
            <a:ext cx="3934755" cy="48310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70218" y="4191000"/>
            <a:ext cx="3678723" cy="4831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100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476957" y="4191000"/>
            <a:ext cx="3934755" cy="48310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604973" y="4191000"/>
            <a:ext cx="3678723" cy="4831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no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77240" y="4674108"/>
            <a:ext cx="2764962" cy="48310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05256" y="4674108"/>
            <a:ext cx="2508930" cy="4831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2026-08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542202" y="4674108"/>
            <a:ext cx="3934755" cy="48310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70218" y="4674108"/>
            <a:ext cx="3678723" cy="4831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104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476957" y="4674108"/>
            <a:ext cx="3934755" cy="48310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604973" y="4674108"/>
            <a:ext cx="3678723" cy="4831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no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77240" y="5358384"/>
            <a:ext cx="10634472" cy="8412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777240" y="5358384"/>
            <a:ext cx="100584" cy="8412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51560" y="5468112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WHEN IT MATTERS  </a:t>
            </a:r>
            <a:r>
              <a:rPr sz="1200" b="0">
                <a:solidFill>
                  <a:srgbClr val="21201C"/>
                </a:solidFill>
                <a:latin typeface="Calibri"/>
              </a:rPr>
              <a:t>This exhibit is an authored synthetic dataset. Read exact units and identifiers before interpreting values.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166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LO3 · ACTIVITY 12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Bounded Demand Forecast · Worked Calculation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3447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B6862"/>
                </a:solidFill>
                <a:latin typeface="Calibri"/>
              </a:rPr>
              <a:t>Interpret the denominator,units and decision boundary.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86000"/>
            <a:ext cx="5943600" cy="3794760"/>
          </a:xfrm>
          <a:prstGeom prst="rect">
            <a:avLst/>
          </a:prstGeom>
          <a:solidFill>
            <a:srgbClr val="212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2395728"/>
            <a:ext cx="5541264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300">
                <a:solidFill>
                  <a:srgbClr val="B9B4A9"/>
                </a:solidFill>
                <a:latin typeface="Consolas"/>
              </a:rPr>
              <a:t>September last-value forecast=104; three-month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B9B4A9"/>
                </a:solidFill>
                <a:latin typeface="Consolas"/>
              </a:rPr>
              <a:t>mean=(96+100+104)/3=100. At August, rolling mean of May-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B9B4A9"/>
                </a:solidFill>
                <a:latin typeface="Consolas"/>
              </a:rPr>
              <a:t>July=93.33; absolute error=10.67.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95160" y="228600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95160" y="2286000"/>
            <a:ext cx="82296" cy="9144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32904" y="237744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Inputs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32904" y="267004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demand.csv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95160" y="324612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995160" y="3246120"/>
            <a:ext cx="82296" cy="91440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32904" y="333756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3A7D7B"/>
                </a:solidFill>
                <a:latin typeface="Calibri"/>
              </a:rPr>
              <a:t>Calculation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32904" y="363016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Recompute exact values independently.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95160" y="420624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95160" y="4206240"/>
            <a:ext cx="82296" cy="914400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32904" y="429768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2603F"/>
                </a:solidFill>
                <a:latin typeface="Calibri"/>
              </a:rPr>
              <a:t>Interpretation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32904" y="459028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Synthetic monthly enquiries. A campaign changed in June; trend continuation is an…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95160" y="516636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995160" y="5166360"/>
            <a:ext cx="82296" cy="914400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32904" y="525780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88A2E"/>
                </a:solidFill>
                <a:latin typeface="Calibri"/>
              </a:rPr>
              <a:t>Boundary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32904" y="555040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Synthetic descriptive evidence;live/causal result not established.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167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LO3 · ACTIVITY 12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Bounded Demand Forecast · Editable Chart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777240" y="1783080"/>
          <a:ext cx="10634472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ectangle 7"/>
          <p:cNvSpPr/>
          <p:nvPr/>
        </p:nvSpPr>
        <p:spPr>
          <a:xfrm>
            <a:off x="777240" y="5230368"/>
            <a:ext cx="10634472" cy="1005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5230368"/>
            <a:ext cx="100584" cy="100584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5340096"/>
            <a:ext cx="10149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WHAT THE DATA SHOWS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5632704"/>
            <a:ext cx="10149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Synthetic monthly enquiries. A campaign changed in June; trend continuation is an assumption, not evidence of stable future demand.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168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1636776"/>
            <a:ext cx="9144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6B6862"/>
                </a:solidFill>
                <a:latin typeface="Calibri"/>
              </a:rPr>
              <a:t>Monthly enquiries (count)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LO3 · ACTIVITY 12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Bounded Demand Forecast · Reproducible Contract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3447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B6862"/>
                </a:solidFill>
                <a:latin typeface="Calibri"/>
              </a:rPr>
              <a:t>Readable excerpt; complete procedure and runnable practice remain in the guide.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86000"/>
            <a:ext cx="5943600" cy="3794760"/>
          </a:xfrm>
          <a:prstGeom prst="rect">
            <a:avLst/>
          </a:prstGeom>
          <a:solidFill>
            <a:srgbClr val="212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2395728"/>
            <a:ext cx="5541264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300">
                <a:solidFill>
                  <a:srgbClr val="B9B4A9"/>
                </a:solidFill>
                <a:latin typeface="Consolas"/>
              </a:rPr>
              <a:t>values = [80,88,84,96,100,104]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B9B4A9"/>
                </a:solidFill>
                <a:latin typeface="Consolas"/>
              </a:rPr>
              <a:t>naive = values[-1]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B9B4A9"/>
                </a:solidFill>
                <a:latin typeface="Consolas"/>
              </a:rPr>
              <a:t>moving_average = sum(values[-3:])/3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B9B4A9"/>
                </a:solidFill>
                <a:latin typeface="Consolas"/>
              </a:rPr>
              <a:t>aug_prediction = sum(values[2:5])/3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B9B4A9"/>
                </a:solidFill>
                <a:latin typeface="Consolas"/>
              </a:rPr>
              <a:t>aug_abs_error = abs(values[5]-aug_prediction)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B9B4A9"/>
                </a:solidFill>
                <a:latin typeface="Consolas"/>
              </a:rPr>
              <a:t>assert moving_average == 100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95160" y="228600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95160" y="2286000"/>
            <a:ext cx="82296" cy="9144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32904" y="237744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Data contract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32904" y="267004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demand.csv; exact field names matter.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95160" y="324612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995160" y="3246120"/>
            <a:ext cx="82296" cy="91440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32904" y="333756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3A7D7B"/>
                </a:solidFill>
                <a:latin typeface="Calibri"/>
              </a:rPr>
              <a:t>Identity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32904" y="363016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Preserve row IDs or segment labels.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95160" y="420624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95160" y="4206240"/>
            <a:ext cx="82296" cy="914400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32904" y="429768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2603F"/>
                </a:solidFill>
                <a:latin typeface="Calibri"/>
              </a:rPr>
              <a:t>Calculation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32904" y="459028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Deterministic code checks the agent narrative.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95160" y="516636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995160" y="5166360"/>
            <a:ext cx="82296" cy="914400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32904" y="525780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88A2E"/>
                </a:solidFill>
                <a:latin typeface="Calibri"/>
              </a:rPr>
              <a:t>Verification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32904" y="555040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Naive 104; moving-average 100; August moving-average error 10.67; campaign shift and…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169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C2603F"/>
                </a:solidFill>
                <a:latin typeface="Cambria"/>
              </a:rPr>
              <a:t>LO3 · ACTIVITY 12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Bounded Demand Forecast · Decision Rule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Diamond 6"/>
          <p:cNvSpPr/>
          <p:nvPr/>
        </p:nvSpPr>
        <p:spPr>
          <a:xfrm>
            <a:off x="777240" y="2514600"/>
            <a:ext cx="4206240" cy="2468880"/>
          </a:xfrm>
          <a:prstGeom prst="diamond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Does the model beat a simple held-out baseline?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577840" y="1965960"/>
            <a:ext cx="5806440" cy="1371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577840" y="1965960"/>
            <a:ext cx="100584" cy="137160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52160" y="2112264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3A7D7B"/>
                </a:solidFill>
                <a:latin typeface="Cambria"/>
              </a:rPr>
              <a:t>YES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2514600"/>
            <a:ext cx="5303520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Use cautiously with monitoring</a:t>
            </a:r>
          </a:p>
        </p:txBody>
      </p:sp>
      <p:cxnSp>
        <p:nvCxnSpPr>
          <p:cNvPr id="12" name="Connector 11"/>
          <p:cNvCxnSpPr/>
          <p:nvPr/>
        </p:nvCxnSpPr>
        <p:spPr>
          <a:xfrm flipV="1">
            <a:off x="4983480" y="2651760"/>
            <a:ext cx="594360" cy="1097280"/>
          </a:xfrm>
          <a:prstGeom prst="line">
            <a:avLst/>
          </a:prstGeom>
          <a:ln w="25400">
            <a:solidFill>
              <a:srgbClr val="3A7D7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577840" y="3977639"/>
            <a:ext cx="5806440" cy="1371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577840" y="3977639"/>
            <a:ext cx="100584" cy="1371600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52160" y="4123943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C88A2E"/>
                </a:solidFill>
                <a:latin typeface="Cambria"/>
              </a:rPr>
              <a:t>NO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4526279"/>
            <a:ext cx="5303520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Prefer baseline; collect more data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983480" y="3749040"/>
            <a:ext cx="594360" cy="914399"/>
          </a:xfrm>
          <a:prstGeom prst="line">
            <a:avLst/>
          </a:prstGeom>
          <a:ln w="25400">
            <a:solidFill>
              <a:srgbClr val="C88A2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777240" y="5623560"/>
            <a:ext cx="10634472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5742432"/>
            <a:ext cx="10149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B6862"/>
                </a:solidFill>
                <a:latin typeface="Calibri"/>
              </a:rPr>
              <a:t>This is an authored research decision rule. It does not grant product permissions or replace human review.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170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LO3 · ACTIVITY 12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Bounded Demand Forecast · Claim-Evidence Ledger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Claim layer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Evidence required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Permitted wording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Observation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month: 2026-03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September last-value forecast=104; three-month mean=(96+100+104)/3=100. At August, rolling mean of…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Inference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Synthetic monthly enquiries. A campaign changed in June; trend continuation is an assumption, not…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Does the model beat a simple held-out baseline?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Recommendation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Use cautiously with monitoring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forecast-assumptions.md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398264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4398264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Unknown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The agent fits an elaborate model to six points and reports a precise probability interval. The data do not…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Prefer baseline; collect more data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5312664"/>
            <a:ext cx="10634472" cy="8412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" y="5312664"/>
            <a:ext cx="100584" cy="8412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1560" y="5422392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WHEN IT MATTERS  </a:t>
            </a:r>
            <a:r>
              <a:rPr sz="1200" b="0">
                <a:solidFill>
                  <a:srgbClr val="21201C"/>
                </a:solidFill>
                <a:latin typeface="Calibri"/>
              </a:rPr>
              <a:t>Preserve the distinction between observed data, model output and human decision throughout Cowork and Code handoffs.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171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C88A2E"/>
                </a:solidFill>
                <a:latin typeface="Cambria"/>
              </a:rPr>
              <a:t>LO3 · ACTIVITY 12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Bounded Demand Forecast · Failure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3447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B6862"/>
                </a:solidFill>
                <a:latin typeface="Calibri"/>
              </a:rPr>
              <a:t>A plausible report can be wrong even when its numbers look polished.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86000"/>
            <a:ext cx="5943600" cy="3794760"/>
          </a:xfrm>
          <a:prstGeom prst="rect">
            <a:avLst/>
          </a:prstGeom>
          <a:solidFill>
            <a:srgbClr val="212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2395728"/>
            <a:ext cx="5541264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300">
                <a:solidFill>
                  <a:srgbClr val="F0B89E"/>
                </a:solidFill>
                <a:latin typeface="Consolas"/>
              </a:rPr>
              <a:t>The agent fits an elaborate model to six points and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F0B89E"/>
                </a:solidFill>
                <a:latin typeface="Consolas"/>
              </a:rPr>
              <a:t>reports a precise probability interval. The data do not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F0B89E"/>
                </a:solidFill>
                <a:latin typeface="Consolas"/>
              </a:rPr>
              <a:t>support such precision.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95160" y="228600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95160" y="2286000"/>
            <a:ext cx="82296" cy="9144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32904" y="237744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Trigger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32904" y="267004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The agent promotes a claim beyond its evidence.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95160" y="324612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995160" y="3246120"/>
            <a:ext cx="82296" cy="91440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32904" y="333756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3A7D7B"/>
                </a:solidFill>
                <a:latin typeface="Calibri"/>
              </a:rPr>
              <a:t>Diagnostic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32904" y="363016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Inspect the underlying rows,scope and denominator.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95160" y="420624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95160" y="4206240"/>
            <a:ext cx="82296" cy="914400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32904" y="429768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2603F"/>
                </a:solidFill>
                <a:latin typeface="Calibri"/>
              </a:rPr>
              <a:t>Recovery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32904" y="459028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Revise the claim and retain the rejected reasoning.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95160" y="516636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995160" y="5166360"/>
            <a:ext cx="82296" cy="914400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32904" y="525780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88A2E"/>
                </a:solidFill>
                <a:latin typeface="Calibri"/>
              </a:rPr>
              <a:t>Recheck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32904" y="555040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Naive 104; moving-average 100; August moving-average error 10.67; campaign shift and…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172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LO3 · ACTIVITY 12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Bounded Demand Forecast · Control and Recovery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Control point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Risk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Required evidence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month identity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2026-03 omitted or changed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Reconcile raw identifiers in demand.csv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Metric contract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September last-value forecast=104; three-month mean=(96+100+104)/3=100. At August, rolling mean of…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Independent calculation and named denominator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Inference check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The agent fits an elaborate model to six points and reports a precise probability interval. The data do not…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Prefer baseline; collect more data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398264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4398264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Decision output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forecast.csv and forecast-assumptions.md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Use simple baselines, avoid training on the held-out month, label scenario ranges as assumptions, and discuss…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5312664"/>
            <a:ext cx="10634472" cy="8412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" y="5312664"/>
            <a:ext cx="100584" cy="8412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1560" y="5422392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WHEN IT MATTERS  </a:t>
            </a:r>
            <a:r>
              <a:rPr sz="1200" b="0">
                <a:solidFill>
                  <a:srgbClr val="21201C"/>
                </a:solidFill>
                <a:latin typeface="Calibri"/>
              </a:rPr>
              <a:t>Use simple baselines, avoid training on the held-out month, label scenario ranges as assumptions, and discuss campaign shifts plus missing annual seasonality.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173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LO3 · ACTIVITY 12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Bounded Demand Forecast · Output Handoff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48840"/>
            <a:ext cx="2370582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79067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7906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demand.csv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Raw 6 records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202686" y="3223260"/>
            <a:ext cx="274320" cy="0"/>
          </a:xfrm>
          <a:prstGeom prst="line">
            <a:avLst/>
          </a:prstGeom>
          <a:ln w="25400">
            <a:solidFill>
              <a:srgbClr val="D977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353187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31870" y="2148840"/>
            <a:ext cx="2370582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433697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369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988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month audit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2331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Preserve identifiers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957316" y="3223260"/>
            <a:ext cx="274320" cy="0"/>
          </a:xfrm>
          <a:prstGeom prst="line">
            <a:avLst/>
          </a:prstGeom>
          <a:ln w="25400">
            <a:solidFill>
              <a:srgbClr val="D977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628650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86500" y="2148840"/>
            <a:ext cx="2370582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188327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8832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451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forecast.csv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794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Computed evidence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711946" y="3223260"/>
            <a:ext cx="274320" cy="0"/>
          </a:xfrm>
          <a:prstGeom prst="line">
            <a:avLst/>
          </a:prstGeom>
          <a:ln w="25400">
            <a:solidFill>
              <a:srgbClr val="D977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904113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041130" y="2148840"/>
            <a:ext cx="2370582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942957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94295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914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Human decision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3257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Reviewer decision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77240" y="4608576"/>
            <a:ext cx="10634472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77240" y="4608576"/>
            <a:ext cx="100584" cy="105156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51560" y="4718304"/>
            <a:ext cx="10149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OUTPUT CONTRACT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1560" y="5029200"/>
            <a:ext cx="1014984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21201C"/>
                </a:solidFill>
                <a:latin typeface="Calibri"/>
              </a:rPr>
              <a:t>September last-value forecast=104; three-month mean=(96+100+104)/3=100. At August, rolling mean of May-July=93.33; absolute error=10.67. Output: forecast.csv and forecast-assumptions.md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174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transition spd="fast" advClick="1">
    <p:fade/>
  </p:transition>
</p:sld>
</file>

<file path=ppt/slides/slide1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LO3 · ACTIVITY 12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Bounded Demand Forecast · Acceptance Evidence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10634472" cy="1965960"/>
          </a:xfrm>
          <a:prstGeom prst="rect">
            <a:avLst/>
          </a:prstGeom>
          <a:solidFill>
            <a:srgbClr val="EA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100584" cy="1965960"/>
          </a:xfrm>
          <a:prstGeom prst="rect">
            <a:avLst/>
          </a:prstGeom>
          <a:solidFill>
            <a:srgbClr val="4A8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38528"/>
            <a:ext cx="1005840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4A8F5F"/>
                </a:solidFill>
                <a:latin typeface="Cambria"/>
              </a:rPr>
              <a:t>✅  Expected result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395728"/>
            <a:ext cx="10058400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21201C"/>
                </a:solidFill>
                <a:latin typeface="Calibri"/>
              </a:rPr>
              <a:t>Naive 104; moving-average 100; August moving-average error 10.67; campaign shift and seasonality caveats.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950208"/>
            <a:ext cx="1063447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C88A2E"/>
                </a:solidFill>
                <a:latin typeface="Calibri"/>
              </a:rPr>
              <a:t>IF IT DOESN'T WORK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4297680"/>
            <a:ext cx="3392424" cy="15727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4297680"/>
            <a:ext cx="3392424" cy="82296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6696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21201C"/>
                </a:solidFill>
                <a:latin typeface="Calibri"/>
              </a:rPr>
              <a:t>Numbers disagree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6696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6862"/>
                </a:solidFill>
                <a:latin typeface="Calibri"/>
              </a:rPr>
              <a:t>Check header parsing,units,denominator and duplicate records.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98264" y="4297680"/>
            <a:ext cx="3392424" cy="15727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98264" y="4297680"/>
            <a:ext cx="3392424" cy="82296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17720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21201C"/>
                </a:solidFill>
                <a:latin typeface="Calibri"/>
              </a:rPr>
              <a:t>Claim lacks a source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6862"/>
                </a:solidFill>
                <a:latin typeface="Calibri"/>
              </a:rPr>
              <a:t>Add row IDs and scope; downgrade or remove unsupported inference.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19288" y="4297680"/>
            <a:ext cx="3392424" cy="15727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19288" y="4297680"/>
            <a:ext cx="3392424" cy="82296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38744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21201C"/>
                </a:solidFill>
                <a:latin typeface="Calibri"/>
              </a:rPr>
              <a:t>Tool unavailable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38744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6862"/>
                </a:solidFill>
                <a:latin typeface="Calibri"/>
              </a:rPr>
              <a:t>Use the documented CSV fallback and state the unexecuted product boundary.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175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D97757"/>
                </a:solidFill>
                <a:latin typeface="Cambria"/>
              </a:rPr>
              <a:t>LEARNING OUTCOME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21201C"/>
                </a:solidFill>
                <a:latin typeface="Cambria"/>
              </a:rPr>
              <a:t>Trends and Variables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6052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6B6862"/>
                </a:solidFill>
                <a:latin typeface="Calibri"/>
              </a:rPr>
              <a:t>Cowork evidence synthesis · Claude Code reproducible analysis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8E5DE"/>
                </a:solidFill>
                <a:latin typeface="Cambria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176</a:t>
            </a:r>
          </a:p>
        </p:txBody>
      </p:sp>
    </p:spTree>
  </p:cSld>
  <p:clrMapOvr>
    <a:masterClrMapping/>
  </p:clrMapOvr>
  <p:transition spd="med" advClick="1">
    <p:push dir="l"/>
  </p:transition>
</p:sld>
</file>

<file path=ppt/slides/slide1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LO2 · ACTIVITY 13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Claude Code Skills and MCP Audit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19072"/>
            <a:ext cx="1554480" cy="420624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5544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mbria"/>
              </a:rPr>
              <a:t>ACTIVITY 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87168" y="1719072"/>
            <a:ext cx="88696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B6862"/>
                </a:solidFill>
                <a:latin typeface="Calibri"/>
              </a:rPr>
              <a:t>ICT-SNM-3007-1.1 · LO2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86000"/>
            <a:ext cx="10634472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21201C"/>
                </a:solidFill>
                <a:latin typeface="Calibri"/>
              </a:rPr>
              <a:t>A reproducible research workspace stores evidence, code and review rules. A local read-only MCP connector or CSV fallback supplies synthetic channel metrics; a custom Skill defines research checks without granting tools or overriding permissions.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474720"/>
            <a:ext cx="3392424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3474720"/>
            <a:ext cx="3392424" cy="9144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6696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YOU'LL BUILD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6696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SKILL.md,analysis.py and tool-audit.md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98264" y="3474720"/>
            <a:ext cx="3392424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98264" y="3474720"/>
            <a:ext cx="3392424" cy="9144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17720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TOOLCHAIN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Claude Cowork · Claude Code · CSV / Markdown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19288" y="3474720"/>
            <a:ext cx="3392424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19288" y="3474720"/>
            <a:ext cx="3392424" cy="91440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8744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C2603F"/>
                </a:solidFill>
                <a:latin typeface="Calibri"/>
              </a:rPr>
              <a:t>DONE WHEN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38744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Four source IDs retained; rates 5%,4%,8%,1%,overall 4%; local MCP initialize/list/call test passes; Skill front matter valid; Claude invocation separately evidenced;no live account claimed.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177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LO2 · ACTIVITY 13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21201C"/>
                </a:solidFill>
                <a:latin typeface="Calibri"/>
              </a:rPr>
              <a:t>Claude Code Skills and MCP Audit · Data and Trust Boundaries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48840"/>
            <a:ext cx="2370582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79067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7906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Raw inputs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tool-results.csv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202686" y="3223260"/>
            <a:ext cx="274320" cy="0"/>
          </a:xfrm>
          <a:prstGeom prst="line">
            <a:avLst/>
          </a:prstGeom>
          <a:ln w="25400">
            <a:solidFill>
              <a:srgbClr val="D977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353187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31870" y="2148840"/>
            <a:ext cx="2370582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433697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369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988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Evidence checks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2331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IDs,date,units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957316" y="3223260"/>
            <a:ext cx="274320" cy="0"/>
          </a:xfrm>
          <a:prstGeom prst="line">
            <a:avLst/>
          </a:prstGeom>
          <a:ln w="25400">
            <a:solidFill>
              <a:srgbClr val="D977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628650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86500" y="2148840"/>
            <a:ext cx="2370582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188327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8832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451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Deterministic analysis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794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Schema and formulas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711946" y="3223260"/>
            <a:ext cx="274320" cy="0"/>
          </a:xfrm>
          <a:prstGeom prst="line">
            <a:avLst/>
          </a:prstGeom>
          <a:ln w="25400">
            <a:solidFill>
              <a:srgbClr val="D977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904113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041130" y="2148840"/>
            <a:ext cx="2370582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942957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94295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914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Human decision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3257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Review before action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77240" y="4608576"/>
            <a:ext cx="10634472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77240" y="4608576"/>
            <a:ext cx="100584" cy="105156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51560" y="4718304"/>
            <a:ext cx="10149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CONTRACT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1560" y="5029200"/>
            <a:ext cx="1014984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21201C"/>
                </a:solidFill>
                <a:latin typeface="Calibri"/>
              </a:rPr>
              <a:t>User question -&gt; reviewed Skill -&gt; approved read-only MCP tool -&gt; schema validation -&gt; deterministic calculation -&gt; source-linked report -&gt; reviewer. CSV fallback tests the same data contract.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178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transition spd="fast" advClick="1">
    <p:fade/>
  </p:transition>
</p:sld>
</file>

<file path=ppt/slides/slide1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LO2 · ACTIVITY 13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Claude Code Skills and MCP Audit · Input Schema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Field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Contract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Quality control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channel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str; example: Paid search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Preserve channel;check units/identity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sessions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int; example: 600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Preserve sessions;check units/identity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leads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int; example: 30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Preserve leads;check units/identity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398264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4398264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source_id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str; example: M01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Preserve source_id;check units/identity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5312664"/>
            <a:ext cx="10634472" cy="8412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" y="5312664"/>
            <a:ext cx="100584" cy="8412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1560" y="5422392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WHEN IT MATTERS  </a:t>
            </a:r>
            <a:r>
              <a:rPr sz="1200" b="0">
                <a:solidFill>
                  <a:srgbClr val="21201C"/>
                </a:solidFill>
                <a:latin typeface="Calibri"/>
              </a:rPr>
              <a:t>Source rows remain immutable. New computed fields belong in outputs; ambiguous data is qualified rather than invented.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179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LO2 · ACTIVITY 13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Claude Code Skills and MCP Audit · Evidence Exhibit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channel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2623170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2367138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sessions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65372" y="1783080"/>
            <a:ext cx="2623170" cy="47548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93388" y="1783080"/>
            <a:ext cx="2367138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leads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788542" y="1783080"/>
            <a:ext cx="2623170" cy="475488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16558" y="1783080"/>
            <a:ext cx="2367138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source_id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Paid search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542202" y="2258568"/>
            <a:ext cx="262317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70218" y="2258568"/>
            <a:ext cx="2367138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600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65372" y="2258568"/>
            <a:ext cx="262317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93388" y="2258568"/>
            <a:ext cx="2367138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30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788542" y="2258568"/>
            <a:ext cx="262317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16558" y="2258568"/>
            <a:ext cx="2367138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M01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Organic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542202" y="2971800"/>
            <a:ext cx="262317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70218" y="2971800"/>
            <a:ext cx="2367138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900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65372" y="2971800"/>
            <a:ext cx="262317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93388" y="2971800"/>
            <a:ext cx="2367138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36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788542" y="2971800"/>
            <a:ext cx="262317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916558" y="2971800"/>
            <a:ext cx="2367138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M02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Email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3685032"/>
            <a:ext cx="262317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3685032"/>
            <a:ext cx="2367138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300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165372" y="3685032"/>
            <a:ext cx="262317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293388" y="3685032"/>
            <a:ext cx="2367138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24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788542" y="3685032"/>
            <a:ext cx="262317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916558" y="3685032"/>
            <a:ext cx="2367138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M03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7240" y="4398264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05256" y="4398264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Direct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542202" y="4398264"/>
            <a:ext cx="262317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670218" y="4398264"/>
            <a:ext cx="2367138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600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165372" y="4398264"/>
            <a:ext cx="262317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293388" y="4398264"/>
            <a:ext cx="2367138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6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788542" y="4398264"/>
            <a:ext cx="262317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916558" y="4398264"/>
            <a:ext cx="2367138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M04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77240" y="5312664"/>
            <a:ext cx="10634472" cy="8412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77240" y="5312664"/>
            <a:ext cx="100584" cy="8412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51560" y="5422392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WHEN IT MATTERS  </a:t>
            </a:r>
            <a:r>
              <a:rPr sz="1200" b="0">
                <a:solidFill>
                  <a:srgbClr val="21201C"/>
                </a:solidFill>
                <a:latin typeface="Calibri"/>
              </a:rPr>
              <a:t>This exhibit is an authored synthetic dataset. Read exact units and identifiers before interpreting values.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180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LO2 · ACTIVITY 13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21201C"/>
                </a:solidFill>
                <a:latin typeface="Calibri"/>
              </a:rPr>
              <a:t>Claude Code Skills and MCP Audit · Worked Calculation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3447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B6862"/>
                </a:solidFill>
                <a:latin typeface="Calibri"/>
              </a:rPr>
              <a:t>Interpret the denominator,units and decision boundary.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86000"/>
            <a:ext cx="5943600" cy="3794760"/>
          </a:xfrm>
          <a:prstGeom prst="rect">
            <a:avLst/>
          </a:prstGeom>
          <a:solidFill>
            <a:srgbClr val="212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2395728"/>
            <a:ext cx="5541264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300">
                <a:solidFill>
                  <a:srgbClr val="F0B89E"/>
                </a:solidFill>
                <a:latin typeface="Consolas"/>
              </a:rPr>
              <a:t>Lead rates: paid 5%,organic 4%,email 8%,direct 1%; total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B9B4A9"/>
                </a:solidFill>
                <a:latin typeface="Consolas"/>
              </a:rPr>
              <a:t>96/2400=4%. A Skill’s instructions do not create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F0B89E"/>
                </a:solidFill>
                <a:latin typeface="Consolas"/>
              </a:rPr>
              <a:t>connector access.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95160" y="228600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95160" y="2286000"/>
            <a:ext cx="82296" cy="9144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32904" y="237744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Inputs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32904" y="267004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tool-results.csv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95160" y="324612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995160" y="3246120"/>
            <a:ext cx="82296" cy="91440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32904" y="333756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3A7D7B"/>
                </a:solidFill>
                <a:latin typeface="Calibri"/>
              </a:rPr>
              <a:t>Calculation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32904" y="363016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Recompute exact values independently.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95160" y="420624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95160" y="4206240"/>
            <a:ext cx="82296" cy="914400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32904" y="429768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2603F"/>
                </a:solidFill>
                <a:latin typeface="Calibri"/>
              </a:rPr>
              <a:t>Interpretation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32904" y="459028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Synthetic read-only metrics. Email has a higher observed lead rate; audience…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95160" y="516636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995160" y="5166360"/>
            <a:ext cx="82296" cy="914400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32904" y="525780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88A2E"/>
                </a:solidFill>
                <a:latin typeface="Calibri"/>
              </a:rPr>
              <a:t>Boundary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32904" y="555040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Synthetic descriptive evidence;live/causal result not established.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181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LO2 · ACTIVITY 13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Claude Code Skills and MCP Audit · Editable Chart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777240" y="1783080"/>
          <a:ext cx="10634472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ectangle 7"/>
          <p:cNvSpPr/>
          <p:nvPr/>
        </p:nvSpPr>
        <p:spPr>
          <a:xfrm>
            <a:off x="777240" y="5230368"/>
            <a:ext cx="10634472" cy="1005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5230368"/>
            <a:ext cx="100584" cy="100584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5340096"/>
            <a:ext cx="10149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WHAT THE DATA SHOWS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5632704"/>
            <a:ext cx="10149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Synthetic read-only metrics. Email has a higher observed lead rate; audience selection prevents a causal superiority claim.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182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1636776"/>
            <a:ext cx="9144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6B6862"/>
                </a:solidFill>
                <a:latin typeface="Calibri"/>
              </a:rPr>
              <a:t>Leads per session (%)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LO2 · ACTIVITY 13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21201C"/>
                </a:solidFill>
                <a:latin typeface="Calibri"/>
              </a:rPr>
              <a:t>Claude Code Skills and MCP Audit · Reproducible Contract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3447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B6862"/>
                </a:solidFill>
                <a:latin typeface="Calibri"/>
              </a:rPr>
              <a:t>Readable excerpt; complete procedure and runnable practice remain in the guide.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86000"/>
            <a:ext cx="5943600" cy="3794760"/>
          </a:xfrm>
          <a:prstGeom prst="rect">
            <a:avLst/>
          </a:prstGeom>
          <a:solidFill>
            <a:srgbClr val="212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2395728"/>
            <a:ext cx="5541264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300">
                <a:solidFill>
                  <a:srgbClr val="F0B89E"/>
                </a:solidFill>
                <a:latin typeface="Consolas"/>
              </a:rPr>
              <a:t>---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F0B89E"/>
                </a:solidFill>
                <a:latin typeface="Consolas"/>
              </a:rPr>
              <a:t>name: market-evidence-audit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F0B89E"/>
                </a:solidFill>
                <a:latin typeface="Consolas"/>
              </a:rPr>
              <a:t>description: Audit evidence-linked marketing research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F0B89E"/>
                </a:solidFill>
                <a:latin typeface="Consolas"/>
              </a:rPr>
              <a:t>---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F0B89E"/>
                </a:solidFill>
                <a:latin typeface="Consolas"/>
              </a:rPr>
              <a:t>Preserve source_id and raw inputs.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F0B89E"/>
                </a:solidFill>
                <a:latin typeface="Consolas"/>
              </a:rPr>
              <a:t>State denominator, window and limitations.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F0B89E"/>
                </a:solidFill>
                <a:latin typeface="Consolas"/>
              </a:rPr>
              <a:t>Reject unsupported claims; write outputs only.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95160" y="228600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95160" y="2286000"/>
            <a:ext cx="82296" cy="9144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32904" y="237744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Data contract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32904" y="267004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tool-results.csv; exact field names matter.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95160" y="324612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995160" y="3246120"/>
            <a:ext cx="82296" cy="91440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32904" y="333756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3A7D7B"/>
                </a:solidFill>
                <a:latin typeface="Calibri"/>
              </a:rPr>
              <a:t>Identity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32904" y="363016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Preserve row IDs or segment labels.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95160" y="420624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95160" y="4206240"/>
            <a:ext cx="82296" cy="914400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32904" y="429768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2603F"/>
                </a:solidFill>
                <a:latin typeface="Calibri"/>
              </a:rPr>
              <a:t>Calculation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32904" y="459028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Deterministic code checks the agent narrative.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95160" y="516636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995160" y="5166360"/>
            <a:ext cx="82296" cy="914400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32904" y="525780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88A2E"/>
                </a:solidFill>
                <a:latin typeface="Calibri"/>
              </a:rPr>
              <a:t>Verification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32904" y="555040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Four source IDs retained; rates 5%,4%,8%,1%,overall 4%; local MCP…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183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C2603F"/>
                </a:solidFill>
                <a:latin typeface="Cambria"/>
              </a:rPr>
              <a:t>LO2 · ACTIVITY 13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Claude Code Skills and MCP Audit · Decision Rule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Diamond 6"/>
          <p:cNvSpPr/>
          <p:nvPr/>
        </p:nvSpPr>
        <p:spPr>
          <a:xfrm>
            <a:off x="777240" y="2514600"/>
            <a:ext cx="4206240" cy="2468880"/>
          </a:xfrm>
          <a:prstGeom prst="diamond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Is the tool approved, read-only and schema-valid?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577840" y="1965960"/>
            <a:ext cx="5806440" cy="1371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577840" y="1965960"/>
            <a:ext cx="100584" cy="137160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52160" y="2112264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3A7D7B"/>
                </a:solidFill>
                <a:latin typeface="Cambria"/>
              </a:rPr>
              <a:t>YES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2514600"/>
            <a:ext cx="5303520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Calculate; retain tool provenance</a:t>
            </a:r>
          </a:p>
        </p:txBody>
      </p:sp>
      <p:cxnSp>
        <p:nvCxnSpPr>
          <p:cNvPr id="12" name="Connector 11"/>
          <p:cNvCxnSpPr/>
          <p:nvPr/>
        </p:nvCxnSpPr>
        <p:spPr>
          <a:xfrm flipV="1">
            <a:off x="4983480" y="2651760"/>
            <a:ext cx="594360" cy="1097280"/>
          </a:xfrm>
          <a:prstGeom prst="line">
            <a:avLst/>
          </a:prstGeom>
          <a:ln w="25400">
            <a:solidFill>
              <a:srgbClr val="3A7D7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577840" y="3977639"/>
            <a:ext cx="5806440" cy="1371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577840" y="3977639"/>
            <a:ext cx="100584" cy="1371600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52160" y="4123943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C88A2E"/>
                </a:solidFill>
                <a:latin typeface="Cambria"/>
              </a:rPr>
              <a:t>NO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4526279"/>
            <a:ext cx="5303520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Use CSV fallback; record boundary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983480" y="3749040"/>
            <a:ext cx="594360" cy="914399"/>
          </a:xfrm>
          <a:prstGeom prst="line">
            <a:avLst/>
          </a:prstGeom>
          <a:ln w="25400">
            <a:solidFill>
              <a:srgbClr val="C88A2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777240" y="5623560"/>
            <a:ext cx="10634472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5742432"/>
            <a:ext cx="10149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B6862"/>
                </a:solidFill>
                <a:latin typeface="Calibri"/>
              </a:rPr>
              <a:t>This is an authored research decision rule. It does not grant product permissions or replace human review.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184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LO2 · ACTIVITY 13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21201C"/>
                </a:solidFill>
                <a:latin typeface="Calibri"/>
              </a:rPr>
              <a:t>Claude Code Skills and MCP Audit · Claim-Evidence Ledger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Claim layer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Evidence required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Permitted wording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Observation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channel: Paid search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Lead rates: paid 5%,organic 4%,email 8%,direct 1%; total 96/2400=4%. A Skill’s instructions do not create…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Inference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Synthetic read-only metrics. Email has a higher observed lead rate; audience selection prevents a…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Is the tool approved, read-only and schema-valid?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Recommendation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Calculate; retain tool provenance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tool-audit.md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398264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4398264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Unknown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The agent treats the Skill as permission to access a production account. Instruction reuse and tool…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Use CSV fallback; record boundary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5312664"/>
            <a:ext cx="10634472" cy="8412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" y="5312664"/>
            <a:ext cx="100584" cy="8412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1560" y="5422392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WHEN IT MATTERS  </a:t>
            </a:r>
            <a:r>
              <a:rPr sz="1200" b="0">
                <a:solidFill>
                  <a:srgbClr val="21201C"/>
                </a:solidFill>
                <a:latin typeface="Calibri"/>
              </a:rPr>
              <a:t>Preserve the distinction between observed data, model output and human decision throughout Cowork and Code handoffs.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185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C88A2E"/>
                </a:solidFill>
                <a:latin typeface="Cambria"/>
              </a:rPr>
              <a:t>LO2 · ACTIVITY 13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Claude Code Skills and MCP Audit · Failure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3447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B6862"/>
                </a:solidFill>
                <a:latin typeface="Calibri"/>
              </a:rPr>
              <a:t>A plausible report can be wrong even when its numbers look polished.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86000"/>
            <a:ext cx="5943600" cy="3794760"/>
          </a:xfrm>
          <a:prstGeom prst="rect">
            <a:avLst/>
          </a:prstGeom>
          <a:solidFill>
            <a:srgbClr val="212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2395728"/>
            <a:ext cx="5541264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300">
                <a:solidFill>
                  <a:srgbClr val="F0B89E"/>
                </a:solidFill>
                <a:latin typeface="Consolas"/>
              </a:rPr>
              <a:t>The agent treats the Skill as permission to access a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F0B89E"/>
                </a:solidFill>
                <a:latin typeface="Consolas"/>
              </a:rPr>
              <a:t>production account. Instruction reuse and tool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F0B89E"/>
                </a:solidFill>
                <a:latin typeface="Consolas"/>
              </a:rPr>
              <a:t>authorisation are separate controls.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95160" y="228600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95160" y="2286000"/>
            <a:ext cx="82296" cy="9144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32904" y="237744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Trigger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32904" y="267004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The agent promotes a claim beyond its evidence.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95160" y="324612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995160" y="3246120"/>
            <a:ext cx="82296" cy="91440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32904" y="333756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3A7D7B"/>
                </a:solidFill>
                <a:latin typeface="Calibri"/>
              </a:rPr>
              <a:t>Diagnostic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32904" y="363016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Inspect the underlying rows,scope and denominator.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95160" y="420624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95160" y="4206240"/>
            <a:ext cx="82296" cy="914400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32904" y="429768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2603F"/>
                </a:solidFill>
                <a:latin typeface="Calibri"/>
              </a:rPr>
              <a:t>Recovery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32904" y="459028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Revise the claim and retain the rejected reasoning.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95160" y="516636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995160" y="5166360"/>
            <a:ext cx="82296" cy="914400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32904" y="525780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88A2E"/>
                </a:solidFill>
                <a:latin typeface="Calibri"/>
              </a:rPr>
              <a:t>Recheck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32904" y="555040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Four source IDs retained; rates 5%,4%,8%,1%,overall 4%; local MCP…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186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LO2 · ACTIVITY 13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21201C"/>
                </a:solidFill>
                <a:latin typeface="Calibri"/>
              </a:rPr>
              <a:t>Claude Code Skills and MCP Audit · Control and Recovery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Control point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Risk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Required evidence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channel identity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Paid search omitted or changed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Reconcile raw identifiers in tool-results.csv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Metric contract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Lead rates: paid 5%,organic 4%,email 8%,direct 1%; total 96/2400=4%. A Skill’s instructions do not create…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Independent calculation and named denominator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Inference check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The agent treats the Skill as permission to access a production account. Instruction reuse and tool…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Use CSV fallback; record boundary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398264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4398264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Decision output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SKILL.md,analysis.py and tool-audit.md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Inspect tool scope and data destinations; use read-only synthetic connector, no secrets in repository…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5312664"/>
            <a:ext cx="10634472" cy="8412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" y="5312664"/>
            <a:ext cx="100584" cy="8412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1560" y="5422392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WHEN IT MATTERS  </a:t>
            </a:r>
            <a:r>
              <a:rPr sz="1200" b="0">
                <a:solidFill>
                  <a:srgbClr val="21201C"/>
                </a:solidFill>
                <a:latin typeface="Calibri"/>
              </a:rPr>
              <a:t>Inspect tool scope and data destinations; use read-only synthetic connector, no secrets in repository. Require approval for new network endpoints and use local fallback if account access is unavailable.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187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LO2 · ACTIVITY 13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Claude Code Skills and MCP Audit · Output Handoff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48840"/>
            <a:ext cx="2370582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79067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7906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tool-results.csv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Raw 4 records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202686" y="3223260"/>
            <a:ext cx="274320" cy="0"/>
          </a:xfrm>
          <a:prstGeom prst="line">
            <a:avLst/>
          </a:prstGeom>
          <a:ln w="25400">
            <a:solidFill>
              <a:srgbClr val="D977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353187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31870" y="2148840"/>
            <a:ext cx="2370582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433697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369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988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channel audit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2331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Preserve identifiers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957316" y="3223260"/>
            <a:ext cx="274320" cy="0"/>
          </a:xfrm>
          <a:prstGeom prst="line">
            <a:avLst/>
          </a:prstGeom>
          <a:ln w="25400">
            <a:solidFill>
              <a:srgbClr val="D977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628650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86500" y="2148840"/>
            <a:ext cx="2370582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188327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8832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451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SKILL.md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794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Computed evidence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711946" y="3223260"/>
            <a:ext cx="274320" cy="0"/>
          </a:xfrm>
          <a:prstGeom prst="line">
            <a:avLst/>
          </a:prstGeom>
          <a:ln w="25400">
            <a:solidFill>
              <a:srgbClr val="D977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904113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041130" y="2148840"/>
            <a:ext cx="2370582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942957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94295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914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Human decision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3257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Reviewer decision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77240" y="4608576"/>
            <a:ext cx="10634472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77240" y="4608576"/>
            <a:ext cx="100584" cy="105156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51560" y="4718304"/>
            <a:ext cx="10149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OUTPUT CONTRACT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1560" y="5029200"/>
            <a:ext cx="1014984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21201C"/>
                </a:solidFill>
                <a:latin typeface="Calibri"/>
              </a:rPr>
              <a:t>Lead rates: paid 5%,organic 4%,email 8%,direct 1%; total 96/2400=4%. A Skill’s instructions do not create connector access. Output: SKILL.md,analysis.py and tool-audit.md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188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transition spd="fast" advClick="1">
    <p:fade/>
  </p:transition>
</p:sld>
</file>

<file path=ppt/slides/slide1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LO2 · ACTIVITY 13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21201C"/>
                </a:solidFill>
                <a:latin typeface="Calibri"/>
              </a:rPr>
              <a:t>Claude Code Skills and MCP Audit · Acceptance Evidence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10634472" cy="1965960"/>
          </a:xfrm>
          <a:prstGeom prst="rect">
            <a:avLst/>
          </a:prstGeom>
          <a:solidFill>
            <a:srgbClr val="EA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100584" cy="1965960"/>
          </a:xfrm>
          <a:prstGeom prst="rect">
            <a:avLst/>
          </a:prstGeom>
          <a:solidFill>
            <a:srgbClr val="4A8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38528"/>
            <a:ext cx="1005840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4A8F5F"/>
                </a:solidFill>
                <a:latin typeface="Cambria"/>
              </a:rPr>
              <a:t>✅  Expected result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395728"/>
            <a:ext cx="10058400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21201C"/>
                </a:solidFill>
                <a:latin typeface="Calibri"/>
              </a:rPr>
              <a:t>Four source IDs retained; rates 5%,4%,8%,1%,overall 4%; local MCP initialize/list/call test passes; Skill front matter valid; Claude invocation separately evidenced;no live account claimed.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950208"/>
            <a:ext cx="1063447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C88A2E"/>
                </a:solidFill>
                <a:latin typeface="Calibri"/>
              </a:rPr>
              <a:t>IF IT DOESN'T WORK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4297680"/>
            <a:ext cx="3392424" cy="15727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4297680"/>
            <a:ext cx="3392424" cy="82296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6696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21201C"/>
                </a:solidFill>
                <a:latin typeface="Calibri"/>
              </a:rPr>
              <a:t>Numbers disagree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6696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6862"/>
                </a:solidFill>
                <a:latin typeface="Calibri"/>
              </a:rPr>
              <a:t>Check header parsing,units,denominator and duplicate records.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98264" y="4297680"/>
            <a:ext cx="3392424" cy="15727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98264" y="4297680"/>
            <a:ext cx="3392424" cy="82296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17720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21201C"/>
                </a:solidFill>
                <a:latin typeface="Calibri"/>
              </a:rPr>
              <a:t>Claim lacks a source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6862"/>
                </a:solidFill>
                <a:latin typeface="Calibri"/>
              </a:rPr>
              <a:t>Add row IDs and scope; downgrade or remove unsupported inference.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19288" y="4297680"/>
            <a:ext cx="3392424" cy="15727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19288" y="4297680"/>
            <a:ext cx="3392424" cy="82296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38744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21201C"/>
                </a:solidFill>
                <a:latin typeface="Calibri"/>
              </a:rPr>
              <a:t>Tool unavailable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38744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6862"/>
                </a:solidFill>
                <a:latin typeface="Calibri"/>
              </a:rPr>
              <a:t>Use the documented CSV fallback and state the unexecuted product boundary.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189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D97757"/>
                </a:solidFill>
                <a:latin typeface="Cambria"/>
              </a:rPr>
              <a:t>LEARNING OUTCOME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21201C"/>
                </a:solidFill>
                <a:latin typeface="Cambria"/>
              </a:rPr>
              <a:t>Marketing Effectiveness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6052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6B6862"/>
                </a:solidFill>
                <a:latin typeface="Calibri"/>
              </a:rPr>
              <a:t>Cowork evidence synthesis · Claude Code reproducible analysis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8E5DE"/>
                </a:solidFill>
                <a:latin typeface="Cambria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190</a:t>
            </a:r>
          </a:p>
        </p:txBody>
      </p:sp>
    </p:spTree>
  </p:cSld>
  <p:clrMapOvr>
    <a:masterClrMapping/>
  </p:clrMapOvr>
  <p:transition spd="med" advClick="1">
    <p:push dir="l"/>
  </p:transition>
</p:sld>
</file>

<file path=ppt/slides/slide1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LO4 · ACTIVITY 14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Effectiveness Decision Capstone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19072"/>
            <a:ext cx="1554480" cy="420624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5544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mbria"/>
              </a:rPr>
              <a:t>ACTIVITY 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87168" y="1719072"/>
            <a:ext cx="88696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B6862"/>
                </a:solidFill>
                <a:latin typeface="Calibri"/>
              </a:rPr>
              <a:t>ICT-SNM-3007-1.1 · LO4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86000"/>
            <a:ext cx="10634472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21201C"/>
                </a:solidFill>
                <a:latin typeface="Calibri"/>
              </a:rPr>
              <a:t>A synthetic cross-channel campaign has spend, leads and revenue. Teams combine Cowork evidence synthesis and Claude Code calculations into a budget recommendation with attribution sensitivity, margin boundaries and a human approval record.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474720"/>
            <a:ext cx="3392424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3474720"/>
            <a:ext cx="3392424" cy="9144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6696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YOU'LL BUILD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6696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effectiveness-report.md,budget-test.csv and approval-record.md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98264" y="3474720"/>
            <a:ext cx="3392424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98264" y="3474720"/>
            <a:ext cx="3392424" cy="9144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17720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TOOLCHAIN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Claude Cowork · Claude Code · CSV / Markdown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19288" y="3474720"/>
            <a:ext cx="3392424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19288" y="3474720"/>
            <a:ext cx="3392424" cy="91440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8744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C2603F"/>
                </a:solidFill>
                <a:latin typeface="Calibri"/>
              </a:rPr>
              <a:t>DONE WHEN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38744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96 leads; spend $2100; revenue $6000; contribution $900; paid CPL40 and contribution0; human approval pending.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191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LO4 · ACTIVITY 14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21201C"/>
                </a:solidFill>
                <a:latin typeface="Calibri"/>
              </a:rPr>
              <a:t>Effectiveness Decision Capstone · Data and Trust Boundaries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48840"/>
            <a:ext cx="2370582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79067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7906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Raw inputs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campaigns.csv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202686" y="3223260"/>
            <a:ext cx="274320" cy="0"/>
          </a:xfrm>
          <a:prstGeom prst="line">
            <a:avLst/>
          </a:prstGeom>
          <a:ln w="25400">
            <a:solidFill>
              <a:srgbClr val="D977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353187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31870" y="2148840"/>
            <a:ext cx="2370582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433697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369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988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Evidence checks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2331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IDs,date,units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957316" y="3223260"/>
            <a:ext cx="274320" cy="0"/>
          </a:xfrm>
          <a:prstGeom prst="line">
            <a:avLst/>
          </a:prstGeom>
          <a:ln w="25400">
            <a:solidFill>
              <a:srgbClr val="D977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628650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86500" y="2148840"/>
            <a:ext cx="2370582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188327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8832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451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Deterministic analysis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794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Schema and formulas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711946" y="3223260"/>
            <a:ext cx="274320" cy="0"/>
          </a:xfrm>
          <a:prstGeom prst="line">
            <a:avLst/>
          </a:prstGeom>
          <a:ln w="25400">
            <a:solidFill>
              <a:srgbClr val="D977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904113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041130" y="2148840"/>
            <a:ext cx="2370582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942957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94295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914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Human decision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3257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Review before action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77240" y="4608576"/>
            <a:ext cx="10634472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77240" y="4608576"/>
            <a:ext cx="100584" cy="105156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51560" y="4718304"/>
            <a:ext cx="10149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CONTRACT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1560" y="5029200"/>
            <a:ext cx="1014984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21201C"/>
                </a:solidFill>
                <a:latin typeface="Calibri"/>
              </a:rPr>
              <a:t>Reconcile inputs -&gt; compute denominator-aware metrics -&gt; apply margin -&gt; inspect attribution -&gt; challenge confounders -&gt; recommend bounded test -&gt; human approve -&gt; monitor.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192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transition spd="fast" advClick="1">
    <p:fade/>
  </p:transition>
</p:sld>
</file>

<file path=ppt/slides/slide1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LO4 · ACTIVITY 14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Effectiveness Decision Capstone · Input Schema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Field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Contract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Quality control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channel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str; example: Paid search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Preserve channel;check units/identity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838297"/>
            <a:ext cx="2764962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838297"/>
            <a:ext cx="2508930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spend_sgd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838297"/>
            <a:ext cx="3934755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838297"/>
            <a:ext cx="3678723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int; example: 1200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838297"/>
            <a:ext cx="3934755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838297"/>
            <a:ext cx="3678723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Preserve spend_sgd;check units/identity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418026"/>
            <a:ext cx="2764962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418026"/>
            <a:ext cx="2508930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leads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418026"/>
            <a:ext cx="3934755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418026"/>
            <a:ext cx="3678723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int; example: 30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418026"/>
            <a:ext cx="3934755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418026"/>
            <a:ext cx="3678723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Preserve leads;check units/identity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3997755"/>
            <a:ext cx="2764962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3997755"/>
            <a:ext cx="2508930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revenue_sgd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3997755"/>
            <a:ext cx="3934755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3997755"/>
            <a:ext cx="3678723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int; example: 2400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3997755"/>
            <a:ext cx="3934755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3997755"/>
            <a:ext cx="3678723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Preserve revenue_sgd;check units/identity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4577484"/>
            <a:ext cx="2764962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05256" y="4577484"/>
            <a:ext cx="2508930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gross_margin_rate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542202" y="4577484"/>
            <a:ext cx="3934755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70218" y="4577484"/>
            <a:ext cx="3678723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float; example: 0.5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476957" y="4577484"/>
            <a:ext cx="3934755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604973" y="4577484"/>
            <a:ext cx="3678723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Preserve gross_margin_rate;check units/identity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77240" y="5358381"/>
            <a:ext cx="10634472" cy="8412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77240" y="5358381"/>
            <a:ext cx="100584" cy="8412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51560" y="5468109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WHEN IT MATTERS  </a:t>
            </a:r>
            <a:r>
              <a:rPr sz="1200" b="0">
                <a:solidFill>
                  <a:srgbClr val="21201C"/>
                </a:solidFill>
                <a:latin typeface="Calibri"/>
              </a:rPr>
              <a:t>Source rows remain immutable. New computed fields belong in outputs; ambiguous data is qualified rather than invented.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193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LO4 · ACTIVITY 14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Effectiveness Decision Capstone · Evidence Exhibit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channel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1967377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1711345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spend_sgd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509579" y="1783080"/>
            <a:ext cx="1967377" cy="47548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37595" y="1783080"/>
            <a:ext cx="1711345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leads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76956" y="1783080"/>
            <a:ext cx="1967377" cy="475488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04972" y="1783080"/>
            <a:ext cx="1711345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revenue_sgd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444333" y="1783080"/>
            <a:ext cx="1967377" cy="475488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572349" y="1783080"/>
            <a:ext cx="1711345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gross_margin_rate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Paid search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542202" y="2258568"/>
            <a:ext cx="1967377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70218" y="2258568"/>
            <a:ext cx="1711345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1200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509579" y="2258568"/>
            <a:ext cx="1967377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37595" y="2258568"/>
            <a:ext cx="1711345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30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6" y="2258568"/>
            <a:ext cx="1967377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2" y="2258568"/>
            <a:ext cx="1711345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2400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444333" y="2258568"/>
            <a:ext cx="1967377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572349" y="2258568"/>
            <a:ext cx="1711345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0.5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Organic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542202" y="2971800"/>
            <a:ext cx="1967377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70218" y="2971800"/>
            <a:ext cx="1711345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600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509579" y="2971800"/>
            <a:ext cx="1967377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637595" y="2971800"/>
            <a:ext cx="1711345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36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476956" y="2971800"/>
            <a:ext cx="1967377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604972" y="2971800"/>
            <a:ext cx="1711345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1800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444333" y="2971800"/>
            <a:ext cx="1967377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572349" y="2971800"/>
            <a:ext cx="1711345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0.5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Email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542202" y="3685032"/>
            <a:ext cx="1967377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70218" y="3685032"/>
            <a:ext cx="1711345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300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509579" y="3685032"/>
            <a:ext cx="1967377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637595" y="3685032"/>
            <a:ext cx="1711345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24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476956" y="3685032"/>
            <a:ext cx="1967377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604972" y="3685032"/>
            <a:ext cx="1711345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1200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444333" y="3685032"/>
            <a:ext cx="1967377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572349" y="3685032"/>
            <a:ext cx="1711345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0.5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77240" y="4398264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05256" y="4398264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Direct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542202" y="4398264"/>
            <a:ext cx="1967377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670218" y="4398264"/>
            <a:ext cx="1711345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0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509579" y="4398264"/>
            <a:ext cx="1967377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637595" y="4398264"/>
            <a:ext cx="1711345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6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476956" y="4398264"/>
            <a:ext cx="1967377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604972" y="4398264"/>
            <a:ext cx="1711345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600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444333" y="4398264"/>
            <a:ext cx="1967377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572349" y="4398264"/>
            <a:ext cx="1711345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0.5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77240" y="5312664"/>
            <a:ext cx="10634472" cy="8412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777240" y="5312664"/>
            <a:ext cx="100584" cy="8412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051560" y="5422392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WHEN IT MATTERS  </a:t>
            </a:r>
            <a:r>
              <a:rPr sz="1200" b="0">
                <a:solidFill>
                  <a:srgbClr val="21201C"/>
                </a:solidFill>
                <a:latin typeface="Calibri"/>
              </a:rPr>
              <a:t>This exhibit is an authored synthetic dataset. Read exact units and identifiers before interpreting values.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194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LO4 · ACTIVITY 14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Effectiveness Decision Capstone · Worked Calculation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3447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B6862"/>
                </a:solidFill>
                <a:latin typeface="Calibri"/>
              </a:rPr>
              <a:t>Interpret the denominator,units and decision boundary.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86000"/>
            <a:ext cx="5943600" cy="3794760"/>
          </a:xfrm>
          <a:prstGeom prst="rect">
            <a:avLst/>
          </a:prstGeom>
          <a:solidFill>
            <a:srgbClr val="212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2395728"/>
            <a:ext cx="5541264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300">
                <a:solidFill>
                  <a:srgbClr val="B9B4A9"/>
                </a:solidFill>
                <a:latin typeface="Consolas"/>
              </a:rPr>
              <a:t>Paid CPL=$1200/30=$40; revenue ROAS=2; contribution after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B9B4A9"/>
                </a:solidFill>
                <a:latin typeface="Consolas"/>
              </a:rPr>
              <a:t>spend=$2400×0.5-$1200=$0. ROAS is not profit or causal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F0B89E"/>
                </a:solidFill>
                <a:latin typeface="Consolas"/>
              </a:rPr>
              <a:t>ROI.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95160" y="228600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95160" y="2286000"/>
            <a:ext cx="82296" cy="9144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32904" y="237744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Inputs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32904" y="267004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campaigns.csv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95160" y="324612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995160" y="3246120"/>
            <a:ext cx="82296" cy="91440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32904" y="333756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3A7D7B"/>
                </a:solidFill>
                <a:latin typeface="Calibri"/>
              </a:rPr>
              <a:t>Calculation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32904" y="363016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Recompute exact values independently.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95160" y="420624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95160" y="4206240"/>
            <a:ext cx="82296" cy="914400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32904" y="429768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2603F"/>
                </a:solidFill>
                <a:latin typeface="Calibri"/>
              </a:rPr>
              <a:t>Interpretation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32904" y="459028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Synthetic gross-margin contribution after listed spend. Direct’s zero allocated…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95160" y="516636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995160" y="5166360"/>
            <a:ext cx="82296" cy="914400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32904" y="525780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88A2E"/>
                </a:solidFill>
                <a:latin typeface="Calibri"/>
              </a:rPr>
              <a:t>Boundary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32904" y="555040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Synthetic descriptive evidence;live/causal result not established.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195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LO4 · ACTIVITY 14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Effectiveness Decision Capstone · Editable Chart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777240" y="1783080"/>
          <a:ext cx="10634472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ectangle 7"/>
          <p:cNvSpPr/>
          <p:nvPr/>
        </p:nvSpPr>
        <p:spPr>
          <a:xfrm>
            <a:off x="777240" y="5230368"/>
            <a:ext cx="10634472" cy="1005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5230368"/>
            <a:ext cx="100584" cy="100584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5340096"/>
            <a:ext cx="10149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WHAT THE DATA SHOWS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5632704"/>
            <a:ext cx="10149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Synthetic gross-margin contribution after listed spend. Direct’s zero allocated spend does not mean customer acquisition is free.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196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1636776"/>
            <a:ext cx="9144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6B6862"/>
                </a:solidFill>
                <a:latin typeface="Calibri"/>
              </a:rPr>
              <a:t>Contribution after listed spend (SGD)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LO4 · ACTIVITY 14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21201C"/>
                </a:solidFill>
                <a:latin typeface="Calibri"/>
              </a:rPr>
              <a:t>Effectiveness Decision Capstone · Reproducible Contract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3447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B6862"/>
                </a:solidFill>
                <a:latin typeface="Calibri"/>
              </a:rPr>
              <a:t>Readable excerpt; complete procedure and runnable practice remain in the guide.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86000"/>
            <a:ext cx="5943600" cy="3794760"/>
          </a:xfrm>
          <a:prstGeom prst="rect">
            <a:avLst/>
          </a:prstGeom>
          <a:solidFill>
            <a:srgbClr val="212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2395728"/>
            <a:ext cx="5541264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300">
                <a:solidFill>
                  <a:srgbClr val="F0B89E"/>
                </a:solidFill>
                <a:latin typeface="Consolas"/>
              </a:rPr>
              <a:t>for r in rows: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B9B4A9"/>
                </a:solidFill>
                <a:latin typeface="Consolas"/>
              </a:rPr>
              <a:t>    spend = float(r["spend_sgd"])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B9B4A9"/>
                </a:solidFill>
                <a:latin typeface="Consolas"/>
              </a:rPr>
              <a:t>    revenue = float(r["revenue_sgd"])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B9B4A9"/>
                </a:solidFill>
                <a:latin typeface="Consolas"/>
              </a:rPr>
              <a:t>    margin = float(r["gross_margin_rate"])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B9B4A9"/>
                </a:solidFill>
                <a:latin typeface="Consolas"/>
              </a:rPr>
              <a:t>    r["contribution"] = revenue*margin-spend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B9B4A9"/>
                </a:solidFill>
                <a:latin typeface="Consolas"/>
              </a:rPr>
              <a:t>    r["cpl"] = spend/int(r["leads"])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95160" y="228600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95160" y="2286000"/>
            <a:ext cx="82296" cy="9144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32904" y="237744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Data contract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32904" y="267004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campaigns.csv; exact field names matter.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95160" y="324612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995160" y="3246120"/>
            <a:ext cx="82296" cy="91440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32904" y="333756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3A7D7B"/>
                </a:solidFill>
                <a:latin typeface="Calibri"/>
              </a:rPr>
              <a:t>Identity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32904" y="363016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Preserve row IDs or segment labels.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95160" y="420624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95160" y="4206240"/>
            <a:ext cx="82296" cy="914400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32904" y="429768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2603F"/>
                </a:solidFill>
                <a:latin typeface="Calibri"/>
              </a:rPr>
              <a:t>Calculation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32904" y="459028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Deterministic code checks the agent narrative.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95160" y="516636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995160" y="5166360"/>
            <a:ext cx="82296" cy="914400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32904" y="525780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88A2E"/>
                </a:solidFill>
                <a:latin typeface="Calibri"/>
              </a:rPr>
              <a:t>Verification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32904" y="555040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96 leads; spend $2100; revenue $6000; contribution $900; paid CPL40 and…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197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C2603F"/>
                </a:solidFill>
                <a:latin typeface="Cambria"/>
              </a:rPr>
              <a:t>LO4 · ACTIVITY 14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Effectiveness Decision Capstone · Decision Rule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Diamond 6"/>
          <p:cNvSpPr/>
          <p:nvPr/>
        </p:nvSpPr>
        <p:spPr>
          <a:xfrm>
            <a:off x="777240" y="2514600"/>
            <a:ext cx="4206240" cy="2468880"/>
          </a:xfrm>
          <a:prstGeom prst="diamond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Are profit, attribution and evidence boundaries clear?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577840" y="1965960"/>
            <a:ext cx="5806440" cy="1371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577840" y="1965960"/>
            <a:ext cx="100584" cy="137160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52160" y="2112264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3A7D7B"/>
                </a:solidFill>
                <a:latin typeface="Cambria"/>
              </a:rPr>
              <a:t>YES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2514600"/>
            <a:ext cx="5303520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Recommend capped experiment</a:t>
            </a:r>
          </a:p>
        </p:txBody>
      </p:sp>
      <p:cxnSp>
        <p:nvCxnSpPr>
          <p:cNvPr id="12" name="Connector 11"/>
          <p:cNvCxnSpPr/>
          <p:nvPr/>
        </p:nvCxnSpPr>
        <p:spPr>
          <a:xfrm flipV="1">
            <a:off x="4983480" y="2651760"/>
            <a:ext cx="594360" cy="1097280"/>
          </a:xfrm>
          <a:prstGeom prst="line">
            <a:avLst/>
          </a:prstGeom>
          <a:ln w="25400">
            <a:solidFill>
              <a:srgbClr val="3A7D7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577840" y="3977639"/>
            <a:ext cx="5806440" cy="1371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577840" y="3977639"/>
            <a:ext cx="100584" cy="1371600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52160" y="4123943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C88A2E"/>
                </a:solidFill>
                <a:latin typeface="Cambria"/>
              </a:rPr>
              <a:t>NO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4526279"/>
            <a:ext cx="5303520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Return for missing evidence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983480" y="3749040"/>
            <a:ext cx="594360" cy="914399"/>
          </a:xfrm>
          <a:prstGeom prst="line">
            <a:avLst/>
          </a:prstGeom>
          <a:ln w="25400">
            <a:solidFill>
              <a:srgbClr val="C88A2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777240" y="5623560"/>
            <a:ext cx="10634472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5742432"/>
            <a:ext cx="10149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B6862"/>
                </a:solidFill>
                <a:latin typeface="Calibri"/>
              </a:rPr>
              <a:t>This is an authored research decision rule. It does not grant product permissions or replace human review.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198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LO4 · ACTIVITY 14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21201C"/>
                </a:solidFill>
                <a:latin typeface="Calibri"/>
              </a:rPr>
              <a:t>Effectiveness Decision Capstone · Claim-Evidence Ledger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Claim layer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Evidence required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Permitted wording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Observation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channel: Paid search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Paid CPL=$1200/30=$40; revenue ROAS=2; contribution after spend=$2400×0.5-$1200=$0. ROAS is not profit or…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Inference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Synthetic gross-margin contribution after listed spend. Direct’s zero allocated spend does not mean…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Are profit, attribution and evidence boundaries clear?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Recommendation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Recommend capped experiment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approval-record.md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398264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4398264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Unknown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The report calls paid search profitable because ROAS is 2. At a 50% gross margin, contribution after media…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Return for missing evidence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5312664"/>
            <a:ext cx="10634472" cy="8412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" y="5312664"/>
            <a:ext cx="100584" cy="8412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1560" y="5422392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WHEN IT MATTERS  </a:t>
            </a:r>
            <a:r>
              <a:rPr sz="1200" b="0">
                <a:solidFill>
                  <a:srgbClr val="21201C"/>
                </a:solidFill>
                <a:latin typeface="Calibri"/>
              </a:rPr>
              <a:t>Preserve the distinction between observed data, model output and human decision throughout Cowork and Code handoffs.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199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C88A2E"/>
                </a:solidFill>
                <a:latin typeface="Cambria"/>
              </a:rPr>
              <a:t>LO4 · ACTIVITY 14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Effectiveness Decision Capstone · Failure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3447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B6862"/>
                </a:solidFill>
                <a:latin typeface="Calibri"/>
              </a:rPr>
              <a:t>A plausible report can be wrong even when its numbers look polished.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86000"/>
            <a:ext cx="5943600" cy="3794760"/>
          </a:xfrm>
          <a:prstGeom prst="rect">
            <a:avLst/>
          </a:prstGeom>
          <a:solidFill>
            <a:srgbClr val="212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2395728"/>
            <a:ext cx="5541264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300">
                <a:solidFill>
                  <a:srgbClr val="F0B89E"/>
                </a:solidFill>
                <a:latin typeface="Consolas"/>
              </a:rPr>
              <a:t>The report calls paid search profitable because ROAS is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F0B89E"/>
                </a:solidFill>
                <a:latin typeface="Consolas"/>
              </a:rPr>
              <a:t>2. At a 50% gross margin, contribution after media spend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F0B89E"/>
                </a:solidFill>
                <a:latin typeface="Consolas"/>
              </a:rPr>
              <a:t>is zero before other costs.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95160" y="228600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95160" y="2286000"/>
            <a:ext cx="82296" cy="9144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32904" y="237744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Trigger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32904" y="267004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The agent promotes a claim beyond its evidence.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95160" y="324612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995160" y="3246120"/>
            <a:ext cx="82296" cy="91440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32904" y="333756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3A7D7B"/>
                </a:solidFill>
                <a:latin typeface="Calibri"/>
              </a:rPr>
              <a:t>Diagnostic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32904" y="363016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Inspect the underlying rows,scope and denominator.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95160" y="420624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95160" y="4206240"/>
            <a:ext cx="82296" cy="914400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32904" y="429768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2603F"/>
                </a:solidFill>
                <a:latin typeface="Calibri"/>
              </a:rPr>
              <a:t>Recovery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32904" y="459028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Revise the claim and retain the rejected reasoning.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95160" y="5166360"/>
            <a:ext cx="4416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995160" y="5166360"/>
            <a:ext cx="82296" cy="914400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32904" y="525780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88A2E"/>
                </a:solidFill>
                <a:latin typeface="Calibri"/>
              </a:rPr>
              <a:t>Recheck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32904" y="555040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1201C"/>
                </a:solidFill>
                <a:latin typeface="Calibri"/>
              </a:rPr>
              <a:t>96 leads; spend $2100; revenue $6000; contribution $900; paid CPL40 and…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200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LO4 · ACTIVITY 14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21201C"/>
                </a:solidFill>
                <a:latin typeface="Calibri"/>
              </a:rPr>
              <a:t>Effectiveness Decision Capstone · Control and Recovery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Control point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Risk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Required evidence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channel identity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Paid search omitted or changed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Reconcile raw identifiers in campaigns.csv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Metric contract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Paid CPL=$1200/30=$40; revenue ROAS=2; contribution after spend=$2400×0.5-$1200=$0. ROAS is not profit or…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Independent calculation and named denominator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Inference check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The report calls paid search profitable because ROAS is 2. At a 50% gross margin, contribution after media…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Return for missing evidence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398264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4398264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Decision output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effectiveness-report.md,budget-test.csv and approval-record.md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State attribution model, accounting coverage and consent limitations. Cap recommendations to a test budget…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5312664"/>
            <a:ext cx="10634472" cy="8412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" y="5312664"/>
            <a:ext cx="100584" cy="8412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1560" y="5422392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WHEN IT MATTERS  </a:t>
            </a:r>
            <a:r>
              <a:rPr sz="1200" b="0">
                <a:solidFill>
                  <a:srgbClr val="21201C"/>
                </a:solidFill>
                <a:latin typeface="Calibri"/>
              </a:rPr>
              <a:t>State attribution model, accounting coverage and consent limitations. Cap recommendations to a test budget and require human sign-off before publishing or changing campaigns.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201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LO4 · ACTIVITY 14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Effectiveness Decision Capstone · Output Handoff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48840"/>
            <a:ext cx="2370582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79067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7906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campaigns.csv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Raw 4 records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202686" y="3223260"/>
            <a:ext cx="274320" cy="0"/>
          </a:xfrm>
          <a:prstGeom prst="line">
            <a:avLst/>
          </a:prstGeom>
          <a:ln w="25400">
            <a:solidFill>
              <a:srgbClr val="D977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353187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31870" y="2148840"/>
            <a:ext cx="2370582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433697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369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988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channel audit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2331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Preserve identifiers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957316" y="3223260"/>
            <a:ext cx="274320" cy="0"/>
          </a:xfrm>
          <a:prstGeom prst="line">
            <a:avLst/>
          </a:prstGeom>
          <a:ln w="25400">
            <a:solidFill>
              <a:srgbClr val="D977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628650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86500" y="2148840"/>
            <a:ext cx="2370582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188327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8832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451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effectiveness-report.md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794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Computed evidence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711946" y="3223260"/>
            <a:ext cx="274320" cy="0"/>
          </a:xfrm>
          <a:prstGeom prst="line">
            <a:avLst/>
          </a:prstGeom>
          <a:ln w="25400">
            <a:solidFill>
              <a:srgbClr val="D977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904113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041130" y="2148840"/>
            <a:ext cx="2370582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942957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94295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914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Human decision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3257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Reviewer decision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77240" y="4608576"/>
            <a:ext cx="10634472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77240" y="4608576"/>
            <a:ext cx="100584" cy="105156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51560" y="4718304"/>
            <a:ext cx="10149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OUTPUT CONTRACT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1560" y="5029200"/>
            <a:ext cx="1014984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21201C"/>
                </a:solidFill>
                <a:latin typeface="Calibri"/>
              </a:rPr>
              <a:t>Paid CPL=$1200/30=$40; revenue ROAS=2; contribution after spend=$2400×0.5-$1200=$0. ROAS is not profit or causal ROI. Output: effectiveness-report.md,budget-test.csv and approval-record.md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202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transition spd="fast" advClick="1">
    <p:fade/>
  </p:transition>
</p:sld>
</file>

<file path=ppt/slides/slide2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LO4 · ACTIVITY 14 · SYNTHETIC TEACHING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21201C"/>
                </a:solidFill>
                <a:latin typeface="Calibri"/>
              </a:rPr>
              <a:t>Effectiveness Decision Capstone · Acceptance Evidence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10634472" cy="1965960"/>
          </a:xfrm>
          <a:prstGeom prst="rect">
            <a:avLst/>
          </a:prstGeom>
          <a:solidFill>
            <a:srgbClr val="EA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100584" cy="1965960"/>
          </a:xfrm>
          <a:prstGeom prst="rect">
            <a:avLst/>
          </a:prstGeom>
          <a:solidFill>
            <a:srgbClr val="4A8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38528"/>
            <a:ext cx="1005840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4A8F5F"/>
                </a:solidFill>
                <a:latin typeface="Cambria"/>
              </a:rPr>
              <a:t>✅  Expected result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395728"/>
            <a:ext cx="10058400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21201C"/>
                </a:solidFill>
                <a:latin typeface="Calibri"/>
              </a:rPr>
              <a:t>96 leads; spend $2100; revenue $6000; contribution $900; paid CPL40 and contribution0; human approval pending.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950208"/>
            <a:ext cx="1063447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C88A2E"/>
                </a:solidFill>
                <a:latin typeface="Calibri"/>
              </a:rPr>
              <a:t>IF IT DOESN'T WORK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4297680"/>
            <a:ext cx="3392424" cy="15727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4297680"/>
            <a:ext cx="3392424" cy="82296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6696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21201C"/>
                </a:solidFill>
                <a:latin typeface="Calibri"/>
              </a:rPr>
              <a:t>Numbers disagree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6696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6862"/>
                </a:solidFill>
                <a:latin typeface="Calibri"/>
              </a:rPr>
              <a:t>Check header parsing,units,denominator and duplicate records.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98264" y="4297680"/>
            <a:ext cx="3392424" cy="15727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98264" y="4297680"/>
            <a:ext cx="3392424" cy="82296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17720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21201C"/>
                </a:solidFill>
                <a:latin typeface="Calibri"/>
              </a:rPr>
              <a:t>Claim lacks a source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6862"/>
                </a:solidFill>
                <a:latin typeface="Calibri"/>
              </a:rPr>
              <a:t>Add row IDs and scope; downgrade or remove unsupported inference.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19288" y="4297680"/>
            <a:ext cx="3392424" cy="15727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19288" y="4297680"/>
            <a:ext cx="3392424" cy="82296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38744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21201C"/>
                </a:solidFill>
                <a:latin typeface="Calibri"/>
              </a:rPr>
              <a:t>Tool unavailable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38744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6862"/>
                </a:solidFill>
                <a:latin typeface="Calibri"/>
              </a:rPr>
              <a:t>Use the documented CSV fallback and state the unexecuted product boundary.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203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FILED K1–K8 / A1–A8 COVERAGE · SYNTHETIC EXAMPLES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Behavioural Analytics and Primary Research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Evidence type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What it can support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Missing evidence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GA4 consented events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Observed digital actions and trends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Motivation,non-visitors,causality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Survey/interview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Stated needs and willingness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Observed behaviour and selection bias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Cowork synthesis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Evidence organisation and drafts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Truth without source verification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398264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4398264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Claude Code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Reproducible checks and models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Valid assumptions and data rights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5312664"/>
            <a:ext cx="10634472" cy="8412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" y="5312664"/>
            <a:ext cx="100584" cy="8412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1560" y="5422392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WHEN IT MATTERS  </a:t>
            </a:r>
            <a:r>
              <a:rPr sz="1200" b="0">
                <a:solidFill>
                  <a:srgbClr val="21201C"/>
                </a:solidFill>
                <a:latin typeface="Calibri"/>
              </a:rPr>
              <a:t>K1 · Combine behavioural traces with primary research; agent output is an analysis artifact, not a new source.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204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FILED K1–K8 / A1–A8 COVERAGE · SYNTHETIC EXAMPLES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Demographic Segmentation and Bias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Variable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Permitted use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Limit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Self-reported role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Tailor validation questions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Missing and volunteer bias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Age band with consent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Aggregate audience research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Avoid identifying small groups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Observed journey stage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Behavioural messaging hypothesis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Intent remains inferred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398264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4398264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Unknown attribute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Leave unknown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Never infer protected traits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5312664"/>
            <a:ext cx="10634472" cy="8412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" y="5312664"/>
            <a:ext cx="100584" cy="8412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1560" y="5422392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WHEN IT MATTERS  </a:t>
            </a:r>
            <a:r>
              <a:rPr sz="1200" b="0">
                <a:solidFill>
                  <a:srgbClr val="21201C"/>
                </a:solidFill>
                <a:latin typeface="Calibri"/>
              </a:rPr>
              <a:t>K2 · Demographic and behavioural variables answer different questions; do not invent persona attributes.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205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FILED K1–K8 / A1–A8 COVERAGE · SYNTHETIC EXAMPLES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Pricing Evidence and Willingness to Pay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Evidence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Calculation or mechanism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Boundary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Competitor offer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SGD/hour with matched scope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Advertised price is not willingness to pay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Checkout behaviour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Completed purchases / eligible users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Confounded by acquisition and seasonality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Survey question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Neutral stated-price response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Hypothetical and selection bias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398264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4398264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Controlled price test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Randomised eligible groups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Ethics,consent and business approval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5312664"/>
            <a:ext cx="10634472" cy="8412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" y="5312664"/>
            <a:ext cx="100584" cy="8412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1560" y="5422392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WHEN IT MATTERS  </a:t>
            </a:r>
            <a:r>
              <a:rPr sz="1200" b="0">
                <a:solidFill>
                  <a:srgbClr val="21201C"/>
                </a:solidFill>
                <a:latin typeface="Calibri"/>
              </a:rPr>
              <a:t>K3 · GA4 can describe behaviour around offers; independent pricing research and controlled tests are needed for demand interpretation.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206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FILED K1–K8 / A1–A8 COVERAGE · SYNTHETIC EXAMPLES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Survey Questions That Test a Decision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Question design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Weak item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Improved item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Timing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Would you love evening classes?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Which session time can you attend?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Content need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Is AI marketing amazing?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Which task is hardest this month?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Pricing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Would you pay our great price?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Which option would you consider at $X?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398264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4398264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Bias check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Existing learners only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Include target non-customers and record sampling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5312664"/>
            <a:ext cx="10634472" cy="8412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" y="5312664"/>
            <a:ext cx="100584" cy="8412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1560" y="5422392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WHEN IT MATTERS  </a:t>
            </a:r>
            <a:r>
              <a:rPr sz="1200" b="0">
                <a:solidFill>
                  <a:srgbClr val="21201C"/>
                </a:solidFill>
                <a:latin typeface="Calibri"/>
              </a:rPr>
              <a:t>K4/A3 · Define decision,population,response options and sampling limits before agent-assisted coding.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207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FILED K1–K8 / A1–A8 COVERAGE · SYNTHETIC EXAMPLES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GA4 Account-to-Stream Boundary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Object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Responsibility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Research implication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Account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Organisational ownership/access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Confirm authorised property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Property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Web/app reporting boundary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Do not mix unrelated brands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Data stream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Website/app collection input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Confirm stream and consent scope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398264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4398264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Export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Field/window selection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Record source,date,filters and units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5312664"/>
            <a:ext cx="10634472" cy="8412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" y="5312664"/>
            <a:ext cx="100584" cy="8412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1560" y="5422392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WHEN IT MATTERS  </a:t>
            </a:r>
            <a:r>
              <a:rPr sz="1200" b="0">
                <a:solidFill>
                  <a:srgbClr val="21201C"/>
                </a:solidFill>
                <a:latin typeface="Calibri"/>
              </a:rPr>
              <a:t>Legacy setup coverage retained as architecture; exact click paths are in the LG and current official documentation.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208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FILED K1–K8 / A1–A8 COVERAGE · SYNTHETIC EXAMPLES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Dimensions, Metrics and Denominators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Contract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Example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Control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Dimension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session source / medium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Choose matching attribution scope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Metric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sessions;event count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Do not call event count users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Rate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key events / stated denominator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State user/session/event denominator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398264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4398264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Filter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period,channel,device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Preserve filter state with export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5312664"/>
            <a:ext cx="10634472" cy="8412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" y="5312664"/>
            <a:ext cx="100584" cy="8412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1560" y="5422392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WHEN IT MATTERS  </a:t>
            </a:r>
            <a:r>
              <a:rPr sz="1200" b="0">
                <a:solidFill>
                  <a:srgbClr val="21201C"/>
                </a:solidFill>
                <a:latin typeface="Calibri"/>
              </a:rPr>
              <a:t>LO1/LO2 · A report export is interpretable only when its dimension,metric,scope and filter contract is retained.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209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FILED K1–K8 / A1–A8 COVERAGE · SYNTHETIC EXAMPLES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GA4 Acquisition and Trend Contract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Analysis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Input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Evidence boundary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User acquisition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First user source/medium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Initial acquisition perspective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Traffic acquisition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Session source/medium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Session perspective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Trend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Same metric and intervals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Account for tracking or campaign changes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398264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4398264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Competitor keyword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External licensed/public source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Not a GA4 competitor feed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5312664"/>
            <a:ext cx="10634472" cy="8412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" y="5312664"/>
            <a:ext cx="100584" cy="8412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1560" y="5422392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WHEN IT MATTERS  </a:t>
            </a:r>
            <a:r>
              <a:rPr sz="1200" b="0">
                <a:solidFill>
                  <a:srgbClr val="21201C"/>
                </a:solidFill>
                <a:latin typeface="Calibri"/>
              </a:rPr>
              <a:t>K5/A4 · Compare aligned periods and source scope; obtain competitor evidence separately.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210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FILED K1–K8 / A1–A8 COVERAGE · SYNTHETIC EXAMPLES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GA4 Engagement and Behaviour Indicators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Indicator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Interpretation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Limit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Engaged sessions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Qualified session behaviour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Definition and consent coverage matter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Views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Page/screen event volume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Not unique audience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Key events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Marked important outcomes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Trigger quality must be tested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398264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4398264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Average engagement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Engagement metric within scope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Does not establish motivation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5312664"/>
            <a:ext cx="10634472" cy="8412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" y="5312664"/>
            <a:ext cx="100584" cy="8412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1560" y="5422392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WHEN IT MATTERS  </a:t>
            </a:r>
            <a:r>
              <a:rPr sz="1200" b="0">
                <a:solidFill>
                  <a:srgbClr val="21201C"/>
                </a:solidFill>
                <a:latin typeface="Calibri"/>
              </a:rPr>
              <a:t>A5/A6 · Report exact metric labels and period; benchmark only comparable populations and methods.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211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FILED K1–K8 / A1–A8 COVERAGE · SYNTHETIC EXAMPLES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GA4 Explorations: Variables to Technique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Technique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Contract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Decision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Free form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Dimensions,metrics,segments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Inspect cross-tabs and distributions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Funnel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Ordered steps,open/closed,window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Locate observed drop-off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Path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Start/end node and event/page type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Explore sequence patterns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398264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4398264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External forecast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Exported regular time series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Not claimed GA4-native forecasting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5312664"/>
            <a:ext cx="10634472" cy="8412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" y="5312664"/>
            <a:ext cx="100584" cy="8412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1560" y="5422392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WHEN IT MATTERS  </a:t>
            </a:r>
            <a:r>
              <a:rPr sz="1200" b="0">
                <a:solidFill>
                  <a:srgbClr val="21201C"/>
                </a:solidFill>
                <a:latin typeface="Calibri"/>
              </a:rPr>
              <a:t>K7 · Explorations describe observed data; external models must keep assumptions and execution provenance.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212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FILED K1–K8 / A1–A8 COVERAGE · SYNTHETIC EXAMPLES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Forecast Model Comparison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Model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Held-out August prediction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Absolute error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Last value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July=100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|104-100|=4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Three-month mean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(84+96+100)/3=93.33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10.67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Complex model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Six observations insufficient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Unsupported precision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398264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4398264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September choice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Naive104 or MA100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Baseline comparison favours naive here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5312664"/>
            <a:ext cx="10634472" cy="8412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" y="5312664"/>
            <a:ext cx="100584" cy="8412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1560" y="5422392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WHEN IT MATTERS  </a:t>
            </a:r>
            <a:r>
              <a:rPr sz="1200" b="0">
                <a:solidFill>
                  <a:srgbClr val="21201C"/>
                </a:solidFill>
                <a:latin typeface="Calibri"/>
              </a:rPr>
              <a:t>K6/A7 · Compare predictions on a held-out period,then forecast; six months cannot resolve annual seasonality.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213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FILED K1–K8 / A1–A8 COVERAGE · SYNTHETIC EXAMPLES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Descriptive, Predictive and Causal Models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Technique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Question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Evidence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Descriptive funnel/segment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Where/how do groups differ?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Aligned counts and definitions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Time-series baseline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What next-period demand?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Held-out error and drift assumptions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Controlled experiment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Did a change cause lift?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Random assignment and guardrails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398264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4398264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Attribution allocation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Who receives credit?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Model and lookback sensitivity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5312664"/>
            <a:ext cx="10634472" cy="8412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" y="5312664"/>
            <a:ext cx="100584" cy="8412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1560" y="5422392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WHEN IT MATTERS  </a:t>
            </a:r>
            <a:r>
              <a:rPr sz="1200" b="0">
                <a:solidFill>
                  <a:srgbClr val="21201C"/>
                </a:solidFill>
                <a:latin typeface="Calibri"/>
              </a:rPr>
              <a:t>K7 · Distinguish descriptive,predictive,causal and allocation models before evaluating marketing effectiveness.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214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FILED K1–K8 / A1–A8 COVERAGE · SYNTHETIC EXAMPLES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Controlled Creative Experiment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Contract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Synthetic example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Failure control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Population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400 eligible users per arm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Keep eligibility equal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Assignment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Random A/B before exposure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Avoid self-selected arms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Outcome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A20/400=5%;B28/400=7%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+2 percentage points observed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398264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4398264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Boundary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Small sample;uncertain lift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Do not claim guaranteed improvement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5312664"/>
            <a:ext cx="10634472" cy="8412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" y="5312664"/>
            <a:ext cx="100584" cy="8412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1560" y="5422392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WHEN IT MATTERS  </a:t>
            </a:r>
            <a:r>
              <a:rPr sz="1200" b="0">
                <a:solidFill>
                  <a:srgbClr val="21201C"/>
                </a:solidFill>
                <a:latin typeface="Calibri"/>
              </a:rPr>
              <a:t>A8 · Specify unit,control,primary metric,window and stop rule; significance needs a suitable statistical analysis.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215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FILED K1–K8 / A1–A8 COVERAGE · SYNTHETIC EXAMPLES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Conversion Rate, CPA and Revenue ROAS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Metric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Worked example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Boundary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Conversion rate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12 enrolments/2400 sessions=0.5%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State cohort and denominator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CPA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Spend1200/12 acquisitions=100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Acquisitions differ from leads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CPL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Spend1200/30 leads=40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Lead is not a paying customer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398264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4398264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Revenue ROAS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Attributed revenue2400/spend1200=2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Not profit or incremental ROI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5312664"/>
            <a:ext cx="10634472" cy="8412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" y="5312664"/>
            <a:ext cx="100584" cy="8412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1560" y="5422392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WHEN IT MATTERS  </a:t>
            </a:r>
            <a:r>
              <a:rPr sz="1200" b="0">
                <a:solidFill>
                  <a:srgbClr val="21201C"/>
                </a:solidFill>
                <a:latin typeface="Calibri"/>
              </a:rPr>
              <a:t>K8 · Contribution after spend=2400×50%-1200=0; protect metric names and accounting boundaries.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216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FILED K1–K8 / A1–A8 COVERAGE · SYNTHETIC EXAMPLES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GA4 Key Events and Ads Conversions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State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Meaning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Control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Collected event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Received interaction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Validate trigger and parameters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Key event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Important business outcome in GA4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Mark according to measurement plan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Ads conversion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Advertising measurement outcome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Product linkage and configuration matter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398264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4398264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Report evidence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Current property,period,metric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Do not reuse legacy conversion labels blindly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5312664"/>
            <a:ext cx="10634472" cy="8412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" y="5312664"/>
            <a:ext cx="100584" cy="8412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1560" y="5422392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WHEN IT MATTERS  </a:t>
            </a:r>
            <a:r>
              <a:rPr sz="1200" b="0">
                <a:solidFill>
                  <a:srgbClr val="21201C"/>
                </a:solidFill>
                <a:latin typeface="Calibri"/>
              </a:rPr>
              <a:t>LO4 · Current GA4 distinguishes key events from Ads conversions; a drafted contract is not live configuration evidence.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217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FILED K1–K8 / A1–A8 COVERAGE · SYNTHETIC EXAMPLES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Import and Join Integrity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Join contract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Synthetic example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Risk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Cost key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date+source+medium+campaign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Unmatched cost rows distort ROAS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Item key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item_id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Missing catalog match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User data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Approved pseudonymous identifier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Consent and re-identification risk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398264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4398264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Reconciliation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Matched + unmatched = raw rows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6862"/>
                </a:solidFill>
                <a:latin typeface="Calibri"/>
              </a:rPr>
              <a:t>Keep rejected records visible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5312664"/>
            <a:ext cx="10634472" cy="8412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" y="5312664"/>
            <a:ext cx="100584" cy="8412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1560" y="5422392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WHEN IT MATTERS  </a:t>
            </a:r>
            <a:r>
              <a:rPr sz="1200" b="0">
                <a:solidFill>
                  <a:srgbClr val="21201C"/>
                </a:solidFill>
                <a:latin typeface="Calibri"/>
              </a:rPr>
              <a:t>Legacy data-import coverage retained as a data contract; no real customer identifiers are used in training.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218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RESEARCH METHOD · ILLUSTRATIVE GENERATED IMAGE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Primary Evidence:Question,Response and Coding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esearch-interview-v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828800"/>
            <a:ext cx="5486400" cy="33832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583680" y="1874519"/>
            <a:ext cx="475488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400"/>
              </a:spcAft>
            </a:pPr>
            <a:r>
              <a:rPr sz="1800" b="1">
                <a:solidFill>
                  <a:srgbClr val="D97757"/>
                </a:solidFill>
                <a:latin typeface="Cambria"/>
              </a:rPr>
              <a:t>Decision:evening programme demand</a:t>
            </a:r>
          </a:p>
          <a:p>
            <a:pPr algn="l">
              <a:spcAft>
                <a:spcPts val="14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Neutral question:Which session times can you attend?</a:t>
            </a:r>
          </a:p>
          <a:p>
            <a:pPr algn="l">
              <a:spcAft>
                <a:spcPts val="14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Response record:participant_id,time preference,quote,consent status.</a:t>
            </a:r>
          </a:p>
          <a:p>
            <a:pPr algn="l">
              <a:spcAft>
                <a:spcPts val="14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Code:timing;preserve exact quote and non-response count.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321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B6862"/>
                </a:solidFill>
                <a:latin typeface="Calibri"/>
              </a:rPr>
              <a:t>Generated illustrative photograph;no real participant or collected evidence. Synthetic personas are hypotheses,not replacements for representative respondents.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219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COURSE ADMINISTRATION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Supplementary Claude Practice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Cowork/agent concepts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6B6862"/>
                </a:solidFill>
                <a:latin typeface="Calibri"/>
              </a:rPr>
              <a:t>https://exams.tertiaryinfotech.com/practice-exams/anthropic/anthropic-ccao-foundations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Claude Code concepts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6B6862"/>
                </a:solidFill>
                <a:latin typeface="Calibri"/>
              </a:rPr>
              <a:t>https://exams.tertiaryinfotech.com/practice-exams/anthropic/anthropic-ccdv-foundations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Purpose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6B6862"/>
                </a:solidFill>
                <a:latin typeface="Calibri"/>
              </a:rPr>
              <a:t>Supplementary Claude foundations practice;not the WSQ assessment.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Catalogue boundary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6B6862"/>
                </a:solidFill>
                <a:latin typeface="Calibri"/>
              </a:rPr>
              <a:t>No exact Market Research practice entry was verified;use the filed WA and PP instruments for this course.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220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COURSE ADMINISTRATION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Assessment · Final Reminder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WA ·60 minutes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6B6862"/>
                </a:solidFill>
                <a:latin typeface="Calibri"/>
              </a:rPr>
              <a:t>Eight individual short-answer questions;K1–K8.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PP ·90 minutes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6B6862"/>
                </a:solidFill>
                <a:latin typeface="Calibri"/>
              </a:rPr>
              <a:t>Four individual evidence-producing tasks;A1–A8.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Timing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6B6862"/>
                </a:solidFill>
                <a:latin typeface="Calibri"/>
              </a:rPr>
              <a:t>15:30–18:00 on Day 2;filed assessment timing.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Submit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6B6862"/>
                </a:solidFill>
                <a:latin typeface="Calibri"/>
              </a:rPr>
              <a:t>Confirm the correct course and all requested evidence before submission.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221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FINAL ASSESSMENT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Assessment 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48840"/>
            <a:ext cx="1819656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03604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03604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TRAQOM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822192"/>
            <a:ext cx="1636776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Survey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651760" y="3223260"/>
            <a:ext cx="274320" cy="0"/>
          </a:xfrm>
          <a:prstGeom prst="line">
            <a:avLst/>
          </a:prstGeom>
          <a:ln w="25400">
            <a:solidFill>
              <a:srgbClr val="D977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2980944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980944" y="2148840"/>
            <a:ext cx="1819656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607308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07308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8960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Attendance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72384" y="3822192"/>
            <a:ext cx="1636776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Digital record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855464" y="3223260"/>
            <a:ext cx="274320" cy="0"/>
          </a:xfrm>
          <a:prstGeom prst="line">
            <a:avLst/>
          </a:prstGeom>
          <a:ln w="25400">
            <a:solidFill>
              <a:srgbClr val="D977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184648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184648" y="2148840"/>
            <a:ext cx="1819656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811012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11012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12664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WA then PP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76088" y="3822192"/>
            <a:ext cx="1636776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Individual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059168" y="3223260"/>
            <a:ext cx="274320" cy="0"/>
          </a:xfrm>
          <a:prstGeom prst="line">
            <a:avLst/>
          </a:prstGeom>
          <a:ln w="25400">
            <a:solidFill>
              <a:srgbClr val="D977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7388352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388352" y="2148840"/>
            <a:ext cx="1819656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014716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014716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16368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LMS submit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79792" y="3822192"/>
            <a:ext cx="1636776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Evidence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9262872" y="3223260"/>
            <a:ext cx="274320" cy="0"/>
          </a:xfrm>
          <a:prstGeom prst="line">
            <a:avLst/>
          </a:prstGeom>
          <a:ln w="25400">
            <a:solidFill>
              <a:srgbClr val="D977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9592056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592056" y="2148840"/>
            <a:ext cx="1819656" cy="1005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0218420" y="2459736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218420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720072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1201C"/>
                </a:solidFill>
                <a:latin typeface="Calibri"/>
              </a:rPr>
              <a:t>Sign record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83496" y="3822192"/>
            <a:ext cx="1636776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Summary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77240" y="4608576"/>
            <a:ext cx="10634472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77240" y="4608576"/>
            <a:ext cx="100584" cy="105156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51560" y="4718304"/>
            <a:ext cx="10149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EVIDENCE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51560" y="5029200"/>
            <a:ext cx="1014984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21201C"/>
                </a:solidFill>
                <a:latin typeface="Calibri"/>
              </a:rPr>
              <a:t>Use permitted materials; preserve individual assessment integrity.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222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transition spd="fast" advClick="1">
    <p:fade/>
  </p:transition>
</p:sld>
</file>

<file path=ppt/slides/slide2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Cambria"/>
              </a:rPr>
              <a:t>COURSE ADMINISTRATION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21201C"/>
                </a:solidFill>
                <a:latin typeface="Cambria"/>
              </a:rPr>
              <a:t>Digital Attendance (Mandatory)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Assessment record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6B6862"/>
                </a:solidFill>
                <a:latin typeface="Calibri"/>
              </a:rPr>
              <a:t>Complete the official assessment digital attendance.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AM and PM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6B6862"/>
                </a:solidFill>
                <a:latin typeface="Calibri"/>
              </a:rPr>
              <a:t>Confirm both daily attendance records.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TRAQOM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6B6862"/>
                </a:solidFill>
                <a:latin typeface="Calibri"/>
              </a:rPr>
              <a:t>Complete the course quality survey as directed.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Support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6B6862"/>
                </a:solidFill>
                <a:latin typeface="Calibri"/>
              </a:rPr>
              <a:t>Ask the trainer to resolve missing submission evidence.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223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3A7D7B"/>
                </a:solidFill>
                <a:latin typeface="Cambria"/>
              </a:rPr>
              <a:t>TERTIARY INFOTECH ACADEMY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560320"/>
            <a:ext cx="1033272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21201C"/>
                </a:solidFill>
                <a:latin typeface="Cambria"/>
              </a:rPr>
              <a:t>Thank 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480560"/>
            <a:ext cx="10058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6B6862"/>
                </a:solidFill>
                <a:latin typeface="Calibri"/>
              </a:rPr>
              <a:t>Keep the evidence trail:source -&gt; calculation -&gt; limitation -&gt; reviewed decision.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Agentic AI for Market Research  ·  TGS-2022017520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224</a:t>
            </a:r>
          </a:p>
        </p:txBody>
      </p:sp>
    </p:spTree>
  </p:cSld>
  <p:clrMapOvr>
    <a:masterClrMapping/>
  </p:clrMapOvr>
  <p:transition spd="fast" advClick="1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