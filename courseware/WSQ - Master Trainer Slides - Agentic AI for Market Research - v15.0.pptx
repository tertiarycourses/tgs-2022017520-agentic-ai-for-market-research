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480" r:id="rId232"/>
    <p:sldId id="266" r:id="rId17"/>
    <p:sldId id="267" r:id="rId18"/>
    <p:sldId id="268" r:id="rId19"/>
    <p:sldId id="269" r:id="rId20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  <p:sldId id="466" r:id="rId218"/>
    <p:sldId id="467" r:id="rId219"/>
    <p:sldId id="468" r:id="rId220"/>
    <p:sldId id="469" r:id="rId221"/>
    <p:sldId id="470" r:id="rId222"/>
    <p:sldId id="471" r:id="rId223"/>
    <p:sldId id="472" r:id="rId224"/>
    <p:sldId id="473" r:id="rId225"/>
    <p:sldId id="474" r:id="rId226"/>
    <p:sldId id="475" r:id="rId227"/>
    <p:sldId id="476" r:id="rId228"/>
    <p:sldId id="477" r:id="rId229"/>
    <p:sldId id="478" r:id="rId230"/>
    <p:sldId id="479" r:id="rId2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Relationship Id="rId218" Type="http://schemas.openxmlformats.org/officeDocument/2006/relationships/slide" Target="slides/slide211.xml"/><Relationship Id="rId219" Type="http://schemas.openxmlformats.org/officeDocument/2006/relationships/slide" Target="slides/slide212.xml"/><Relationship Id="rId220" Type="http://schemas.openxmlformats.org/officeDocument/2006/relationships/slide" Target="slides/slide213.xml"/><Relationship Id="rId221" Type="http://schemas.openxmlformats.org/officeDocument/2006/relationships/slide" Target="slides/slide214.xml"/><Relationship Id="rId222" Type="http://schemas.openxmlformats.org/officeDocument/2006/relationships/slide" Target="slides/slide215.xml"/><Relationship Id="rId223" Type="http://schemas.openxmlformats.org/officeDocument/2006/relationships/slide" Target="slides/slide216.xml"/><Relationship Id="rId224" Type="http://schemas.openxmlformats.org/officeDocument/2006/relationships/slide" Target="slides/slide217.xml"/><Relationship Id="rId225" Type="http://schemas.openxmlformats.org/officeDocument/2006/relationships/slide" Target="slides/slide218.xml"/><Relationship Id="rId226" Type="http://schemas.openxmlformats.org/officeDocument/2006/relationships/slide" Target="slides/slide219.xml"/><Relationship Id="rId227" Type="http://schemas.openxmlformats.org/officeDocument/2006/relationships/slide" Target="slides/slide220.xml"/><Relationship Id="rId228" Type="http://schemas.openxmlformats.org/officeDocument/2006/relationships/slide" Target="slides/slide221.xml"/><Relationship Id="rId229" Type="http://schemas.openxmlformats.org/officeDocument/2006/relationships/slide" Target="slides/slide222.xml"/><Relationship Id="rId230" Type="http://schemas.openxmlformats.org/officeDocument/2006/relationships/slide" Target="slides/slide22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(%) of each stated population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Sheet1!$A$2:$A$4</c:f>
              <c:strCache>
                <c:ptCount val="3"/>
                <c:pt idx="0">
                  <c:v>Survey</c:v>
                </c:pt>
                <c:pt idx="1">
                  <c:v>Enquiries</c:v>
                </c:pt>
                <c:pt idx="2">
                  <c:v>Web events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60</c:v>
                </c:pt>
                <c:pt idx="1">
                  <c:v>45</c:v>
                </c:pt>
                <c:pt idx="2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 of manifest files / outputs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Sheet1!$A$2:$A$4</c:f>
              <c:strCache>
                <c:ptCount val="3"/>
                <c:pt idx="0">
                  <c:v>Read approved</c:v>
                </c:pt>
                <c:pt idx="1">
                  <c:v>Quarantine</c:v>
                </c:pt>
                <c:pt idx="2">
                  <c:v>Write outputs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3</c:v>
                </c:pt>
                <c:pt idx="1">
                  <c:v>1</c:v>
                </c:pt>
                <c:pt idx="2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Advertised tuition (SGD per hour)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Sheet1!$A$2:$A$4</c:f>
              <c:strCache>
                <c:ptCount val="3"/>
                <c:pt idx="0">
                  <c:v>Northstar</c:v>
                </c:pt>
                <c:pt idx="1">
                  <c:v>Harbour</c:v>
                </c:pt>
                <c:pt idx="2">
                  <c:v>Orchid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60</c:v>
                </c:pt>
                <c:pt idx="1">
                  <c:v>45</c:v>
                </c:pt>
                <c:pt idx="2">
                  <c:v>50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 of coded review mentions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Sheet1!$A$2:$A$4</c:f>
              <c:strCache>
                <c:ptCount val="3"/>
                <c:pt idx="0">
                  <c:v>Timing</c:v>
                </c:pt>
                <c:pt idx="1">
                  <c:v>Relevance</c:v>
                </c:pt>
                <c:pt idx="2">
                  <c:v>Support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3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(SGD per customer)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Sheet1!$A$2:$A$4</c:f>
              <c:strCache>
                <c:ptCount val="3"/>
                <c:pt idx="0">
                  <c:v>Working</c:v>
                </c:pt>
                <c:pt idx="1">
                  <c:v>Career</c:v>
                </c:pt>
                <c:pt idx="2">
                  <c:v>Team leads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300</c:v>
                </c:pt>
                <c:pt idx="1">
                  <c:v>200</c:v>
                </c:pt>
                <c:pt idx="2">
                  <c:v>500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Unique synthetic sessions per journey stage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Sheet1!$A$2:$A$5</c:f>
              <c:strCache>
                <c:ptCount val="4"/>
                <c:pt idx="0">
                  <c:v>Sessions</c:v>
                </c:pt>
                <c:pt idx="1">
                  <c:v>Enquiries</c:v>
                </c:pt>
                <c:pt idx="2">
                  <c:v>Qualified</c:v>
                </c:pt>
                <c:pt idx="3">
                  <c:v>Enrolments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2400</c:v>
                </c:pt>
                <c:pt idx="1">
                  <c:v>96</c:v>
                </c:pt>
                <c:pt idx="2">
                  <c:v>48</c:v>
                </c:pt>
                <c:pt idx="3">
                  <c:v>12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500.0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 of planned stage events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Sheet1!$A$2:$A$5</c:f>
              <c:strCache>
                <c:ptCount val="4"/>
                <c:pt idx="0">
                  <c:v>Discovery</c:v>
                </c:pt>
                <c:pt idx="1">
                  <c:v>Consideration</c:v>
                </c:pt>
                <c:pt idx="2">
                  <c:v>Intent</c:v>
                </c:pt>
                <c:pt idx="3">
                  <c:v>Revenue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purchase value (SGD)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Sheet1!$A$2:$A$5</c:f>
              <c:strCache>
                <c:ptCount val="4"/>
                <c:pt idx="0">
                  <c:v>Raw</c:v>
                </c:pt>
                <c:pt idx="1">
                  <c:v>Duplicate</c:v>
                </c:pt>
                <c:pt idx="2">
                  <c:v>Missing ID</c:v>
                </c:pt>
                <c:pt idx="3">
                  <c:v>Valid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2100</c:v>
                </c:pt>
                <c:pt idx="1">
                  <c:v>600</c:v>
                </c:pt>
                <c:pt idx="2">
                  <c:v>400</c:v>
                </c:pt>
                <c:pt idx="3">
                  <c:v>1100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First touch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Sheet1!$A$2:$A$5</c:f>
              <c:strCache>
                <c:ptCount val="4"/>
                <c:pt idx="0">
                  <c:v>Paid search</c:v>
                </c:pt>
                <c:pt idx="1">
                  <c:v>Organic</c:v>
                </c:pt>
                <c:pt idx="2">
                  <c:v>Email</c:v>
                </c:pt>
                <c:pt idx="3">
                  <c:v>Direct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1200</c:v>
                </c:pt>
                <c:pt idx="1">
                  <c:v>500</c:v>
                </c:pt>
                <c:pt idx="2">
                  <c:v>700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Last touch</c:v>
                </c:pt>
              </c:strCache>
            </c:strRef>
          </c:tx>
          <c:spPr>
            <a:solidFill>
              <a:srgbClr val="3A7D7B"/>
            </a:solidFill>
          </c:spPr>
          <c:cat>
            <c:strRef>
              <c:f>Sheet1!$A$2:$A$5</c:f>
              <c:strCache>
                <c:ptCount val="4"/>
                <c:pt idx="0">
                  <c:v>Paid search</c:v>
                </c:pt>
                <c:pt idx="1">
                  <c:v>Organic</c:v>
                </c:pt>
                <c:pt idx="2">
                  <c:v>Email</c:v>
                </c:pt>
                <c:pt idx="3">
                  <c:v>Direct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0</c:v>
                </c:pt>
                <c:pt idx="1">
                  <c:v>0</c:v>
                </c:pt>
                <c:pt idx="2">
                  <c:v>1300</c:v>
                </c:pt>
                <c:pt idx="3">
                  <c:v>1100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Clicks per sent email (%)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Sheet1!$A$2:$A$4</c:f>
              <c:strCache>
                <c:ptCount val="3"/>
                <c:pt idx="0">
                  <c:v>Enquiry</c:v>
                </c:pt>
                <c:pt idx="1">
                  <c:v>Qualified</c:v>
                </c:pt>
                <c:pt idx="2">
                  <c:v>Past learner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Clicks per search impression (%)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Sheet1!$A$2:$A$5</c:f>
              <c:strCache>
                <c:ptCount val="4"/>
                <c:pt idx="0">
                  <c:v>AI course</c:v>
                </c:pt>
                <c:pt idx="1">
                  <c:v>Cowork guide</c:v>
                </c:pt>
                <c:pt idx="2">
                  <c:v>Research training</c:v>
                </c:pt>
                <c:pt idx="3">
                  <c:v>Segmentation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4</c:v>
                </c:pt>
                <c:pt idx="1">
                  <c:v>3</c:v>
                </c:pt>
                <c:pt idx="2">
                  <c:v>6</c:v>
                </c:pt>
                <c:pt idx="3">
                  <c:v>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enquiries (count)</c:v>
                </c:pt>
              </c:strCache>
            </c:strRef>
          </c:tx>
          <c:spPr>
            <a:ln w="31750">
              <a:solidFill>
                <a:srgbClr val="D97757"/>
              </a:solidFill>
            </a:ln>
          </c:spPr>
          <c:cat>
            <c:strRef>
              <c:f>Sheet1!$A$2:$A$7</c:f>
              <c:strCache>
                <c:ptCount val="6"/>
                <c:pt idx="0">
                  <c:v>Mar</c:v>
                </c:pt>
                <c:pt idx="1">
                  <c:v>Apr</c:v>
                </c:pt>
                <c:pt idx="2">
                  <c:v>May</c:v>
                </c:pt>
                <c:pt idx="3">
                  <c:v>Jun</c:v>
                </c:pt>
                <c:pt idx="4">
                  <c:v>Jul</c:v>
                </c:pt>
                <c:pt idx="5">
                  <c:v>Aug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80</c:v>
                </c:pt>
                <c:pt idx="1">
                  <c:v>88</c:v>
                </c:pt>
                <c:pt idx="2">
                  <c:v>84</c:v>
                </c:pt>
                <c:pt idx="3">
                  <c:v>96</c:v>
                </c:pt>
                <c:pt idx="4">
                  <c:v>100</c:v>
                </c:pt>
                <c:pt idx="5">
                  <c:v>104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  <c:majorUnit val="10.0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Leads per session (%)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Sheet1!$A$2:$A$5</c:f>
              <c:strCache>
                <c:ptCount val="4"/>
                <c:pt idx="0">
                  <c:v>Paid</c:v>
                </c:pt>
                <c:pt idx="1">
                  <c:v>Organic</c:v>
                </c:pt>
                <c:pt idx="2">
                  <c:v>Email</c:v>
                </c:pt>
                <c:pt idx="3">
                  <c:v>Direct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5</c:v>
                </c:pt>
                <c:pt idx="1">
                  <c:v>4</c:v>
                </c:pt>
                <c:pt idx="2">
                  <c:v>8</c:v>
                </c:pt>
                <c:pt idx="3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after listed spend (SGD)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Sheet1!$A$2:$A$5</c:f>
              <c:strCache>
                <c:ptCount val="4"/>
                <c:pt idx="0">
                  <c:v>Paid</c:v>
                </c:pt>
                <c:pt idx="1">
                  <c:v>Organic</c:v>
                </c:pt>
                <c:pt idx="2">
                  <c:v>Email</c:v>
                </c:pt>
                <c:pt idx="3">
                  <c:v>Direct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0</c:v>
                </c:pt>
                <c:pt idx="1">
                  <c:v>300</c:v>
                </c:pt>
                <c:pt idx="2">
                  <c:v>300</c:v>
                </c:pt>
                <c:pt idx="3">
                  <c:v>300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https://code.claude.com/docs/en/skills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research method;supplied Digital Marketing reference and source contracts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research method;supplied Digital Marketing reference and source contracts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research method;supplied Digital Marketing reference and source contracts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research method;supplied Digital Marketing reference and source contracts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https://support.google.com/analytics/answer/9322688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https://support.google.com/analytics/answer/9322688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https://support.google.com/analytics/answer/9322688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https://support.google.com/analytics/answer/9322688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https://support.google.com/analytics/answer/9322688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research method;supplied Digital Marketing reference and source contracts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research method;supplied Digital Marketing reference and source contracts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research method;supplied Digital Marketing reference and source contracts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research method;supplied Digital Marketing reference and source contracts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https://support.google.com/analytics/answer/9322688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https://support.google.com/analytics/answer/9322688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https://business.columbia.edu/insights/digital-future/ai/generative-ai-market-research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Cambria"/>
          <a:ea typeface="Cambria"/>
          <a:cs typeface="Cambria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Cambria"/>
          <a:ea typeface="Cambria"/>
          <a:cs typeface="Cambria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Cambria"/>
          <a:ea typeface="Cambria"/>
          <a:cs typeface="Cambria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Calibri"/>
          <a:ea typeface="Calibri"/>
          <a:cs typeface="Calibri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Calibri"/>
          <a:ea typeface="Calibri"/>
          <a:cs typeface="Calibri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Calibri"/>
          <a:ea typeface="Calibri"/>
          <a:cs typeface="Calibri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3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4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5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7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84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notesSlide" Target="../notesSlides/notesSlide9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110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notesSlide" Target="../notesSlides/notesSlide123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notesSlide" Target="../notesSlides/notesSlide136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notesSlide" Target="../notesSlides/notesSlide149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notesSlide" Target="../notesSlides/notesSlide162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2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notesSlide" Target="../notesSlides/notesSlide175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9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0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1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5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8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400" b="1">
                <a:solidFill>
                  <a:srgbClr val="D97757"/>
                </a:solidFill>
                <a:latin typeface="Calibri"/>
              </a:rPr>
              <a:t>WSQ COURSE CODE  •  TGS-2022017520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65760"/>
            <a:ext cx="1005840" cy="868680"/>
          </a:xfrm>
          <a:prstGeom prst="roundRect">
            <a:avLst>
              <a:gd name="adj" fmla="val 18000"/>
            </a:avLst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480060"/>
            <a:ext cx="640080" cy="640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4526280"/>
            <a:ext cx="960120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300" b="0">
                <a:solidFill>
                  <a:srgbClr val="B9B4A9"/>
                </a:solidFill>
                <a:latin typeface="Calibri"/>
              </a:rPr>
              <a:t>Trainer: Dr. Alfred Ang · 2 days / 16 hours · ICT-SNM-3007-1.1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10241280" cy="2651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5200" b="1">
                <a:solidFill>
                  <a:srgbClr val="FFFFFF"/>
                </a:solidFill>
                <a:latin typeface="Cambria"/>
              </a:rPr>
              <a:t>Agentic AI for Market Research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212080"/>
            <a:ext cx="100584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Tertiary Infotech Academy Pte Ltd</a:t>
            </a:r>
          </a:p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UEN: 201200696W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172200"/>
            <a:ext cx="10515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200" b="0">
                <a:solidFill>
                  <a:srgbClr val="B9B4A9"/>
                </a:solidFill>
                <a:latin typeface="Calibri"/>
              </a:rPr>
              <a:t>www.tertiarycourses.com.sg   |   enquiry@tertiaryinfotech.com   |   +65 6100 0613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1371600"/>
            <a:ext cx="377647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r"/>
            <a:r>
              <a:rPr sz="1300" b="0">
                <a:solidFill>
                  <a:srgbClr val="B9B4A9"/>
                </a:solidFill>
                <a:latin typeface="Calibri"/>
              </a:rPr>
              <a:t>Version 15.0  ·  10 Oct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59752" y="6355080"/>
            <a:ext cx="4572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r"/>
            <a:r>
              <a:rPr sz="900" b="0">
                <a:solidFill>
                  <a:srgbClr val="8A867D"/>
                </a:solidFill>
                <a:latin typeface="Calibri"/>
              </a:rPr>
              <a:t>© Tertiary Infotech Academy Pte Ltd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SSG digital attendance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Record AM, PM and assessment attendance as directed by the trainer.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TRAQOM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Complete the required TRAQOM course quality survey via the LMS link.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Attendance evidence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Use the displayed official QR or link and confirm submission.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Funding eligibility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Minimum 75% attendance and competent assessment outcome; terms apply.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GENERAL TRAINER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mbria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21201C"/>
                </a:solidFill>
                <a:latin typeface="Cambria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Complete before delivery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E5DE"/>
                </a:solidFill>
                <a:latin typeface="Calibri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E5DE"/>
                </a:solidFill>
                <a:latin typeface="Calibri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E5DE"/>
                </a:solidFill>
                <a:latin typeface="Calibri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E5DE"/>
                </a:solidFill>
                <a:latin typeface="Calibri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E5DE"/>
                </a:solidFill>
                <a:latin typeface="Calibri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E5DE"/>
                </a:solidFill>
                <a:latin typeface="Calibri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mbria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21201C"/>
                </a:solidFill>
                <a:latin typeface="Cambria"/>
              </a:rPr>
              <a:t>Dr.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Principal Trainer · Tertiary Infotech Academy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Principal Trainer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Trainer presents current qualifications and experience.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COURSE FOCUS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Applied AI, reproducible analytics and marketing research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enquiry@tertiaryinfotech.com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Learner Introduction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Research decision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Share one marketing decision and the evidence needed.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Describe your analytics and AI-tool experience.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Working context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Identify permitted training tools and access boundaries.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Success criterion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Name one inspectable artifact you want to produce.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Participation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Question unsupported claims and preserve other learners’ privacy.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Synthetic data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Use supplied fictional data; keep real customer information outside training.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Human approval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Review plans, tool scope and outputs before consequential actions.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Assessment integrity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Individual work; do not share assessment scripts or answer keys.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Lesson Plan · Two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Day 1 · 8h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Evidence, sources, trends, segments and journey diagnostics; Activities 1–7.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Day 2 · 5.5h teaching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Events, attribution, creative, SEO, forecasting and reproducibility; Activities 8–14.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Filed assessment · 2.5h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Final day: WA 60 minutes and PP 90 minutes; starts 15:30, ends 18:00.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Duration reconciliation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16h total = 13.5h training + 2.5h assessment. Filed assessment timings govern.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Learning Outcomes · Market Research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LO1 · Data and sources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LO1: Identify market-research data types and evaluate sources for quality, relevance and ethical use.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LO2 · Trends and variables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LO2: Analyse market trends and variables using traceable evidence and reproducible methods.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LO3 · Behaviour and forecasting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LO3: Explore customer behaviour, segments and journeys and develop bounded forecasts.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LO4 · Effectiveness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LO4: Evaluate marketing effectiveness using measurement models, events and conversions.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Individual open book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Use permitted course notes; no collaboration or external answer sharing.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WA · 60 minutes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Eight short-answer questions; demonstrate K1–K8.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PP · 90 minutes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Four performance tasks; demonstrate A1–A8 with evidence and calculations.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Submission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Save requested evidence and submit on the matching LMS course.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Assessment and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Competence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Demonstrate every required criterion; the assessor records C or NYC.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Eligibility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Minimum 75% digital attendance; funding eligibility and terms apply.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Schedule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Day 2,15:30–16:30 WA;16:30–18:00 PP.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Evidence boundaries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Synthetic analysis proves training execution; live implementation needs separate evidence.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LMS · SCHEMATIC BASED ON VERIFIED LABELS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Download Course Material · Verified LMS Resource Panel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Courseware Link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Shared course folder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Learner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PDF + learner slides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Trainer Slides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Editable PPTX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Activities / Lab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14activity folders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RESOURCE MAPPING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lms-tms.tertiaryinfotech.com · TGS-2022017520. Current LMS labels verified13September2026. Resource controls point to role-appropriate files;this is a schematic,not an interface screenshot.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TRAQOM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Course quality survey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Digital attendance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Assessment record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WA then 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Individual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Submit on LMS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Correct course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Sign record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Assessment summary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EVIDENCE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Follow the trainer’s current LMS instructions; assessment is individual and open book.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D97757"/>
                </a:solidFill>
                <a:latin typeface="Cambria"/>
              </a:rPr>
              <a:t>LEARNING OUTCOME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21201C"/>
                </a:solidFill>
                <a:latin typeface="Cambria"/>
              </a:rPr>
              <a:t>Data Types and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6862"/>
                </a:solidFill>
                <a:latin typeface="Calibri"/>
              </a:rPr>
              <a:t>Cowork evidence synthesis · Claude Code reproducible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8E5DE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A Singapore learning provider must decide whether to launch an evening AI marketing programme. A search summary is insufficient: each demand claim needs a source, date, population and permission record.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evidence-register.csv and research-brief.md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Four uniquely identified sources; each claim states population, period, confidence and an explicit limitation.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sources.csv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Classify primary/secondary and qualitative/quantitative sources; record first-party origin, time window and consent; separate direct observations from interpretations.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source_id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S01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source_id;check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672660"/>
            <a:ext cx="2764962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672660"/>
            <a:ext cx="2508930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source_type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672660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672660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customer_survey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672660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672660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source_type;check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086752"/>
            <a:ext cx="2764962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086752"/>
            <a:ext cx="2508930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published_date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086752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086752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2026-08-01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086752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086752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published_date;check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00844"/>
            <a:ext cx="2764962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00844"/>
            <a:ext cx="2508930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population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00844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00844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existing learners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500844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500844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population;check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3914936"/>
            <a:ext cx="2764962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3914936"/>
            <a:ext cx="2508930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sample_n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3914936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3914936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120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3914936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3914936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sample_n;check units/identity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329028"/>
            <a:ext cx="2764962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4329028"/>
            <a:ext cx="2508930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claim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4329028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4329028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72 prefer evenings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4329028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4329028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claim;check units/identity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743120"/>
            <a:ext cx="2764962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5256" y="4743120"/>
            <a:ext cx="2508930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confidence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42202" y="4743120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70218" y="4743120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medium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76957" y="4743120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4973" y="4743120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confidence;check units/identity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5358380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7240" y="5358380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" y="5468108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source_id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population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existing learners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72 prefer evenings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S02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enquiries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36 request evening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global marketers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training demand rising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consented sessions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96 enquiry events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Evening preference = 72 / 120 = 60%; denominator is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surveyed existing learners, not the Singapore market.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sources.csv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percentages use different populations. Their height cannot establish…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percentages use different populations. Their height cannot establish market size; compare definitions before aggregating.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Percentage (%) of each stated population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C2603F"/>
                </a:solidFill>
                <a:latin typeface="Consolas"/>
              </a:rPr>
              <a:t>import csv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with open("mock-data/sources.csv") as f: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rows = list(csv.DictReader(f))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assert len({r["source_id"] for r in rows}) == 4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required = {"population", "published_date"}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assert required &lt;= set(rows[0])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sources.csv;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Four uniquely identified sources; each claim states population, period, confidence…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Does the source match the decision population?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with stated sampling limits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Qualify the claim or collect primary data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source_id: S01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Evening preference = 72 / 120 = 60%; denominator is surveyed existing learners, not the Singapore market.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percentages use different populations. Their height cannot establish market size; compare…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Does the source match the decision population?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Use with stated sampling limits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research-brief.md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 global report is used to claim Singapore buying intent. Its population and date do not match the decision…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Qualify the claim or collect primary data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A global report is used to claim Singapore buying intent.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Its population and date do not match the decision, so the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claim must be downgraded.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Four uniquely identified sources; each claim states population, period, confidence…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source_id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S01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sources.csv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Evening preference = 72 / 120 = 60%; denominator is surveyed existing learners, not the Singapore market.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 global report is used to claim Singapore buying intent. Its population and date do not match the decision…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Qualify the claim or collect primary data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evidence-register.csv and research-brief.md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Retain provenance, access permission and citation per claim. Use anonymised exports; never include emails…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Retain provenance, access permission and citation per claim. Use anonymised exports; never include emails, phone numbers or credentials in the research workspace.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sources.csv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4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source_id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evidence-register.csv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Evening preference = 72 / 120 = 60%; denominator is surveyed existing learners, not the Singapore market. Output: evidence-register.csv and research-brief.md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Four uniquely identified sources; each claim states population, period, confidence and an explicit limitation.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A marketer receives mixed CSV exports and creative notes. Cowork should turn a bounded folder into a decision brief while leaving original files unchanged and treating embedded instructions as untrusted content.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input-manifest.csv and decision-brief.md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Four manifest records; original input hashes unchanged; two requested outputs; untrusted instruction quoted as data and ignored.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Cowork Folder Research Brief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campaign-files.csv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Inventory -&gt; bounded plan -&gt; approved file reads -&gt; evidence synthesis -&gt; output diff -&gt; human decision. This is a teaching model of task control, not a fabricated Cowork interface.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file_id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F01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file_id;check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41676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41676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filename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741676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741676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traffic.csv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741676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741676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filename;check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24784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24784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owner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224784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224784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analytics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224784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224784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owner;check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7892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7892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period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707892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707892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2026-08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707892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707892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period;check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91000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91000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row_count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191000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191000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191000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191000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row_count;check units/identity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674108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4674108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status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467410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467410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approved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467410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467410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status;check units/identity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535838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535838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1560" y="546811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file_id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filename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F01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traffic.csv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approved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F02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campaign.csv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approved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F03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brand-guide.md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approved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F04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external-note.md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untrusted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Coverage = 3 approved inputs / 4 inventoried inputs =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75%; an excluded file remains visible in the manifest.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campaign-files.csv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manifest counts distinguish information access from output creation. A…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manifest counts distinguish information access from output creation. A quarantine decision is evidence, not missing work.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Count of manifest files / outputs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C2603F"/>
                </a:solidFill>
                <a:latin typeface="Consolas"/>
              </a:rPr>
              <a:t>from pathlib import Path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root = Path("mock-data")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files = list(root.glob("*.csv"))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assert all(f.suffix == ".csv" for f in files)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output = Path("outputs")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output.mkdir(exist_ok=True)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campaign-files.csv;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Four manifest records; original input hashes unchanged; two requested outputs…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Would the action write outside the copied folder?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Pause for human scope review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Proceed within approved outputs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file_id: F01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Coverage = 3 approved inputs / 4 inventoried inputs = 75%; an excluded file remains visible in the manifest.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manifest counts distinguish information access from output creation. A quarantine…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Would the action write outside the copied folder?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Pause for human scope review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decision-brief.md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An external note tells the agent to upload the folder elsewhere. It is task data, not an authorised…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Proceed within approved outputs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An external note tells the agent to upload the folder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elsewhere. It is task data, not an authorised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instruction, and must not change scope.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Four manifest records; original input hashes unchanged; two requested outputs…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file_id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F01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campaign-files.csv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Coverage = 3 approved inputs / 4 inventoried inputs = 75%; an excluded file remains visible in the manifest.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An external note tells the agent to upload the folder elsewhere. It is task data, not an authorised…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Proceed within approved outputs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input-manifest.csv and decision-brief.md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Copy inputs, use dedicated output paths, inspect the plan and changed files, reject external sends and…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Copy inputs, use dedicated output paths, inspect the plan and changed files, reject external sends and deletion. Product availability and permission controls depend on the current account.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campaign-files.csv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4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file_id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input-manifest.csv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Coverage = 3 approved inputs / 4 inventoried inputs = 75%; an excluded file remains visible in the manifest. Output: input-manifest.csv and decision-brief.md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Four manifest records; original input hashes unchanged; two requested outputs; untrusted instruction quoted as data and ignored.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D97757"/>
                </a:solidFill>
                <a:latin typeface="Cambria"/>
              </a:rPr>
              <a:t>LEARNING OUTCOME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21201C"/>
                </a:solidFill>
                <a:latin typeface="Cambria"/>
              </a:rPr>
              <a:t>Trends and Variables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6862"/>
                </a:solidFill>
                <a:latin typeface="Calibri"/>
              </a:rPr>
              <a:t>Cowork evidence synthesis · Claude Code reproducible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8E5DE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The provider compares three fictional competitors. Advertised prices, course hours and learner-review counts must be normalised before Cowork can recommend a positioning gap.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competitor-matrix.csv and positioning-note.md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Hourly prices 60,45,50; all three claim IDs cited; at least two uncertainty statements; no unsupported leadership claim.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competitors.csv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Match comparable features, units and retrieval dates; distinguish vendor claim from independent evidence; triangulate one claim with two source types before promoting it.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competitor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Northstar Learning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competitor;check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41676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41676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price_sgd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741676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741676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480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741676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741676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price_sgd;check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24784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24784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hours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224784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224784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224784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224784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hours;check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7892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7892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review_n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707892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707892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24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707892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707892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review_n;check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91000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91000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rating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191000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191000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float; example: 4.6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191000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191000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rating;check units/identity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674108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4674108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claim_id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467410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467410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C01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467410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467410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claim_id;check units/identity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535838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535838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1560" y="546811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competitor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price_sgd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hours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Northstar Learning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480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Harbour Academy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720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Orchid Skills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Price per hour: 480/8 = $60; 720/16 = $45; 600/12 = $50.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The cheapest total price is not the cheapest hourly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offer.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competitors.csv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SGD per hour. Harbour is lowest per hour; its eight reviews provide a…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SGD per hour. Harbour is lowest per hour; its eight reviews provide a smaller evidence base for satisfaction.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Advertised tuition (SGD per hour)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C2603F"/>
                </a:solidFill>
                <a:latin typeface="Consolas"/>
              </a:rPr>
              <a:t>import csv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with open("mock-data/competitors.csv") as f: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rows = list(csv.DictReader(f))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for r in rows: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r["sgd_per_hour"] = round(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       float(r["price_sgd"])/float(r["hours"]), 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competitors.csv;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Hourly prices 60,45,50; all three claim IDs cited; at least two uncertainty…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Are units, offer scope and dates comparable?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Rank with evidence-volume caveat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Normalise or mark non-comparable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competitor: Northstar Learning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Price per hour: 480/8 = $60; 720/16 = $45; 600/12 = $50. The cheapest total price is not the cheapest hourly…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SGD per hour. Harbour is lowest per hour; its eight reviews provide a smaller evidence…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Are units, offer scope and dates comparable?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Rank with evidence-volume caveat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positioning-note.md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Cowork labels Harbour the market leader from a 4.8 rating based on eight reviews. Rating and evidence volume…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Normalise or mark non-comparable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Cowork labels Harbour the market leader from a 4.8 rating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based on eight reviews. Rating and evidence volume must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be evaluated separately.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Hourly prices 60,45,50; all three claim IDs cited; at least two uncertainty…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competitor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Northstar Learning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competitors.csv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Price per hour: 480/8 = $60; 720/16 = $45; 600/12 = $50. The cheapest total price is not the cheapest hourly…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Cowork labels Harbour the market leader from a 4.8 rating based on eight reviews. Rating and evidence volume…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Normalise or mark non-comparable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competitor-matrix.csv and positioning-note.md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Record comparable offer boundaries and source date. Never claim fictional competitors exist. Preserve…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Record comparable offer boundaries and source date. Never claim fictional competitors exist. Preserve unknowns instead of filling gaps with plausible text.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competitors.csv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3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competitor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competitor-matrix.csv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Price per hour: 480/8 = $60; 720/16 = $45; 600/12 = $50. The cheapest total price is not the cheapest hourly offer. Output: competitor-matrix.csv and positioning-note.md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Hourly prices 60,45,50; all three claim IDs cited; at least two uncertainty statements; no unsupported leadership claim.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Eight fictional course reviews mention timing, relevance and support. An agent must code textual evidence without inventing customer identities or treating volunteered reviews as a representative survey.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coded-reviews.csv and theme-memo.md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Eight review IDs retained; 3 timing,3 relevance,2 support; R08 mixed qualifier; selection-bias limitation.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reviews.csv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Define codebook -&gt; quote evidence -&gt; assign theme -&gt; review disagreement -&gt; count -&gt; qualify interpretation. Keep negation and mixed sentiment visible.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review_id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R01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review_id;check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segment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working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segment;check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text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Evening timing fits my work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text;check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theme_reference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timing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theme_reference;check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review_id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text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theme_reference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Evening timing fits my work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timing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620899"/>
            <a:ext cx="2764962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620899"/>
            <a:ext cx="2508930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R02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620899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620899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Need more relevant marketing examples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620899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620899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relevance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983230"/>
            <a:ext cx="2764962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2983230"/>
            <a:ext cx="2508930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2983230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2983230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Support answered my questions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2983230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2983230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support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345561"/>
            <a:ext cx="2764962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345561"/>
            <a:ext cx="2508930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345561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345561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Weekend timing is easier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345561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345561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timing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3707892"/>
            <a:ext cx="2764962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3707892"/>
            <a:ext cx="2508930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R05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3707892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3707892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Relevant exercises helped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3707892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3707892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relevance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070223"/>
            <a:ext cx="2764962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4070223"/>
            <a:ext cx="2508930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R06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4070223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4070223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Support reply was slow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4070223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4070223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support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432554"/>
            <a:ext cx="2764962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5256" y="4432554"/>
            <a:ext cx="2508930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R07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42202" y="4432554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70218" y="4432554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Evening timing is useful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76957" y="4432554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4973" y="4432554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timing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4794885"/>
            <a:ext cx="2764962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5256" y="4794885"/>
            <a:ext cx="2508930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R08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42202" y="4794885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70218" y="4794885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Relevant examples but rushed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476957" y="4794885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04973" y="4794885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relevance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77240" y="535838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7240" y="535838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" y="546811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Timing mentions = 3/8 = 37.5%; relevance = 3/8; support =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2/8. These are coded mentions, not sentiment scores or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market prevalence.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reviews.csv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coded mentions. Equal theme counts do not imply equal strategic…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coded mentions. Equal theme counts do not imply equal strategic importance; preserve the supporting review IDs.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Count of coded review mentions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C2603F"/>
                </a:solidFill>
                <a:latin typeface="Consolas"/>
              </a:rPr>
              <a:t>import csv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C2603F"/>
                </a:solidFill>
                <a:latin typeface="Consolas"/>
              </a:rPr>
              <a:t>from collections import Counter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with open("mock-data/reviews.csv") as f: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rows = list(csv.DictReader(f))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counts = Counter(r["theme_reference"] for r in rows)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assert sum(counts.values()) ==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reviews.csv;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Eight review IDs retained; 3 timing,3 relevance,2 support; R08 mixed qualifier…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Can the theme be traced to explicit wording?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Code with quotation and qualifier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Mark uncertain; human review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review_id: R01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Timing mentions = 3/8 = 37.5%; relevance = 3/8; support = 2/8. These are coded mentions, not sentiment scores…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coded mentions. Equal theme counts do not imply equal strategic importance; preserve the…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Can the theme be traced to explicit wording?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Code with quotation and qualifier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theme-memo.md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R08 is flattened into positive sentiment although it says the exercises were rushed. Mixed sentiment needs a…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Mark uncertain; human review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R08 is flattened into positive sentiment although it says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the exercises were rushed. Mixed sentiment needs a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separate qualifier.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Eight review IDs retained; 3 timing,3 relevance,2 support; R08 mixed qualifier…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review_id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R01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reviews.csv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Timing mentions = 3/8 = 37.5%; relevance = 3/8; support = 2/8. These are coded mentions, not sentiment scores…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R08 is flattened into positive sentiment although it says the exercises were rushed. Mixed sentiment needs a…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Mark uncertain; human review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coded-reviews.csv and theme-memo.md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Use short de-identified extracts; maintain row-level auditability; have a human review ambiguous assignments…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Use short de-identified extracts; maintain row-level auditability; have a human review ambiguous assignments; do not infer protected characteristics.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reviews.csv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8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review_id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coded-reviews.csv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Timing mentions = 3/8 = 37.5%; relevance = 3/8; support = 2/8. These are coded mentions, not sentiment scores or market prevalence. Output: coded-reviews.csv and theme-memo.md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Eight review IDs retained; 3 timing,3 relevance,2 support; R08 mixed qualifier; selection-bias limitation.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D97757"/>
                </a:solidFill>
                <a:latin typeface="Cambria"/>
              </a:rPr>
              <a:t>LEARNING OUTCOME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21201C"/>
                </a:solidFill>
                <a:latin typeface="Cambria"/>
              </a:rPr>
              <a:t>Behaviour and Demand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6862"/>
                </a:solidFill>
                <a:latin typeface="Calibri"/>
              </a:rPr>
              <a:t>Cowork evidence synthesis · Claude Code reproducible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8E5DE"/>
                </a:solidFill>
                <a:latin typeface="Cambr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A fictional programme has working professionals and career switchers. Behavioural segments should guide research questions and consented messaging, with customer value calculated using explicit margin and retention assumptions.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segment-value.csv and persona-hypotheses.md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Margins/customer 300,200,500; total customers 80; no invented demographic traits; retained-margin assumptions explicit.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Segments and Customer Value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segments.csv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Choose observable non-sensitive variables, compute group sizes and values, validate distinct needs with evidence, avoid assigning personas beyond available data.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segment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Working professionals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segment;check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838297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838297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customers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40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customers;check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18026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18026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revenue_sgd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24000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revenue_sgd;check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97755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97755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cost_sgd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12000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cost_sgd;check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77484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577484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retention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float; example: 0.7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retention;check units/identity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358381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5358381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560" y="5468109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segment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2623170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customers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783080"/>
            <a:ext cx="2623170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revenue_sgd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783080"/>
            <a:ext cx="2623170" cy="47548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cost_sgd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Working professionals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40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24000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12000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Career switchers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15000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9000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Team leads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8000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Working margin/customer = (24000-12000)/40 = $300. Simple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one-period retained margin estimate = $300 × 0.7 = $210;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not lifetime value.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segments.csv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contribution margin per customer. Team leads have higher unit margin but…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contribution margin per customer. Team leads have higher unit margin but only ten customers; validate segment stability.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Contribution margin (SGD per customer)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C2603F"/>
                </a:solidFill>
                <a:latin typeface="Consolas"/>
              </a:rPr>
              <a:t>import csv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with open("mock-data/segments.csv") as f: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rows = list(csv.DictReader(f))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for r in rows: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margin = float(r["revenue_sgd"])-float(r["cost_sgd"])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r["margin_per_customer"] = margin/int(r["customers"])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segments.csv;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Margins/customer 300,200,500; total customers 80; no invented demographic traits…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Is the segment supported by observed variables?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to design validation questions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Treat as untested hypothesis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segment: Working professionals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Working margin/customer = (24000-12000)/40 = $300. Simple one-period retained margin estimate = $300 × 0.7 =…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contribution margin per customer. Team leads have higher unit margin but only ten…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Is the segment supported by observed variables?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Use to design validation questions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persona-hypotheses.md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The agent invents an age range and income for each segment. Neither field exists; the persona must remain…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Treat as untested hypothesis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The agent invents an age range and income for each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segment. Neither field exists; the persona must remain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evidence-constrained.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Margins/customer 300,200,500; total customers 80; no invented demographic traits…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segment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Working professionals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segments.csv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Working margin/customer = (24000-12000)/40 = $300. Simple one-period retained margin estimate = $300 × 0.7 =…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The agent invents an age range and income for each segment. Neither field exists; the persona must remain…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Treat as untested hypothesis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segment-value.csv and persona-hypotheses.md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Use behavioural attributes and minimum group size for reporting; label retention as an assumption; suppress…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Use behavioural attributes and minimum group size for reporting; label retention as an assumption; suppress identifying small-group combinations.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segments.csv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3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segment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segment-value.csv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Working margin/customer = (24000-12000)/40 = $300. Simple one-period retained margin estimate = $300 × 0.7 = $210; not lifetime value. Output: segment-value.csv and persona-hypotheses.md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Margins/customer 300,200,500; total customers 80; no invented demographic traits; retained-margin assumptions explicit.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Journey and Funnel Diagnostics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A synthetic monthly journey moves from landing sessions to enquiry, qualified lead and enrolment. The decision is where to investigate friction, using stage counts with consistent cohort and window definitions.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funnel-analysis.csv and friction-hypotheses.md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Row-level journey-events.csv confirms2400 unique sessions,96 enquiries,48 qualified and12 enrolments;ordered stages share the same session IDs;rates 4%,50%,25%,0.5%;two alternate friction explanations.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Journey and Funnel Diagnostics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funnel.csv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Use journey-events.csv to validate session-level ordered events in one synthetic cohort and30-day window;derive the aggregate stage counts,then compute conditional and overall rates. Raw aggregate counts alone do not establish a funnel.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Journey and Funnel Diagnostics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landing_session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stage;check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count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2400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count;check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cohort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August visitors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cohort;check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window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30 days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window;check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Journey and Funnel Diagnostics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stage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2623170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783080"/>
            <a:ext cx="2623170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cohort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783080"/>
            <a:ext cx="2623170" cy="47548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window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landing_session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2400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August visitors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30 days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enquiry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96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August visitors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30 days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qualified_lead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48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August visitors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30 days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enrolment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August visitors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30 days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Journey and Funnel Diagnostics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Session-&gt;enquiry = 96/2400 = 4%; enquiry-&gt;qualified =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50%; qualified-&gt;enrolment = 25%; full funnel = 0.5%.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funnel.csv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counts show a large session-to-enquiry drop. It could reflect intent or…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Journey and Funnel Diagnostics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counts show a large session-to-enquiry drop. It could reflect intent or tracking; the chart alone cannot identify the cause.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Unique synthetic sessions per journey stage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Journey and Funnel Diagnostics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counts = [2400, 96, 48, 12]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rates = [b/a for a,b in zip(counts, counts[1:])]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assert rates == [0.04, 0.5, 0.25]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overall = counts[-1]/counts[0]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assert overall == 0.005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funnel.csv;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Row-level journey-events.csv confirms2400 unique sessions,96 enquiries,48 qualified…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Journey and Funnel Diagnostics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Do all stages use the same cohort and window?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Interpret conditional drop-off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Rebuild aligned funnel first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Journey and Funnel Diagnostics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stage: landing_session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Session-&gt;enquiry = 96/2400 = 4%; enquiry-&gt;qualified = 50%; qualified-&gt;enrolment = 25%; full funnel = 0.5%.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counts show a large session-to-enquiry drop. It could reflect intent or tracking; the…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Do all stages use the same cohort and window?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Interpret conditional drop-off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friction-hypotheses.md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 month-end enrolment count is divided by a different month’s enquiries. Time-window mismatch invalidates the…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Rebuild aligned funnel first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Journey and Funnel Diagnostics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A month-end enrolment count is divided by a different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month’s enquiries. Time-window mismatch invalidates the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conversion rate.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Row-level journey-events.csv confirms2400 unique sessions,96 enquiries,48 qualified…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Journey and Funnel Diagnostics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stage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landing_session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funnel.csv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Session-&gt;enquiry = 96/2400 = 4%; enquiry-&gt;qualified = 50%; qualified-&gt;enrolment = 25%; full funnel = 0.5%.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 month-end enrolment count is divided by a different month’s enquiries. Time-window mismatch invalidates the…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Rebuild aligned funnel first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funnel-analysis.csv and friction-hypotheses.md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State entity, cohort, order and window. Investigate consent and event completeness before changing creative…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State entity, cohort, order and window. Investigate consent and event completeness before changing creative. Distinguish correlation from causal diagnosis.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Journey and Funnel Diagnostics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funnel.csv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4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stage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funnel-analysis.csv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Session-&gt;enquiry = 96/2400 = 4%; enquiry-&gt;qualified = 50%; qualified-&gt;enrolment = 25%; full funnel = 0.5%. Output: funnel-analysis.csv and friction-hypotheses.md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Journey and Funnel Diagnostics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Row-level journey-events.csv confirms2400 unique sessions,96 enquiries,48 qualified and12 enrolments;ordered stages share the same session IDs;rates 4%,50%,25%,0.5%;two alternate friction explanations.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D97757"/>
                </a:solidFill>
                <a:latin typeface="Cambria"/>
              </a:rPr>
              <a:t>LEARNING OUTCOME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21201C"/>
                </a:solidFill>
                <a:latin typeface="Cambria"/>
              </a:rPr>
              <a:t>Marketing Effectiveness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6862"/>
                </a:solidFill>
                <a:latin typeface="Calibri"/>
              </a:rPr>
              <a:t>Cowork evidence synthesis · Claude Code reproducible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8E5DE"/>
                </a:solidFill>
                <a:latin typeface="Cambria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95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A marketing team needs GA4-compatible event definitions for course discovery, lead submission and purchase. Cowork can draft the measurement contract, but event collection and consent remain implementation responsibilities.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measurement-contract.csv and consent-notes.md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Four events with unambiguous success triggers; purchase transaction_id,currency,value,items; no personal-data parameters.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measurement-plan.csv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Business question -&gt; event trigger -&gt; recommended event -&gt; parameter schema -&gt; consent -&gt; validation evidence -&gt; key-event designation. Avoid treating button clicks as successful submissions.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event_name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page_view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event_name;check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838297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838297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trigger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page loads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trigger;check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18026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18026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required_parameter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page_location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required_parameter;check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97755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97755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purpose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discovery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purpose;check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77484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577484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key_event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key_event;check units/identity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358381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5358381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560" y="5468109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event_name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trigger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required_parameter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page_view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page loads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page_location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generate_lead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successful enquiry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value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purchase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confirmed payment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transaction_id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view_item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course detail viewed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items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Contract completeness = 4 defined triggers / 4 events =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100%; it does not establish live tracking coverage.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measurement-plan.csv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plan covers four journey stages. These counts describe contract coverage…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plan covers four journey stages. These counts describe contract coverage, not received GA4 traffic.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Count of planned stage events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6B6862"/>
                </a:solidFill>
                <a:latin typeface="Consolas"/>
              </a:rPr>
              <a:t># GA4 recommended purchase teaching payload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event = {"name": "purchase", "params": {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   "transaction_id": "SYN-T001",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   "currency": "SGD", "value": 600,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   "items": [{"item_id": "COURSE01",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              "item_name": "Synthetic programme"}]}}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measurement-plan.csv;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Four events with unambiguous success triggers; purchase…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Does the trigger prove the business outcome?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named event with contract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Change trigger or rename metric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event_name: page_view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Contract completeness = 4 defined triggers / 4 events = 100%; it does not establish live tracking coverage.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plan covers four journey stages. These counts describe contract coverage, not received…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Does the trigger prove the business outcome?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Use named event with contract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consent-notes.md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generate_lead fires when a form button is pressed even if validation fails. The event trigger must be…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Change trigger or rename metric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generate_lead fires when a form button is pressed even if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validation fails. The event trigger must be confirmed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successful submission.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Four events with unambiguous success triggers; purchase…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event_name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page_view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measurement-plan.csv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Contract completeness = 4 defined triggers / 4 events = 100%; it does not establish live tracking coverage.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generate_lead fires when a form button is pressed even if validation fails. The event trigger must be…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Change trigger or rename metric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measurement-contract.csv and consent-notes.md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Use recommended event semantics and current official documentation. Never send names, emails or phone numbers…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Use recommended event semantics and current official documentation. Never send names, emails or phone numbers as analytics parameters. Collection is gated by the organisation’s consent policy.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measurement-plan.csv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4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event_name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measurement-contract.csv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Contract completeness = 4 defined triggers / 4 events = 100%; it does not establish live tracking coverage. Output: measurement-contract.csv and consent-notes.md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Four events with unambiguous success triggers; purchase transaction_id,currency,value,items; no personal-data parameters.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Event Quality and Deduplication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A synthetic event export contains duplicate purchases and a missing transaction ID. Claude Code should create a reproducible audit without silently removing evidence or treating a CSV as a live GA4 test.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event-audit.csv and reconciliation.md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Five raw rows retained in audit; T001 counted once; T002 once; E04 missing-ID; accepted value $1100.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Event Quality and Deduplication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events.csv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Parse schema -&gt; isolate purchases -&gt; validate transaction IDs -&gt; group duplicates -&gt; reconcile value -&gt; emit accepted and quarantined rows -&gt; human review.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Event Quality and Deduplication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event_id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E01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event_id;check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838297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838297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event_name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purchase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event_name;check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18026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18026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transaction_id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T001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transaction_id;check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97755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97755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value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600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value;check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77484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577484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currency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SGD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currency;check units/identity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358381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5358381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560" y="5468109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Event Quality and Deduplication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event_id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2623170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transaction_id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783080"/>
            <a:ext cx="2623170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value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783080"/>
            <a:ext cx="2623170" cy="47548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currency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258568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258568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258568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258568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258568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258568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258568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SGD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838297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838297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838297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838297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T001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838297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838297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838297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838297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SGD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418026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418026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418026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418026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T002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418026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418026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500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418026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418026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SGD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997755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3997755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E04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3997755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3997755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/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3997755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3997755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400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3997755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3997755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SGD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577484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577484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E05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577484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577484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/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577484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577484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577484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577484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SGD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5358381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7240" y="5358381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" y="5468109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Event Quality and Deduplication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Raw purchase value = 600+600+500+400 = $2100. Valid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distinct transaction value = $1100; duplicate $600 and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missing-ID $400 are quarantined.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events.csv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reconciliation. Raw revenue is overstated by $1000; the audit must…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Event Quality and Deduplication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reconciliation. Raw revenue is overstated by $1000; the audit must preserve excluded event IDs and reasons.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Synthetic purchase value (SGD)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Event Quality and Deduplication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purchases = [r for r in rows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         if r["event_name"] == "purchase"]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seen = set(); valid = []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for r in purchases: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tid = r["transaction_id"]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   if tid and tid not in seen: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       valid.append(r); seen.add(tid)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events.csv;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Five raw rows retained in audit; T001 counted once; T002 once; E04 missing-ID…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Event Quality and Deduplication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Is the purchase transaction ID valid and unique?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Accept for transaction-value total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Quarantine with event_id reason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Event Quality and Deduplication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event_id: E01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Raw purchase value = 600+600+500+400 = $2100. Valid distinct transaction value = $1100; duplicate $600 and…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reconciliation. Raw revenue is overstated by $1000; the audit must preserve excluded…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Is the purchase transaction ID valid and unique?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Accept for transaction-value total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reconciliation.md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Deduplicating by value removes two different $600 orders. Transaction identity, not price equality…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Quarantine with event_id reason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Event Quality and Deduplication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Deduplicating by value removes two different $600 orders.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Transaction identity, not price equality, determines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duplication.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Five raw rows retained in audit; T001 counted once; T002 once; E04 missing-ID…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Event Quality and Deduplication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event_id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E01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events.csv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Raw purchase value = 600+600+500+400 = $2100. Valid distinct transaction value = $1100; duplicate $600 and…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Deduplicating by value removes two different $600 orders. Transaction identity, not price equality…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Quarantine with event_id reason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event-audit.csv and reconciliation.md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Keep raw exports immutable, log rejection reasons, validate currency before summing, and make deduplication…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Keep raw exports immutable, log rejection reasons, validate currency before summing, and make deduplication rules explicit. This dataset does not test actual GA4 deduplication.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Event Quality and Deduplication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events.csv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5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event_id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event-audit.csv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Raw purchase value = 600+600+500+400 = $2100. Valid distinct transaction value = $1100; duplicate $600 and missing-ID $400 are quarantined. Output: event-audit.csv and reconciliation.md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Event Quality and Deduplication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Five raw rows retained in audit; T001 counted once; T002 once; E04 missing-ID; accepted value $1100.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Conversions and Attribution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Four synthetic conversion journeys include paid search, organic search, email and direct visits. Comparing first and last touch illustrates attribution sensitivity without pretending to reproduce GA4 data-driven attribution.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attribution-comparison.csv and model-limitations.md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Both models reconcile to $2400; paid first-touch $1200; email last-touch $1300; no causal ROI claim.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Conversions and Attribution Limits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touchpoints.csv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Define eligible channels and lookback -&gt; order touches -&gt; choose allocation model -&gt; reconcile totals -&gt; compare sensitivity -&gt; distinguish attribution from lift.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Conversions and Attribution Limits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journey_id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J01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journey_id;check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first_channel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Paid search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first_channel;check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last_channel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Email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last_channel;check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revenue_sgd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600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revenue_sgd;check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Conversions and Attribution Limits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journey_id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2623170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first_channel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783080"/>
            <a:ext cx="2623170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last_channel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783080"/>
            <a:ext cx="2623170" cy="47548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revenue_sgd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J01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Paid search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Email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J02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Organic search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Direct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500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J03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Paid 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Direct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J04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Email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Email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700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Conversions and Attribution Limits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First-touch paid search revenue = $1200; last-touch = $0.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Email receives $700 first-touch and $1300 last-touch.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Model choice changes assigned credit.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touchpoints.csv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first/last-touch allocation, both total $2400. Neither is an estimate of…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Conversions and Attribution Limits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first/last-touch allocation, both total $2400. Neither is an estimate of incremental causal impact or GA4 data-driven credit.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Allocated synthetic revenue (SGD)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Conversions and Attribution Limits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C2603F"/>
                </a:solidFill>
                <a:latin typeface="Consolas"/>
              </a:rPr>
              <a:t>from collections import defaultdict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first = defaultdict(float); last = defaultdict(float)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for r in rows: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v = float(r["revenue_sgd"])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first[r["first_channel"]] += v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last[r["last_channel"]] += v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touchpoints.csv;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Both models reconcile to $2400; paid first-touch $1200; email last-touch $1300; no…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Conversions and Attribution Limits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Is the decision about assigning descriptive channel credit?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Credit: compare allocation models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Lift: design causal evaluation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Conversions and Attribution Limits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journey_id: J01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First-touch paid search revenue = $1200; last-touch = $0. Email receives $700 first-touch and $1300…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first/last-touch allocation, both total $2400. Neither is an estimate of incremental…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Is the decision about assigning descriptive channel credit?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Credit: compare allocation models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model-limitations.md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The agent cuts paid search because last-touch credit is zero. Assisted demand and incremental impact require…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Lift: design causal evaluation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Conversions and Attribution Limits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The agent cuts paid search because last-touch credit is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zero. Assisted demand and incremental impact require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separate investigation.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Both models reconcile to $2400; paid first-touch $1200; email last-touch $1300; no…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Conversions and Attribution Limits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journey_id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J01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touchpoints.csv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First-touch paid search revenue = $1200; last-touch = $0. Email receives $700 first-touch and $1300…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The agent cuts paid search because last-touch credit is zero. Assisted demand and incremental impact require…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Lift: design causal evaluation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attribution-comparison.csv and model-limitations.md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Use attribution for descriptive allocation; use controlled experiments or credible causal designs for…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Use attribution for descriptive allocation; use controlled experiments or credible causal designs for incremental effects. Explicitly state identity, consent and lookback limitations.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Conversions and Attribution Limits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touchpoints.csv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4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journey_id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attribution-comparison.csv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First-touch paid search revenue = $1200; last-touch = $0. Email receives $700 first-touch and $1300 last-touch. Model choice changes assigned credit. Output: attribution-comparison.csv and model-limitations.md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Conversions and Attribution Limits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Both models reconcile to $2400; paid first-touch $1200; email last-touch $1300; no causal ROI claim.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D97757"/>
                </a:solidFill>
                <a:latin typeface="Cambria"/>
              </a:rPr>
              <a:t>LEARNING OUTCOME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21201C"/>
                </a:solidFill>
                <a:latin typeface="Cambria"/>
              </a:rPr>
              <a:t>Behaviour and Demand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6862"/>
                </a:solidFill>
                <a:latin typeface="Calibri"/>
              </a:rPr>
              <a:t>Cowork evidence synthesis · Claude Code reproducible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8E5DE"/>
                </a:solidFill>
                <a:latin typeface="Cambr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135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Lifecycle Creative from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A fictional email campaign targets enquiry and enrolled segments. Cowork must adapt evidence-backed messages to a brand brief while preserving consent rules, avoiding fabricated urgency and producing drafts for human review.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message-variants.md and review-checklist.csv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Three segment drafts; claim IDs and CTA; no invented scarcity; send_authorised false; rates use sent.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Lifecycle Creative from Evidence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lifecycle.csv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Evidence brief -&gt; segment need -&gt; approved claim -&gt; channel/consent constraint -&gt; draft variant -&gt; human brand review -&gt; measurement hypothesis.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Lifecycle Creative from Evidence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segment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New enquiry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segment;check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838297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838297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eligible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eligible;check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18026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18026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80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sent;check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97755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97755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clicked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16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clicked;check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77484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577484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enrolled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enrolled;check units/identity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358381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5358381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560" y="5468109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Lifecycle Creative from Evidence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segment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2623170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783080"/>
            <a:ext cx="2623170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clicked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783080"/>
            <a:ext cx="2623170" cy="47548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enrolled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New enquiry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Qualified lead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Past learner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90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Lifecycle Creative from Evidence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Click rate uses sent: 16/80=20%,12/40=30%,18/90=20%.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Enrolment per sent: 5%,15%,10%; no claim of incremental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email impact.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lifecycle.csv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click rates by sent denominator. Qualified leads respond more, but…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Lifecycle Creative from Evidence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click rates by sent denominator. Qualified leads respond more, but eligibility and existing intent differ across segments.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Clicks per sent email (%)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Lifecycle Creative from Evidence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6B6862"/>
                </a:solidFill>
                <a:latin typeface="Consolas"/>
              </a:rPr>
              <a:t># Authored lifecycle output contract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draft = {"segment": "Qualified lead",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"claim_ids": ["CL01"], "status": "human_review",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"subject": "Compare evening learning options",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"cta": "View verified course details",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"send_authorised": False}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lifecycle.csv;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Three segment drafts; claim IDs and CTA; no invented scarcity; send_authorised…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Lifecycle Creative from Evidence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Is every promotional claim evidence-approved?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Prepare human-reviewed draft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Remove or request proof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Lifecycle Creative from Evidence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segment: New enquiry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Click rate uses sent: 16/80=20%,12/40=30%,18/90=20%. Enrolment per sent: 5%,15%,10%; no claim of incremental…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click rates by sent denominator. Qualified leads respond more, but eligibility and…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Is every promotional claim evidence-approved?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Prepare human-reviewed draft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review-checklist.csv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 draft says only two seats remain without inventory evidence. The urgency claim must be removed or verified…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Remove or request proof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Lifecycle Creative from Evidence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A draft says only two seats remain without inventory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evidence. The urgency claim must be removed or verified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by an authorised source.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Three segment drafts; claim IDs and CTA; no invented scarcity; send_authorised…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Lifecycle Creative from Evidence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segment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New enquiry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lifecycle.csv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Click rate uses sent: 16/80=20%,12/40=30%,18/90=20%. Enrolment per sent: 5%,15%,10%; no claim of incremental…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 draft says only two seats remain without inventory evidence. The urgency claim must be removed or verified…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Remove or request proof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message-variants.md and review-checklist.csv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Draft only; no send authorisation. Use approved factual claims, consented audiences, clear opt-out and…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Draft only; no send authorisation. Use approved factual claims, consented audiences, clear opt-out and reviewer sign-off. Avoid interpreting synthetic clicks as causal lift.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Lifecycle Creative from Evidence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lifecycle.csv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3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segment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message-variants.md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Click rate uses sent: 16/80=20%,12/40=30%,18/90=20%. Enrolment per sent: 5%,15%,10%; no claim of incremental email impact. Output: message-variants.md and review-checklist.csv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Lifecycle Creative from Evidence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Three segment drafts; claim IDs and CTA; no invented scarcity; send_authorised false; rates use sent.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D97757"/>
                </a:solidFill>
                <a:latin typeface="Cambria"/>
              </a:rPr>
              <a:t>LEARNING OUTCOME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21201C"/>
                </a:solidFill>
                <a:latin typeface="Cambria"/>
              </a:rPr>
              <a:t>Trends and Variables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6862"/>
                </a:solidFill>
                <a:latin typeface="Calibri"/>
              </a:rPr>
              <a:t>Cowork evidence synthesis · Claude Code reproducible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8E5DE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A synthetic search-content export tracks impressions, clicks and enquiries. Cowork should cluster intent and propose an experiment, using observed rate information without claiming an invented search ranking or guaranteed AI visibility.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intent-map.csv and experiment-brief.md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CTRs 4%,3%,6%,3%; training enquiry/click 12.5%; one isolated change and explicit confounder.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search-content.csv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Normalise query -&gt; classify intent -&gt; map page/claim -&gt; calculate CTR and enquiry rates -&gt; isolate one content change -&gt; define control/window -&gt; assess uncertainty.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query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ai marketing course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query;check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838297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838297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impressions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1000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impressions;check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18026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18026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clicks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40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clicks;check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97755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97755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enquiries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enquiries;check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77484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577484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intent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commercial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intent;check units/identity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358381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5358381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560" y="5468109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query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2623170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impressions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783080"/>
            <a:ext cx="2623170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clicks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783080"/>
            <a:ext cx="2623170" cy="47548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enquiries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ai marketing course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40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claude cowork guide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2000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market research training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800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48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email segmentation examples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1200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CTR = clicks/impressions. Training query: 48/800=6%;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enquiry/click = 6/48=12.5%. High impression volume alone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does not establish useful demand.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search-content.csv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CTR percentages. Research training has higher CTR and enquiry rate; intent…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CTR percentages. Research training has higher CTR and enquiry rate; intent and page relevance are hypotheses to validate.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Clicks per search impression (%)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for r in rows: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impressions = int(r["impressions"])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clicks = int(r["clicks"])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r["ctr"] = clicks/impressions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r["enquiry_per_click"] = (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       int(r["enquiries"])/clicks if clicks else 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search-content.csv;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CTRs 4%,3%,6%,3%; training enquiry/click 12.5%; one isolated change and explicit…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Does the query match a measurable customer need?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Test a claim-backed page change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Validate intent before production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query: ai marketing course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CTR = clicks/impressions. Training query: 48/800=6%; enquiry/click = 6/48=12.5%. High impression volume alone…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CTR percentages. Research training has higher CTR and enquiry rate; intent and page…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Does the query match a measurable customer need?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Test a claim-backed page change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experiment-brief.md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 content plan targets the highest-impression query and ignores enquiry quality. Optimise against the…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Validate intent before production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A content plan targets the highest-impression query and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ignores enquiry quality. Optimise against the decision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metric rather than raw reach.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CTRs 4%,3%,6%,3%; training enquiry/click 12.5%; one isolated change and explicit…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query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ai marketing course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search-content.csv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CTR = clicks/impressions. Training query: 48/800=6%; enquiry/click = 6/48=12.5%. High impression volume alone…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 content plan targets the highest-impression query and ignores enquiry quality. Optimise against the…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Validate intent before production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intent-map.csv and experiment-brief.md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Avoid keyword stuffing and unsupported claims. Record source date, search geography and device where…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Avoid keyword stuffing and unsupported claims. Record source date, search geography and device where available. Seasonal and ranking changes can confound before/after comparisons.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search-content.csv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4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query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intent-map.csv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CTR = clicks/impressions. Training query: 48/800=6%; enquiry/click = 6/48=12.5%. High impression volume alone does not establish useful demand. Output: intent-map.csv and experiment-brief.md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CTRs 4%,3%,6%,3%; training enquiry/click 12.5%; one isolated change and explicit confounder.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D97757"/>
                </a:solidFill>
                <a:latin typeface="Cambria"/>
              </a:rPr>
              <a:t>LEARNING OUTCOME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21201C"/>
                </a:solidFill>
                <a:latin typeface="Cambria"/>
              </a:rPr>
              <a:t>Behaviour and Demand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6862"/>
                </a:solidFill>
                <a:latin typeface="Calibri"/>
              </a:rPr>
              <a:t>Cowork evidence synthesis · Claude Code reproducible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8E5DE"/>
                </a:solidFill>
                <a:latin typeface="Cambr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Six synthetic monthly enquiry counts are used to forecast one month. Claude Code must compare a last-value baseline and three-month moving average, preserving seasonality and short-history uncertainty.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forecast.csv and forecast-assumptions.md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Naive 104; moving-average 100; August moving-average error 10.67; campaign shift and seasonality caveats.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demand.csv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Check regular intervals -&gt; reserve test period -&gt; compute naive baseline -&gt; compare moving average -&gt; record error -&gt; state scenario range -&gt; monitor change.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month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2026-03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month;check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enquiries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80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enquiries;check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campaign_change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campaign_change;check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month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enquiries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campaign_change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2026-03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80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41676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41676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2026-04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741676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741676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88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741676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741676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24784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24784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2026-05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224784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224784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84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224784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224784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7892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7892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2026-06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707892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707892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96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707892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707892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yes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91000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91000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2026-07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191000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191000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191000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191000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674108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4674108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2026-08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467410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467410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104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467410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467410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535838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535838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1560" y="546811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September last-value forecast=104; three-month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mean=(96+100+104)/3=100. At August, rolling mean of May-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July=93.33; absolute error=10.67.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demand.csv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monthly enquiries. A campaign changed in June; trend continuation is an…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monthly enquiries. A campaign changed in June; trend continuation is an assumption, not evidence of stable future demand.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Monthly enquiries (count)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values = [80,88,84,96,100,104]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naive = values[-1]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moving_average = sum(values[-3:])/3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aug_prediction = sum(values[2:5])/3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aug_abs_error = abs(values[5]-aug_prediction)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assert moving_average ==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demand.csv;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Naive 104; moving-average 100; August moving-average error 10.67; campaign shift and…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Does the model beat a simple held-out baseline?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cautiously with monitoring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Prefer baseline; collect more data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month: 2026-03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September last-value forecast=104; three-month mean=(96+100+104)/3=100. At August, rolling mean of…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monthly enquiries. A campaign changed in June; trend continuation is an assumption, not…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Does the model beat a simple held-out baseline?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Use cautiously with monitoring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forecast-assumptions.md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The agent fits an elaborate model to six points and reports a precise probability interval. The data do not…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Prefer baseline; collect more data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The agent fits an elaborate model to six points and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reports a precise probability interval. The data do not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support such precision.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Naive 104; moving-average 100; August moving-average error 10.67; campaign shift and…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month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2026-03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demand.csv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September last-value forecast=104; three-month mean=(96+100+104)/3=100. At August, rolling mean of…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The agent fits an elaborate model to six points and reports a precise probability interval. The data do not…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Prefer baseline; collect more data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forecast.csv and forecast-assumptions.md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Use simple baselines, avoid training on the held-out month, label scenario ranges as assumptions, and discuss…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Use simple baselines, avoid training on the held-out month, label scenario ranges as assumptions, and discuss campaign shifts plus missing annual seasonality.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demand.csv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6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month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forecast.csv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September last-value forecast=104; three-month mean=(96+100+104)/3=100. At August, rolling mean of May-July=93.33; absolute error=10.67. Output: forecast.csv and forecast-assumptions.md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Naive 104; moving-average 100; August moving-average error 10.67; campaign shift and seasonality caveats.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D97757"/>
                </a:solidFill>
                <a:latin typeface="Cambria"/>
              </a:rPr>
              <a:t>LEARNING OUTCOME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21201C"/>
                </a:solidFill>
                <a:latin typeface="Cambria"/>
              </a:rPr>
              <a:t>Trends and Variables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6862"/>
                </a:solidFill>
                <a:latin typeface="Calibri"/>
              </a:rPr>
              <a:t>Cowork evidence synthesis · Claude Code reproducible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8E5DE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177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Claude Code Skills and MCP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A reproducible research workspace stores evidence, code and review rules. A local read-only MCP connector or CSV fallback supplies synthetic channel metrics; a custom Skill defines research checks without granting tools or overriding permissions.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SKILL.md,analysis.py and tool-audit.md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Four source IDs retained; rates 5%,4%,8%,1%,overall 4%; local MCP initialize/list/call test passes; Skill front matter valid; Claude invocation separately evidenced;no live account claimed.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Claude Code Skills and MCP Audit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tool-results.csv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User question -&gt; reviewed Skill -&gt; approved read-only MCP tool -&gt; schema validation -&gt; deterministic calculation -&gt; source-linked report -&gt; reviewer. CSV fallback tests the same data contract.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Claude Code Skills and MCP Audit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channel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Paid 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channel;check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sessions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600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sessions;check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leads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30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leads;check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source_id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M01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source_id;check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Claude Code Skills and MCP Audit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channel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2623170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sessions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783080"/>
            <a:ext cx="2623170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leads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783080"/>
            <a:ext cx="2623170" cy="47548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source_id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Paid 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Organic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900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Email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24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M03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Direct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M04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Claude Code Skills and MCP Audit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Lead rates: paid 5%,organic 4%,email 8%,direct 1%; total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96/2400=4%. A Skill’s instructions do not create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connector access.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tool-results.csv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read-only metrics. Email has a higher observed lead rate; audience…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Claude Code Skills and MCP Audit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read-only metrics. Email has a higher observed lead rate; audience selection prevents a causal superiority claim.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Leads per session (%)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Claude Code Skills and MCP Audit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name: market-evidence-audit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description: Audit evidence-linked marketing research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Preserve source_id and raw inputs.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State denominator, window and limitations.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Reject unsupported claims; write outputs 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tool-results.csv;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Four source IDs retained; rates 5%,4%,8%,1%,overall 4%; local MCP…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Claude Code Skills and MCP Audit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Is the tool approved, read-only and schema-valid?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Calculate; retain tool provenance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CSV fallback; record boundary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Claude Code Skills and MCP Audit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channel: Paid 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Lead rates: paid 5%,organic 4%,email 8%,direct 1%; total 96/2400=4%. A Skill’s instructions do not create…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read-only metrics. Email has a higher observed lead rate; audience selection prevents a…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Is the tool approved, read-only and schema-valid?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Calculate; retain tool provenance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tool-audit.md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The agent treats the Skill as permission to access a production account. Instruction reuse and tool…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Use CSV fallback; record boundary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Claude Code Skills and MCP Audit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The agent treats the Skill as permission to access a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production account. Instruction reuse and tool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authorisation are separate controls.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Four source IDs retained; rates 5%,4%,8%,1%,overall 4%; local MCP…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Claude Code Skills and MCP Audit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channel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Paid search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tool-results.csv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Lead rates: paid 5%,organic 4%,email 8%,direct 1%; total 96/2400=4%. A Skill’s instructions do not create…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The agent treats the Skill as permission to access a production account. Instruction reuse and tool…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Use CSV fallback; record boundary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SKILL.md,analysis.py and tool-audit.md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Inspect tool scope and data destinations; use read-only synthetic connector, no secrets in repository…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Inspect tool scope and data destinations; use read-only synthetic connector, no secrets in repository. Require approval for new network endpoints and use local fallback if account access is unavailable.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Claude Code Skills and MCP Audit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tool-results.csv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4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channel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SKILL.md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Lead rates: paid 5%,organic 4%,email 8%,direct 1%; total 96/2400=4%. A Skill’s instructions do not create connector access. Output: SKILL.md,analysis.py and tool-audit.md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Claude Code Skills and MCP Audit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Four source IDs retained; rates 5%,4%,8%,1%,overall 4%; local MCP initialize/list/call test passes; Skill front matter valid; Claude invocation separately evidenced;no live account claimed.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D97757"/>
                </a:solidFill>
                <a:latin typeface="Cambria"/>
              </a:rPr>
              <a:t>LEARNING OUTCOME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21201C"/>
                </a:solidFill>
                <a:latin typeface="Cambria"/>
              </a:rPr>
              <a:t>Marketing Effectiveness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6862"/>
                </a:solidFill>
                <a:latin typeface="Calibri"/>
              </a:rPr>
              <a:t>Cowork evidence synthesis · Claude Code reproducible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8E5DE"/>
                </a:solidFill>
                <a:latin typeface="Cambria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191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Effectiveness Decision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A synthetic cross-channel campaign has spend, leads and revenue. Teams combine Cowork evidence synthesis and Claude Code calculations into a budget recommendation with attribution sensitivity, margin boundaries and a human approval record.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effectiveness-report.md,budget-test.csv and approval-record.md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96 leads; spend $2100; revenue $6000; contribution $900; paid CPL40 and contribution0; human approval pending.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Effectiveness Decision Capstone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campaigns.csv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Reconcile inputs -&gt; compute denominator-aware metrics -&gt; apply margin -&gt; inspect attribution -&gt; challenge confounders -&gt; recommend bounded test -&gt; human approve -&gt; monitor.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Effectiveness Decision Capstone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channel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Paid 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channel;check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838297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838297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spend_sgd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1200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spend_sgd;check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18026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18026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leads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30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leads;check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97755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97755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revenue_sgd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2400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revenue_sgd;check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77484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577484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gross_margin_rate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float; example: 0.5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gross_margin_rate;check units/identity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358381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5358381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560" y="5468109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Effectiveness Decision Capstone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channel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1967377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1711345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spend_sgd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9579" y="1783080"/>
            <a:ext cx="1967377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37595" y="1783080"/>
            <a:ext cx="1711345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leads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76956" y="1783080"/>
            <a:ext cx="1967377" cy="47548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4972" y="1783080"/>
            <a:ext cx="1711345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revenue_sgd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44333" y="1783080"/>
            <a:ext cx="1967377" cy="47548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72349" y="1783080"/>
            <a:ext cx="1711345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gross_margin_rate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Paid search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42202" y="2258568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0218" y="2258568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1200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09579" y="2258568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37595" y="2258568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6" y="2258568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2" y="2258568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2400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44333" y="2258568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72349" y="2258568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0.5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Organic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42202" y="2971800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70218" y="2971800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09579" y="2971800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37595" y="2971800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76956" y="2971800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04972" y="2971800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1800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44333" y="2971800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72349" y="2971800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0.5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Email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3685032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3685032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09579" y="3685032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37595" y="3685032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24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76956" y="3685032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04972" y="3685032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1200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44333" y="3685032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72349" y="3685032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0.5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Direct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398264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398264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09579" y="4398264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37595" y="4398264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76956" y="4398264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4972" y="4398264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44333" y="4398264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572349" y="4398264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0.5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Effectiveness Decision Capstone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Paid CPL=$1200/30=$40; revenue ROAS=2; contribution after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spend=$2400×0.5-$1200=$0. ROAS is not profit or causal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ROI.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campaigns.csv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gross-margin contribution after listed spend. Direct’s zero allocated…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Effectiveness Decision Capstone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gross-margin contribution after listed spend. Direct’s zero allocated spend does not mean customer acquisition is free.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Contribution after listed spend (SGD)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Effectiveness Decision Capstone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for r in rows: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spend = float(r["spend_sgd"])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revenue = float(r["revenue_sgd"])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margin = float(r["gross_margin_rate"])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r["contribution"] = revenue*margin-spend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r["cpl"] = spend/int(r["leads"])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campaigns.csv;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96 leads; spend $2100; revenue $6000; contribution $900; paid CPL40 and…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Effectiveness Decision Capstone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Are profit, attribution and evidence boundaries clear?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Recommend capped experiment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Return for missing evidence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Effectiveness Decision Capstone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channel: Paid 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Paid CPL=$1200/30=$40; revenue ROAS=2; contribution after spend=$2400×0.5-$1200=$0. ROAS is not profit or…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gross-margin contribution after listed spend. Direct’s zero allocated spend does not mean…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Are profit, attribution and evidence boundaries clear?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Recommend capped experiment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approval-record.md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The report calls paid search profitable because ROAS is 2. At a 50% gross margin, contribution after media…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Return for missing evidence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Effectiveness Decision Capstone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The report calls paid search profitable because ROAS is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2. At a 50% gross margin, contribution after media spend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is zero before other costs.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96 leads; spend $2100; revenue $6000; contribution $900; paid CPL40 and…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Effectiveness Decision Capstone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channel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Paid search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campaigns.csv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Paid CPL=$1200/30=$40; revenue ROAS=2; contribution after spend=$2400×0.5-$1200=$0. ROAS is not profit or…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The report calls paid search profitable because ROAS is 2. At a 50% gross margin, contribution after media…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Return for missing evidence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effectiveness-report.md,budget-test.csv and approval-record.md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State attribution model, accounting coverage and consent limitations. Cap recommendations to a test budget…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State attribution model, accounting coverage and consent limitations. Cap recommendations to a test budget and require human sign-off before publishing or changing campaigns.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Effectiveness Decision Capstone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campaigns.csv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4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channel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effectiveness-report.md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Paid CPL=$1200/30=$40; revenue ROAS=2; contribution after spend=$2400×0.5-$1200=$0. ROAS is not profit or causal ROI. Output: effectiveness-report.md,budget-test.csv and approval-record.md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Effectiveness Decision Capstone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96 leads; spend $2100; revenue $6000; contribution $900; paid CPL40 and contribution0; human approval pending.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Behavioural Analytics and Primary Research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type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What it can support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Missing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GA4 consented events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Observed digital actions and trends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Motivation,non-visitors,causality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Survey/interview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Stated needs and willingness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Observed behaviour and selection bias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Cowork synthesis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Evidence organisation and drafts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Truth without source verification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Claude Code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Reproducible checks and models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Valid assumptions and data rights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K1 · Combine behavioural traces with primary research; agent output is an analysis artifact, not a new source.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Demographic Segmentation and Bias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Variable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Limit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Self-reported role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Tailor validation questions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Missing and volunteer bias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Age band with consent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Aggregate audience research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Avoid identifying small groups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Observed journey stage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Behavioural messaging hypothesis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Intent remains inferred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 attribute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Leave unknown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Never infer protected traits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K2 · Demographic and behavioural variables answer different questions; do not invent persona attributes.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Pricing Evidence and Willingness to Pay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Calculation or mechanism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Boundary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Competitor offer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SGD/hour with matched scope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Advertised price is not willingness to pay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Checkout behaviour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Completed purchases / eligible users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Confounded by acquisition and seasonality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Survey question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Neutral stated-price response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Hypothetical and selection bias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Controlled price test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Randomised eligible groups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Ethics,consent and business approval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K3 · GA4 can describe behaviour around offers; independent pricing research and controlled tests are needed for demand interpretation.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Survey Questions That Test a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Question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Weak item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Improved item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Timing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Would you love evening classes?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Which session time can you attend?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Content need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Is AI marketing amazing?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Which task is hardest this month?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Pricing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Would you pay our great price?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Which option would you consider at $X?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Bias check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Existing learners only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Include target non-customers and record sampling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K4/A3 · Define decision,population,response options and sampling limits before agent-assisted coding.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Account-to-Stream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Object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Responsibility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Research implication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Account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Organisational ownership/access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Confirm authorised property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Property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Web/app reporting boundary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Do not mix unrelated brands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Data stream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Website/app collection input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Confirm stream and consent scope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Export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Field/window selection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Record source,date,filters and units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Legacy setup coverage retained as architecture; exact click paths are in the LG and current official documentation.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Dimensions, Metrics and Denominators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Example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Dimension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session source / medium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Choose matching attribution scope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sessions;event count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Do not call event count users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key events / stated denominator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State user/session/event denominator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Filter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period,channel,device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filter state with export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LO1/LO2 · A report export is interpretable only when its dimension,metric,scope and filter contract is retained.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Acquisition and Trend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Analysis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boundary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User acquisition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First user source/medium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Initial acquisition perspective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Traffic acquisition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Session source/medium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Session perspective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Trend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Same metric and intervals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Account for tracking or campaign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Competitor keyword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External licensed/public source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Not a GA4 competitor feed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K5/A4 · Compare aligned periods and source scope; obtain competitor evidence separately.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Engagement and Behaviour Indicators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Indicator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Interpretation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Limit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Engaged sessions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Qualified session behaviour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Definition and consent coverage matter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Views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Page/screen event volume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Not unique audience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Key events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Marked important outcomes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Trigger quality must be tested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Average engagement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Engagement metric within scope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Does not establish motivation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A5/A6 · Report exact metric labels and period; benchmark only comparable populations and methods.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Explorations: Variables to Technique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Technique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Decision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Free 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Dimensions,metrics,segments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Inspect cross-tabs and distributions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Funnel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Ordered steps,open/closed,window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Locate observed drop-off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Start/end node and event/page type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Explore sequence patterns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External forecast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Exported regular time series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Not claimed GA4-native forecasting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K7 · Explorations describe observed data; external models must keep assumptions and execution provenance.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Forecast Model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Held-out August prediction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Absolute error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Last value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July=100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|104-100|=4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Three-month mean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(84+96+100)/3=93.33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10.67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Complex model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Six observations insufficient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Unsupported precision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September choice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Naive104 or MA100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Baseline comparison favours naive here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K6/A7 · Compare predictions on a held-out period,then forecast; six months cannot resolve annual seasonality.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Descriptive, Predictive and Causal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Technique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Descriptive funnel/segment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Where/how do groups differ?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Aligned counts and definitions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Time-series baseline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What next-period demand?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Held-out error and drift assumptions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Controlled experiment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Did a change cause lift?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Random assignment and guardrails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Attribution allocation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Who receives credit?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Model and lookback sensitivity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K7 · Distinguish descriptive,predictive,causal and allocation models before evaluating marketing effectiveness.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Controlled Creative Experiment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Synthetic example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Failure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Population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400 eligible users per arm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Keep eligibility equal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Assignment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Random A/B before exposure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Avoid self-selected arms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Outcome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A20/400=5%;B28/400=7%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+2 percentage points observed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Boundary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Small sample;uncertain lift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Do not claim guaranteed improvement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A8 · Specify unit,control,primary metric,window and stop rule; significance needs a suitable statistical analysis.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Conversion Rate, CPA and Revenue ROAS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Boundary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Conversion 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12 enrolments/2400 sessions=0.5%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State cohort and denominator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CPA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Spend1200/12 acquisitions=100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Acquisitions differ from leads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CPL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Spend1200/30 leads=40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Lead is not a paying customer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Revenue ROAS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Attributed revenue2400/spend1200=2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Not profit or incremental ROI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K8 · Contribution after spend=2400×50%-1200=0; protect metric names and accounting boundaries.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Key Events and Ads Conversions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State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Meaning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Collected event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Received interaction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Validate trigger and parameters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Key event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Important business outcome in GA4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Mark according to measurement plan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Ads conversion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Advertising measurement outcome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Product linkage and configuration matter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Report evidence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Current property,period,metric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Do not reuse legacy conversion labels blindly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LO4 · Current GA4 distinguishes key events from Ads conversions; a drafted contract is not live configuration evidence.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Import and Join Integrity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Join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Synthetic example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Cost key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date+source+medium+campaign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Unmatched cost rows distort ROAS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Item key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item_id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Missing catalog match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User data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Approved pseudonymous identifier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Consent and re-identification risk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Reconciliation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Matched + unmatched = raw rows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Keep rejected records visible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Legacy data-import coverage retained as a data contract; no real customer identifiers are used in training.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RESEARCH METHOD · ILLUSTRATIVE GENERATED IMAGE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Primary Evidence:Question,Response and Coding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search-interview-v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28800"/>
            <a:ext cx="5486400" cy="3383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0" y="1874519"/>
            <a:ext cx="475488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D97757"/>
                </a:solidFill>
                <a:latin typeface="Cambria"/>
              </a:rPr>
              <a:t>Decision:evening programme demand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Neutral question:Which session times can you attend?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Response record:participant_id,time preference,quote,consent status.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Code:timing;preserve exact quote and non-response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32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Generated illustrative photograph;no real participant or collected evidence. Synthetic personas are hypotheses,not replacements for representative respondents.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220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Supplementary Claude Practice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Cowork/agent concepts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https://exams.tertiaryinfotech.com/practice-exams/anthropic/anthropic-ccao-foundations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Claude Code concepts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https://exams.tertiaryinfotech.com/practice-exams/anthropic/anthropic-ccdv-foundations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Purpose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Supplementary Claude foundations practice;not the WSQ assessment.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Catalogue boundary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No exact Market Research practice entry was verified;use the filed WA and PP instruments for this course.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221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Assessment · Final Reminder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WA ·60 minutes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Eight individual short-answer questions;K1–K8.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PP ·90 minutes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Four individual evidence-producing tasks;A1–A8.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Timing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15:30–18:00 on Day 2;filed assessment timing.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Submit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Confirm the correct course and all requested evidence before submission.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222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TRAQOM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Survey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Attendance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Digital record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WA then 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Individual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LMS submit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Evidence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Sign record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Summary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EVIDENCE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Use permitted materials; preserve individual assessment integrity.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223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Assessment record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Complete the official assessment digital attendance.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AM and PM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Confirm both daily attendance records.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TRAQOM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Complete the course quality survey as directed.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Support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Ask the trainer to resolve missing submission evidence.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224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TERTIARY INFOTECH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6B6862"/>
                </a:solidFill>
                <a:latin typeface="Calibri"/>
              </a:rPr>
              <a:t>Keep the evidence trail:source -&gt; calculation -&gt; limitation -&gt; reviewed decision.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225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Login to LMS and 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</a:t>
            </a:r>
          </a:p>
        </p:txBody>
      </p:sp>
      <p:pic>
        <p:nvPicPr>
          <p:cNvPr id="78" name="Picture 77" descr="ref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3345" y="1723644"/>
            <a:ext cx="8225005" cy="40919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9" name="TextBox 78"/>
          <p:cNvSpPr txBox="1"/>
          <p:nvPr/>
        </p:nvSpPr>
        <p:spPr>
          <a:xfrm>
            <a:off x="777240" y="5897880"/>
            <a:ext cx="10637215" cy="45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>
                <a:solidFill>
                  <a:srgbClr val="475569"/>
                </a:solidFill>
                <a:latin typeface="Calibri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